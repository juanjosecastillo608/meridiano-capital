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3323"/>
              </a:solidFill>
              <a:effectLst/>
            </c:spPr>
          </c:dPt>
          <c:dPt>
            <c:idx val="1"/>
            <c:bubble3D val="0"/>
            <c:spPr>
              <a:solidFill>
                <a:srgbClr val="14313A"/>
              </a:solidFill>
              <a:effectLst/>
            </c:spPr>
          </c:dPt>
          <c:dPt>
            <c:idx val="2"/>
            <c:bubble3D val="0"/>
            <c:spPr>
              <a:solidFill>
                <a:srgbClr val="A87D22"/>
              </a:solidFill>
              <a:effectLst/>
            </c:spPr>
          </c:dPt>
          <c:dPt>
            <c:idx val="3"/>
            <c:bubble3D val="0"/>
            <c:spPr>
              <a:solidFill>
                <a:srgbClr val="C9982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Terreno</c:v>
                </c:pt>
                <c:pt idx="1">
                  <c:v>Estructura ya construida+doc.+riesgo</c:v>
                </c:pt>
                <c:pt idx="2">
                  <c:v>Terminación s/estructura existente</c:v>
                </c:pt>
                <c:pt idx="3">
                  <c:v>Obra 100% nueva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360000</c:v>
                </c:pt>
                <c:pt idx="1">
                  <c:v>490000</c:v>
                </c:pt>
                <c:pt idx="2">
                  <c:v>1300805.78</c:v>
                </c:pt>
                <c:pt idx="3">
                  <c:v>594792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3323"/>
              </a:solidFill>
              <a:effectLst/>
            </c:spPr>
          </c:dPt>
          <c:dPt>
            <c:idx val="1"/>
            <c:bubble3D val="0"/>
            <c:spPr>
              <a:solidFill>
                <a:srgbClr val="14313A"/>
              </a:solidFill>
              <a:effectLst/>
            </c:spPr>
          </c:dPt>
          <c:dPt>
            <c:idx val="2"/>
            <c:bubble3D val="0"/>
            <c:spPr>
              <a:solidFill>
                <a:srgbClr val="A87D22"/>
              </a:solidFill>
              <a:effectLst/>
            </c:spPr>
          </c:dPt>
          <c:dPt>
            <c:idx val="3"/>
            <c:bubble3D val="0"/>
            <c:spPr>
              <a:solidFill>
                <a:srgbClr val="C9982E"/>
              </a:solidFill>
              <a:effectLst/>
            </c:spPr>
          </c:dPt>
          <c:dPt>
            <c:idx val="4"/>
            <c:bubble3D val="0"/>
            <c:spPr>
              <a:solidFill>
                <a:srgbClr val="6B6154"/>
              </a:solidFill>
              <a:effectLst/>
            </c:spPr>
          </c:dPt>
          <c:dPt>
            <c:idx val="5"/>
            <c:bubble3D val="0"/>
            <c:spPr>
              <a:solidFill>
                <a:srgbClr val="DAD2C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Terreno</c:v>
                </c:pt>
                <c:pt idx="1">
                  <c:v>Estructura ya construida+doc.+riesgo</c:v>
                </c:pt>
                <c:pt idx="2">
                  <c:v>Terminación s/estructura existente</c:v>
                </c:pt>
                <c:pt idx="3">
                  <c:v>Obra 100% nueva</c:v>
                </c:pt>
                <c:pt idx="4">
                  <c:v>Proyecto (honorarios)</c:v>
                </c:pt>
                <c:pt idx="5">
                  <c:v>Aprobaciones e imprevistos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360000</c:v>
                </c:pt>
                <c:pt idx="1">
                  <c:v>490000</c:v>
                </c:pt>
                <c:pt idx="2">
                  <c:v>1300805.78</c:v>
                </c:pt>
                <c:pt idx="3">
                  <c:v>594792</c:v>
                </c:pt>
                <c:pt idx="4">
                  <c:v>84051.81</c:v>
                </c:pt>
                <c:pt idx="5">
                  <c:v>101173.48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3323"/>
              </a:solidFill>
              <a:effectLst/>
            </c:spPr>
          </c:dPt>
          <c:dPt>
            <c:idx val="1"/>
            <c:bubble3D val="0"/>
            <c:spPr>
              <a:solidFill>
                <a:srgbClr val="14313A"/>
              </a:solidFill>
              <a:effectLst/>
            </c:spPr>
          </c:dPt>
          <c:dPt>
            <c:idx val="2"/>
            <c:bubble3D val="0"/>
            <c:spPr>
              <a:solidFill>
                <a:srgbClr val="A87D22"/>
              </a:solidFill>
              <a:effectLst/>
            </c:spPr>
          </c:dPt>
          <c:dPt>
            <c:idx val="3"/>
            <c:bubble3D val="0"/>
            <c:spPr>
              <a:solidFill>
                <a:srgbClr val="C9982E"/>
              </a:solidFill>
              <a:effectLst/>
            </c:spPr>
          </c:dPt>
          <c:dPt>
            <c:idx val="4"/>
            <c:bubble3D val="0"/>
            <c:spPr>
              <a:solidFill>
                <a:srgbClr val="6B6154"/>
              </a:solidFill>
              <a:effectLst/>
            </c:spPr>
          </c:dPt>
          <c:dPt>
            <c:idx val="5"/>
            <c:bubble3D val="0"/>
            <c:spPr>
              <a:solidFill>
                <a:srgbClr val="DAD2C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Terreno</c:v>
                </c:pt>
                <c:pt idx="1">
                  <c:v>Estructura ya construida+doc.+riesgo</c:v>
                </c:pt>
                <c:pt idx="2">
                  <c:v>Terminación s/estructura existente</c:v>
                </c:pt>
                <c:pt idx="3">
                  <c:v>Obra 100% nueva</c:v>
                </c:pt>
                <c:pt idx="4">
                  <c:v>Proyecto (honorarios)</c:v>
                </c:pt>
                <c:pt idx="5">
                  <c:v>Aprobaciones e imprevistos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360000</c:v>
                </c:pt>
                <c:pt idx="1">
                  <c:v>490000</c:v>
                </c:pt>
                <c:pt idx="2">
                  <c:v>1300805.78</c:v>
                </c:pt>
                <c:pt idx="3">
                  <c:v>810792</c:v>
                </c:pt>
                <c:pt idx="4">
                  <c:v>122869.08</c:v>
                </c:pt>
                <c:pt idx="5">
                  <c:v>101173.48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313A"/>
              </a:solidFill>
              <a:effectLst/>
            </c:spPr>
          </c:dPt>
          <c:dPt>
            <c:idx val="1"/>
            <c:bubble3D val="0"/>
            <c:spPr>
              <a:solidFill>
                <a:srgbClr val="A87D22"/>
              </a:solidFill>
              <a:effectLst/>
            </c:spPr>
          </c:dPt>
          <c:dPt>
            <c:idx val="2"/>
            <c:bubble3D val="0"/>
            <c:spPr>
              <a:solidFill>
                <a:srgbClr val="8B3323"/>
              </a:solidFill>
              <a:effectLst/>
            </c:spPr>
          </c:dPt>
          <c:dPt>
            <c:idx val="3"/>
            <c:bubble3D val="0"/>
            <c:spPr>
              <a:solidFill>
                <a:srgbClr val="2E5C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Inversión Total</c:v>
                </c:pt>
                <c:pt idx="1">
                  <c:v>Comisión (5,5%)</c:v>
                </c:pt>
                <c:pt idx="2">
                  <c:v>IVA desarrollador</c:v>
                </c:pt>
                <c:pt idx="3">
                  <c:v>Margen neto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2745597.78</c:v>
                </c:pt>
                <c:pt idx="1">
                  <c:v>214109.56</c:v>
                </c:pt>
                <c:pt idx="2">
                  <c:v>189559.78</c:v>
                </c:pt>
                <c:pt idx="3">
                  <c:v>743633.89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313A"/>
              </a:solidFill>
              <a:effectLst/>
            </c:spPr>
          </c:dPt>
          <c:dPt>
            <c:idx val="1"/>
            <c:bubble3D val="0"/>
            <c:spPr>
              <a:solidFill>
                <a:srgbClr val="A87D22"/>
              </a:solidFill>
              <a:effectLst/>
            </c:spPr>
          </c:dPt>
          <c:dPt>
            <c:idx val="2"/>
            <c:bubble3D val="0"/>
            <c:spPr>
              <a:solidFill>
                <a:srgbClr val="8B3323"/>
              </a:solidFill>
              <a:effectLst/>
            </c:spPr>
          </c:dPt>
          <c:dPt>
            <c:idx val="3"/>
            <c:bubble3D val="0"/>
            <c:spPr>
              <a:solidFill>
                <a:srgbClr val="2E5C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Inversión Total</c:v>
                </c:pt>
                <c:pt idx="1">
                  <c:v>Comisión (5,5%)</c:v>
                </c:pt>
                <c:pt idx="2">
                  <c:v>IVA desarrollador</c:v>
                </c:pt>
                <c:pt idx="3">
                  <c:v>Margen neto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2930823.07</c:v>
                </c:pt>
                <c:pt idx="1">
                  <c:v>217738.125</c:v>
                </c:pt>
                <c:pt idx="2">
                  <c:v>189559.78</c:v>
                </c:pt>
                <c:pt idx="3">
                  <c:v>620754.025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Precio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313A"/>
              </a:solidFill>
              <a:effectLst/>
            </c:spPr>
          </c:dPt>
          <c:dPt>
            <c:idx val="1"/>
            <c:bubble3D val="0"/>
            <c:spPr>
              <a:solidFill>
                <a:srgbClr val="A87D22"/>
              </a:solidFill>
              <a:effectLst/>
            </c:spPr>
          </c:dPt>
          <c:dPt>
            <c:idx val="2"/>
            <c:bubble3D val="0"/>
            <c:spPr>
              <a:solidFill>
                <a:srgbClr val="8B3323"/>
              </a:solidFill>
              <a:effectLst/>
            </c:spPr>
          </c:dPt>
          <c:dPt>
            <c:idx val="3"/>
            <c:bubble3D val="0"/>
            <c:spPr>
              <a:solidFill>
                <a:srgbClr val="2E5C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Inversión Total</c:v>
                </c:pt>
                <c:pt idx="1">
                  <c:v>Comisión (5,5%)</c:v>
                </c:pt>
                <c:pt idx="2">
                  <c:v>IVA desarrollador</c:v>
                </c:pt>
                <c:pt idx="3">
                  <c:v>Margen neto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3185640.34</c:v>
                </c:pt>
                <c:pt idx="1">
                  <c:v>252280.875</c:v>
                </c:pt>
                <c:pt idx="2">
                  <c:v>211159.78</c:v>
                </c:pt>
                <c:pt idx="3">
                  <c:v>937844.0049999999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jpe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image" Target="../media/image-2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image" Target="../media/image-22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492240" cy="6858000"/>
          </a:xfrm>
          <a:prstGeom prst="rect">
            <a:avLst/>
          </a:prstGeom>
          <a:solidFill>
            <a:srgbClr val="14313A">
              <a:alpha val="9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ARQUITECTÓNICA — DESARROLLADOR ORIGINAL, SUJETA A CAMBIOS</a:t>
            </a:r>
            <a:endParaRPr lang="en-US" sz="850" dirty="0"/>
          </a:p>
        </p:txBody>
      </p:sp>
      <p:pic>
        <p:nvPicPr>
          <p:cNvPr id="6" name="Image 1" descr="isotipo_inver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8720" y="548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66928" y="2286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OPORTUNIDAD DE INVERSIÓN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2697480"/>
            <a:ext cx="5577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Residencial</a:t>
            </a:r>
            <a:endParaRPr lang="en-US" sz="3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Herrera, Asunción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566928" y="4572000"/>
            <a:ext cx="5394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Investor Book — de la estructura actual al producto terminado: activo, ubicación, tipologías, precios, forma de pago, mercado y rentabilidad.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NEGOCIAR / CONDICIONAR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 oportunidad en una página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35040"/>
              </a:tblGrid>
              <a:tr h="3520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adquisición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Inversión Total (Ángulo 2, recomendado)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3.185.640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Superficie comercializable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1.800 – 2.100 m² según diseño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21 (tal cual) a 39 (con piso adicional, ilustrativo)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objetivo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 /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Ingresos potenciales (Ángulo 2)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4.424.700 – 4.749.150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Margen final, neto de comisión e IVA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784.541 – 1.091.147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ROI sobre Inversión Total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24,6% – 34,3%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Plazo estimado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 meses de obra + 1 mes de entrega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Recomendación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Negociar / condicionar — 1 punto técnico pendiente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424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del Ángulo 2 (recomendado). Ver la sección 17 para los tres Ángulos comparados. Ninguna cifra mostrada carece de respaldo en el modelo financiero del caso.</a:t>
            </a:r>
            <a:endParaRPr lang="en-US" sz="8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estamos adquiriendo y por qué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Qué se adquiere: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edificio residencial con el 73,5% de su estructura de hormigón ya construida, en una esquina de alta demanda de Barrio Herrera — no un terreno vacío ni un proyecto en papel.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comprar la estructura existente a un costo por debajo del de construir desde cero, terminar el edificio en 12 meses, y vender/retener con el respaldo de comparables reales de la misma zona.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tesis de inversión: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de entrada ya validado, más el ahorro de tiempo y riesgo de una obra parcialmente avanzada, produce un margen positivo en los tres diseños analizados — incluso en el escenario de precio más conservador.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Verificación de identidad del predio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8006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nombre técnico del proyecto ("Edificio 4 de Julio", planos de 2023) y el nombre comercial ("Herrera Town") corresponden al mismo predio — verificado por cuenta catastral (14-502-04), superficie (469 m²) y ubicación (esquina Concejal Vargas y 4 de Julio) coincidentes en ambas fuentes.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ESTADO ACTUAL DEL PROYECTO — julio 2026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4-fachada-calle-0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352044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fotos-obra/01-formwork-nivel-superior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783080"/>
            <a:ext cx="3520440" cy="3017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25196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12" name="Image 2" descr="C:\Users\Usuario\OneDrive\Documentos\Meridiano-Capital\production\generadores/assets-herrera001/fotos-obra/05-interior-planta-columnas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1783080"/>
            <a:ext cx="3520440" cy="30175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5528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54864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73,5%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54864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Avance de estructura de hormigón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425196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2.286,93 m²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425196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Construidos, de 3.113,03 m² totales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795528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795528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Mampostería, instalaciones y terminaciones — pendiente en su totalidad</a:t>
            </a:r>
            <a:endParaRPr lang="en-US" sz="1050" dirty="0"/>
          </a:p>
        </p:txBody>
      </p:sp>
      <p:pic>
        <p:nvPicPr>
          <p:cNvPr id="22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HOY AL PRODUCTO TERMINADO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ESTADO ACTUAL AL PRODUCTO FINAL — Ángulo 1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3-fachada-calle-01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349240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HOY, JULIO 2026</a:t>
            </a:r>
            <a:endParaRPr lang="en-US" sz="850" dirty="0"/>
          </a:p>
        </p:txBody>
      </p:sp>
      <p:pic>
        <p:nvPicPr>
          <p:cNvPr id="7" name="Image 1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691640"/>
            <a:ext cx="5349240" cy="3611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— DESARROLLADOR ORIGINAL, SUJETA A CAMBIOS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conserva la estructura existente y la envolvente ya aprobada. Se completa mampostería, instalaciones, fachada y terminaciones — sin modificar el diseño original en el escenario Ángulo 1 ("tal cual"). Los Ángulos 2 y 3 proponen cambios de diseño que todavía no tienen un plano o render propio — ver sección 9.</a:t>
            </a:r>
            <a:endParaRPr lang="en-US" sz="1000" dirty="0"/>
          </a:p>
        </p:txBody>
      </p:sp>
      <p:pic>
        <p:nvPicPr>
          <p:cNvPr id="11" name="Image 2" descr="isotip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PROYECTO ARQUITECTÓNICO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Distribución — diseño original (Ángulo 1)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7-plano-b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59436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6766560" y="182880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18120" y="18288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26060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18120" y="2606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Departamentos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66560" y="338328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Cocheras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766560" y="420624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Amenities: salón multiuso climatizado, parrilla, piscina, solarium, parque infantil, ascensor, área de descanso.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53949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brochure comercial real del desarrollador original ("Herrera Town"), verificado contra la cuenta catastral del predio.</a:t>
            </a:r>
            <a:endParaRPr lang="en-US" sz="950" dirty="0"/>
          </a:p>
        </p:txBody>
      </p:sp>
      <p:pic>
        <p:nvPicPr>
          <p:cNvPr id="15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TIPOLOGÍAS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tipologías, del diseño original real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283464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dormitorio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 (1 unidad)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5–6 (2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unidades en total — área propia total ≈ 1.813,6 m², consistente con los 1.800 m² de área comercializable usados en el modelo financiero del Ángulo 1.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PLANILLA REAL DEL DESARROLLADOR ORIGINAL</a:t>
            </a:r>
            <a:endParaRPr lang="en-US" sz="8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FICHA DE TIPOLOGÍA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Tipo A — 2 dormitorios, 77,1 m²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8-tipo-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54864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828800"/>
          <a:ext cx="52120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Ambiente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13,03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9,91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3,19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2,76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Sala/comedor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22,16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Cocina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5,69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Balcón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0" y="470916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Ejemplo de ficha disponible por cada una de las 6 tipologías (A-E2) a partir del mismo material real del desarrollador.</a:t>
            </a:r>
            <a:endParaRPr lang="en-US" sz="1050" dirty="0"/>
          </a:p>
        </p:txBody>
      </p:sp>
      <p:pic>
        <p:nvPicPr>
          <p:cNvPr id="9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1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Y ÁNGULO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Propuesta de rediseño de mix — sin plano confirmado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6858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3736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Estos dos escenarios reconsideran el mix de unidades del diseño original — todavía no tienen un plano arquitectónico ni un render propio. No se ilustra ninguna unidad de estas con material inventado.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nueva + tipologías chicas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pisos, 29 unidades (ilustrativo)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(30 m²), 1 dormitorio (45 m²) y 2/3 dormitorios en proporciones más parejas — mejor perfil de retención en renta.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651760"/>
            <a:ext cx="5394960" cy="329184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recomendado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 piso adicional (7º)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pisos, 39 unidades (ilustrativo)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Mismo mix de Ángulo 3, más un piso adicional ya con incentivo de altura municipal confirmado — mayor margen, costo/m² más bajo de los tres diseños.</a:t>
            </a:r>
            <a:endParaRPr lang="en-US" sz="11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REFERENCIAS DE DISEÑO — ÁNGULO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Tambone Arquitectura — estudio propuesto para el rediseño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Estudio propuesto por Meridiano para la fachada y las tipologías chicas de Ángulo 2/3 — diseñó Edificio Qubo (Senador Long, Asunción), ya revisado como referencia directa de tipología y amoblamiento. Ningún plano de estas imágenes es de Herrera todavía.</a:t>
            </a:r>
            <a:endParaRPr lang="en-US" sz="1150" dirty="0"/>
          </a:p>
        </p:txBody>
      </p:sp>
      <p:pic>
        <p:nvPicPr>
          <p:cNvPr id="5" name="Image 0" descr="C:\Users\Usuario\OneDrive\Documentos\Meridiano-Capital\production\generadores/assets-herrera001/qubo-referencia/00-fachada-sugerida-tambon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352044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SUGERENCIA DE FACHADA — TAMBONE ARQUITECTURA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qubo-referencia/18-tipologia-1-amoblada-qub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2331720"/>
            <a:ext cx="3520440" cy="32461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TIPOLOGÍA — EDIFICIO QUBO, NO ES HERRERA</a:t>
            </a:r>
            <a:endParaRPr lang="en-US" sz="850" dirty="0"/>
          </a:p>
        </p:txBody>
      </p:sp>
      <p:pic>
        <p:nvPicPr>
          <p:cNvPr id="11" name="Image 2" descr="C:\Users\Usuario\OneDrive\Documentos\Meridiano-Capital\production\generadores/assets-herrera001/qubo-referencia/26-tipologia-3-amoblada-qub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2331720"/>
            <a:ext cx="3520440" cy="32461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AMOBLAMIENTO — EDIFICIO QUBO, NO ES HERRERA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Qubo — Villa Morra, 1 dormitorio 42 m² desde USD 68.080 (~USD 1.621/m², Coldwell Banker Paraguay, 2026-08-18). Formato "Aparta Office" con coworking; no es un comparable de precio directo para Herrera, ver `42-market-comparables.md` §1.1.</a:t>
            </a:r>
            <a:endParaRPr lang="en-US" sz="950" dirty="0"/>
          </a:p>
        </p:txBody>
      </p:sp>
      <p:pic>
        <p:nvPicPr>
          <p:cNvPr id="15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MATRIZ DE UNIDADES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MATRIZ DE PRECIO POR UNIDAD — precio por tipología, +1%/piso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828800"/>
                <a:gridCol w="2103120"/>
                <a:gridCol w="4297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(rango)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146.490 – 165.958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182.020 – 206.210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103.550 – 113.960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146.680 – 161.425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258.911 – 279.351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245.814 – 267.771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cada tipología ya incorpora el escalado de +1% por piso sobre la base USD 1.900–2.050/m² — el precio exacto depende del piso, ver `41-...md` para el detalle unidad por unidad. + cochera: USD 15.000 por unidad, sin escalar.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48640" y="5303520"/>
            <a:ext cx="11064240" cy="82296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 de consistencia (§41), actualizada: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 el escalado de +1%/piso confirmado por el founder, el extremo bajo de esta matriz (sin cochera) casi coincide con el memorándum (±1,0%, antes ±3,4%); el extremo alto (con cochera) también mejora (±2,2%, antes ±4,4%) — pero ninguna combinación cierra ambos extremos a la vez. Detalle completo y brecha sin resolver en `41-unit-price-matrix.md` §3.</a:t>
            </a:r>
            <a:endParaRPr lang="en-US" sz="90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JUSTIFICACIÓN DEL PRECIO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Precio del proyecto vs. mercado comparable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32004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proyecto 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 (comparables reales)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Monoambiente/1 dorm chico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1.576 – 1.809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1.580 – 1.851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1.850 – 2.212 (Filum)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7033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objetivo está por encima del rango de mercado y en línea con Filum Herrera (comparable directo del mismo barrio, mejores terminaciones). AMC parametrizado (2026-08-18, 9 comparables reales del propio barrio): promedio ajustado ~USD 1.509/m² para 2 dormitorios — confirma el hallazgo con muestra 4,5x mayor. La diferenciación de producto (calidad USD 720/m² vs. 650/m² del rango bajo) fue evaluada cuantitativamente y sostiene el precio premium — ver sección 19.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COMPARABLES DE MERCADO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2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 comparables reales — 9 dentro del propio Barrio Herrera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743200"/>
                <a:gridCol w="1828800"/>
                <a:gridCol w="164592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Proyecto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Zona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Inarco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69.800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1.586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Filum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38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70.300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1.850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Invicta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 (Concejal Vargas)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80.000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1.818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Invicta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72,5 m² (c/cochera)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113.700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1.569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Pampidos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86 m² (terminado, c/cochera)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128.000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1.488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Forvm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 (Concejal Vargas)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dorm, 172,8 m² propia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229.800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1.330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45,2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73.689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1.631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Mono, 35,6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64.404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Marina 11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115.000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43,8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79.200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1.807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49,5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83.062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1.677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listados públicos de Century 21 y RE/MAX, relevados 2026-08-17/18 (categoría A — dato real con fuente citable). Filum Herrera: flyer comercial de Century 21 Liberty. AMC completo y ajuste por tipología: Data Room.</a:t>
            </a:r>
            <a:endParaRPr lang="en-US" sz="90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PANORAMA DE MERCADO — HERRERA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y alquiler, lado a lado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1.576 – 1.809/m²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rango de 7 comparables reales (Century 21)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1.850 – 2.025/m²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Filum Herrera, comparable directo del barrio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1.900 – 2.050/m²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objetivo del proyecto (calidad diferenciada)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ALQUILER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sólido — supera su piso de renta en todas las combinaciones probadas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dormitorio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sólido en tradicional/amoblado básico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2-3 dormitorios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necesitan amoblado o zona premium para superar el piso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knowledge-base/investment/market-intelligence/ (D-066, D-073) — datos reales relevados de Century 21, RE/MAX y portales, categoría A/C según el registro.</a:t>
            </a:r>
            <a:endParaRPr lang="en-US" sz="950" dirty="0"/>
          </a:p>
        </p:txBody>
      </p:sp>
      <p:pic>
        <p:nvPicPr>
          <p:cNvPr id="1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UBICACIÓN Y MAPA DE MERCADO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4-ubicacion-map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73152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MAPA REAL DEL DESARROLLADOR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138160" y="1920240"/>
            <a:ext cx="35204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Esquina Concejal Vargas y 4 de Julio, Barrio Herrera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500 m de Av. Mariscal López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Cercano a Superseis, Biggie, Shopping Mariscal, Paseo La Galería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pocas cuadras de la Municipalidad de Asunción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Lindante con Barrio Villa Morra y San Cristóbal</a:t>
            </a:r>
            <a:endParaRPr lang="en-US" sz="1150" dirty="0"/>
          </a:p>
        </p:txBody>
      </p:sp>
      <p:pic>
        <p:nvPicPr>
          <p:cNvPr id="8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FORMA DE PAGO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se puede comprar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Norma estándar Meridiano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 anticipo (firma boleto)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 cuotas mensuales decrecientes durante obra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Variante de plazo corto (este proyecto)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 anticipo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9224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 cuotas durante obra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se financia directamente contra la escritura — el 10% final se cobra contra la entrega física del departamento, ~6-8 meses antes de la escritura. Ambos esquemas conviven; la variante de plazo corto ayuda a cerrar el déficit de timing de este proyecto específico (12 meses de obra).</a:t>
            </a:r>
            <a:endParaRPr lang="en-US" sz="1100" dirty="0"/>
          </a:p>
        </p:txBody>
      </p:sp>
      <p:pic>
        <p:nvPicPr>
          <p:cNvPr id="1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comprador vs. estructura de inversión de Meridiano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Comparable real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Condición de financiamiento observada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24 meses sin interés, escalones 30/50/90%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Planes 20-80, 20-50-30, 30-50-20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20% + cuotas de USD 500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Matrisa Lillo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27 meses sin interés + financiación post-obra hasta 5 años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36 meses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63640" y="1783080"/>
            <a:ext cx="5394960" cy="393192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6" name="Text 3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INVERSIÓN — MERIDIANO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37960" y="24688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Vehículo: Sociedad Anónima, 2-3 socios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fondos propios — sin deuda bancaria, sin fideicomiso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propio cubre el 74-76% de la Inversión Total según escenario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timing de caja identificado y resuelto (mes 9→11)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ESTRATEGIA Y RETORNO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1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Capital → Obra → Producto terminado → Venta → Ganancia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uds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2.745.598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436.259 – 1.051.008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15,9% – 38,3%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25196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uds (ilustr.)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2628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2.930.823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2628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489.990 – 751.518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2628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2628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16,7% – 25,6%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955280" y="2103120"/>
            <a:ext cx="3474720" cy="3749040"/>
          </a:xfrm>
          <a:prstGeom prst="rect">
            <a:avLst/>
          </a:prstGeom>
          <a:solidFill>
            <a:srgbClr val="0D2226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uds (ilustr.)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784.541 – 1.091.147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★ Ángulo 2 recomendado — mayor margen, mejor ROI en el extremo conservador, y el costo/m² más bajo de los tres.</a:t>
            </a:r>
            <a:endParaRPr lang="en-US" sz="1000" dirty="0"/>
          </a:p>
        </p:txBody>
      </p:sp>
      <p:pic>
        <p:nvPicPr>
          <p:cNvPr id="3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POTENCIAL DE ALQUILER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También un producto de renta, no solo de venta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perpetua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15,0%/año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vende solo lo necesario para financiar la obra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agresiva (100%)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24,3%/año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liquida la totalidad apenas disponible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1920240"/>
            <a:ext cx="3474720" cy="356616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2 años + reventa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33,4%/año — ESTIMATED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alto, con más riesgo de mercado (plusvalía 20%/año no es una tasación de tercero)</a:t>
            </a:r>
            <a:endParaRPr lang="en-US" sz="105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SENSIBILIDAD Y PRECIO DE ENTRADA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cambia el margen — y hasta cuánto conviene pagar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precio de venta (USD 1.900-2.050/m²) es la variable de sensibilidad principal — los tres Ángulos dan margen positivo en todo ese rango, incluido el extremo bajo.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1106424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solicitado por el vendedor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pagado / a pagar (validado)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máximo económicamente justificable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 cuantificado en este documento — PENDING, ver Data Room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97680"/>
            <a:ext cx="11064240" cy="13716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Variables de sensibilidad pendientes de cuantificar (PROJECTION, no ESTIMATED):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 de refuerzo estructural del Ángulo 2 si la opinión estructural lo exige — la única variable de sensibilidad real que sigue abierta.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USD 650/720 POR M² A USD 1.525-1.628/M²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2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Composición del costo por m² comercializable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 — USD 1.525,33/m²</a:t>
            </a:r>
            <a:endParaRPr lang="en-US" sz="11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9202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343400" y="16002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 — USD 1.628,24/m²</a:t>
            </a:r>
            <a:endParaRPr lang="en-US" sz="11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4343400" y="19202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8229600" y="16002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USD 1.516,97/m²</a:t>
            </a:r>
            <a:endParaRPr lang="en-US" sz="1150" dirty="0"/>
          </a:p>
        </p:txBody>
      </p:sp>
      <p:graphicFrame>
        <p:nvGraphicFramePr>
          <p:cNvPr id="9" name="Chart 2" descr=""/>
          <p:cNvGraphicFramePr/>
          <p:nvPr/>
        </p:nvGraphicFramePr>
        <p:xfrm>
          <a:off x="8229600" y="19202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548640" y="5376672"/>
            <a:ext cx="118872" cy="118872"/>
          </a:xfrm>
          <a:prstGeom prst="rect">
            <a:avLst/>
          </a:prstGeom>
          <a:solidFill>
            <a:srgbClr val="8B3323"/>
          </a:solidFill>
          <a:ln/>
        </p:spPr>
      </p:sp>
      <p:sp>
        <p:nvSpPr>
          <p:cNvPr id="11" name="Text 6"/>
          <p:cNvSpPr/>
          <p:nvPr/>
        </p:nvSpPr>
        <p:spPr>
          <a:xfrm>
            <a:off x="740664" y="534924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Terreno</a:t>
            </a:r>
            <a:endParaRPr lang="en-US" sz="820" dirty="0"/>
          </a:p>
        </p:txBody>
      </p:sp>
      <p:sp>
        <p:nvSpPr>
          <p:cNvPr id="12" name="Shape 7"/>
          <p:cNvSpPr/>
          <p:nvPr/>
        </p:nvSpPr>
        <p:spPr>
          <a:xfrm>
            <a:off x="6309360" y="5376672"/>
            <a:ext cx="118872" cy="118872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13" name="Text 8"/>
          <p:cNvSpPr/>
          <p:nvPr/>
        </p:nvSpPr>
        <p:spPr>
          <a:xfrm>
            <a:off x="6501384" y="534924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ya construida + doc. + riesgo evitado</a:t>
            </a:r>
            <a:endParaRPr lang="en-US" sz="820" dirty="0"/>
          </a:p>
        </p:txBody>
      </p:sp>
      <p:sp>
        <p:nvSpPr>
          <p:cNvPr id="14" name="Shape 9"/>
          <p:cNvSpPr/>
          <p:nvPr/>
        </p:nvSpPr>
        <p:spPr>
          <a:xfrm>
            <a:off x="548640" y="5614416"/>
            <a:ext cx="118872" cy="118872"/>
          </a:xfrm>
          <a:prstGeom prst="rect">
            <a:avLst/>
          </a:prstGeom>
          <a:solidFill>
            <a:srgbClr val="A87D22"/>
          </a:solidFill>
          <a:ln/>
        </p:spPr>
      </p:sp>
      <p:sp>
        <p:nvSpPr>
          <p:cNvPr id="15" name="Text 10"/>
          <p:cNvSpPr/>
          <p:nvPr/>
        </p:nvSpPr>
        <p:spPr>
          <a:xfrm>
            <a:off x="740664" y="5586984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Terminación sobre estructura existente</a:t>
            </a:r>
            <a:endParaRPr lang="en-US" sz="820" dirty="0"/>
          </a:p>
        </p:txBody>
      </p:sp>
      <p:sp>
        <p:nvSpPr>
          <p:cNvPr id="16" name="Shape 11"/>
          <p:cNvSpPr/>
          <p:nvPr/>
        </p:nvSpPr>
        <p:spPr>
          <a:xfrm>
            <a:off x="6309360" y="5614416"/>
            <a:ext cx="118872" cy="118872"/>
          </a:xfrm>
          <a:prstGeom prst="rect">
            <a:avLst/>
          </a:prstGeom>
          <a:solidFill>
            <a:srgbClr val="C9982E"/>
          </a:solidFill>
          <a:ln/>
        </p:spPr>
      </p:sp>
      <p:sp>
        <p:nvSpPr>
          <p:cNvPr id="17" name="Text 12"/>
          <p:cNvSpPr/>
          <p:nvPr/>
        </p:nvSpPr>
        <p:spPr>
          <a:xfrm>
            <a:off x="6501384" y="5586984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Obra 100% nueva</a:t>
            </a:r>
            <a:endParaRPr lang="en-US" sz="820" dirty="0"/>
          </a:p>
        </p:txBody>
      </p:sp>
      <p:sp>
        <p:nvSpPr>
          <p:cNvPr id="18" name="Shape 13"/>
          <p:cNvSpPr/>
          <p:nvPr/>
        </p:nvSpPr>
        <p:spPr>
          <a:xfrm>
            <a:off x="548640" y="5852160"/>
            <a:ext cx="118872" cy="118872"/>
          </a:xfrm>
          <a:prstGeom prst="rect">
            <a:avLst/>
          </a:prstGeom>
          <a:solidFill>
            <a:srgbClr val="6B6154"/>
          </a:solidFill>
          <a:ln/>
        </p:spPr>
      </p:sp>
      <p:sp>
        <p:nvSpPr>
          <p:cNvPr id="19" name="Text 14"/>
          <p:cNvSpPr/>
          <p:nvPr/>
        </p:nvSpPr>
        <p:spPr>
          <a:xfrm>
            <a:off x="740664" y="5824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Proyecto (honorarios diseño) — solo Ángulo 2/3</a:t>
            </a:r>
            <a:endParaRPr lang="en-US" sz="820" dirty="0"/>
          </a:p>
        </p:txBody>
      </p:sp>
      <p:sp>
        <p:nvSpPr>
          <p:cNvPr id="20" name="Shape 15"/>
          <p:cNvSpPr/>
          <p:nvPr/>
        </p:nvSpPr>
        <p:spPr>
          <a:xfrm>
            <a:off x="6309360" y="5852160"/>
            <a:ext cx="118872" cy="118872"/>
          </a:xfrm>
          <a:prstGeom prst="rect">
            <a:avLst/>
          </a:prstGeom>
          <a:solidFill>
            <a:srgbClr val="DAD2C0"/>
          </a:solidFill>
          <a:ln/>
        </p:spPr>
      </p:sp>
      <p:sp>
        <p:nvSpPr>
          <p:cNvPr id="21" name="Text 16"/>
          <p:cNvSpPr/>
          <p:nvPr/>
        </p:nvSpPr>
        <p:spPr>
          <a:xfrm>
            <a:off x="6501384" y="5824728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Aprobaciones e imprevistos — solo Ángulo 2/3</a:t>
            </a:r>
            <a:endParaRPr lang="en-US" sz="820" dirty="0"/>
          </a:p>
        </p:txBody>
      </p:sp>
      <p:pic>
        <p:nvPicPr>
          <p:cNvPr id="22" name="Image 0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INGRESOS A MARGEN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2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Composición del precio de venta — valor medio del rango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184708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USD 3.567.637–4.218.165</a:t>
            </a:r>
            <a:endParaRPr lang="en-US" sz="8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488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4343400" y="15544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343400" y="184708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USD 3.820.500–4.097.250</a:t>
            </a:r>
            <a:endParaRPr lang="en-US" sz="8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343400" y="21488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8229600" y="155448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229600" y="184708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USD 4.424.700–4.749.150</a:t>
            </a:r>
            <a:endParaRPr lang="en-US" sz="85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8229600" y="2148840"/>
          <a:ext cx="35204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hape 8"/>
          <p:cNvSpPr/>
          <p:nvPr/>
        </p:nvSpPr>
        <p:spPr>
          <a:xfrm>
            <a:off x="548640" y="5623560"/>
            <a:ext cx="128016" cy="128016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14" name="Text 9"/>
          <p:cNvSpPr/>
          <p:nvPr/>
        </p:nvSpPr>
        <p:spPr>
          <a:xfrm>
            <a:off x="749808" y="55961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 (costo)</a:t>
            </a:r>
            <a:endParaRPr lang="en-US" sz="830" dirty="0"/>
          </a:p>
        </p:txBody>
      </p:sp>
      <p:sp>
        <p:nvSpPr>
          <p:cNvPr id="15" name="Shape 10"/>
          <p:cNvSpPr/>
          <p:nvPr/>
        </p:nvSpPr>
        <p:spPr>
          <a:xfrm>
            <a:off x="3383280" y="5623560"/>
            <a:ext cx="128016" cy="128016"/>
          </a:xfrm>
          <a:prstGeom prst="rect">
            <a:avLst/>
          </a:prstGeom>
          <a:solidFill>
            <a:srgbClr val="A87D22"/>
          </a:solidFill>
          <a:ln/>
        </p:spPr>
      </p:sp>
      <p:sp>
        <p:nvSpPr>
          <p:cNvPr id="16" name="Text 11"/>
          <p:cNvSpPr/>
          <p:nvPr/>
        </p:nvSpPr>
        <p:spPr>
          <a:xfrm>
            <a:off x="3584448" y="55961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Comisión de venta (5,5%)</a:t>
            </a:r>
            <a:endParaRPr lang="en-US" sz="830" dirty="0"/>
          </a:p>
        </p:txBody>
      </p:sp>
      <p:sp>
        <p:nvSpPr>
          <p:cNvPr id="17" name="Shape 12"/>
          <p:cNvSpPr/>
          <p:nvPr/>
        </p:nvSpPr>
        <p:spPr>
          <a:xfrm>
            <a:off x="6217920" y="5623560"/>
            <a:ext cx="128016" cy="128016"/>
          </a:xfrm>
          <a:prstGeom prst="rect">
            <a:avLst/>
          </a:prstGeom>
          <a:solidFill>
            <a:srgbClr val="8B3323"/>
          </a:solidFill>
          <a:ln/>
        </p:spPr>
      </p:sp>
      <p:sp>
        <p:nvSpPr>
          <p:cNvPr id="18" name="Text 13"/>
          <p:cNvSpPr/>
          <p:nvPr/>
        </p:nvSpPr>
        <p:spPr>
          <a:xfrm>
            <a:off x="6419088" y="55961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IVA del desarrollador (10% s/construcción)</a:t>
            </a:r>
            <a:endParaRPr lang="en-US" sz="830" dirty="0"/>
          </a:p>
        </p:txBody>
      </p:sp>
      <p:sp>
        <p:nvSpPr>
          <p:cNvPr id="19" name="Shape 14"/>
          <p:cNvSpPr/>
          <p:nvPr/>
        </p:nvSpPr>
        <p:spPr>
          <a:xfrm>
            <a:off x="9052560" y="5623560"/>
            <a:ext cx="128016" cy="128016"/>
          </a:xfrm>
          <a:prstGeom prst="rect">
            <a:avLst/>
          </a:prstGeom>
          <a:solidFill>
            <a:srgbClr val="2E5C3E"/>
          </a:solidFill>
          <a:ln/>
        </p:spPr>
      </p:sp>
      <p:sp>
        <p:nvSpPr>
          <p:cNvPr id="20" name="Text 15"/>
          <p:cNvSpPr/>
          <p:nvPr/>
        </p:nvSpPr>
        <p:spPr>
          <a:xfrm>
            <a:off x="9253728" y="55961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neto</a:t>
            </a:r>
            <a:endParaRPr lang="en-US" sz="830" dirty="0"/>
          </a:p>
        </p:txBody>
      </p:sp>
      <p:pic>
        <p:nvPicPr>
          <p:cNvPr id="21" name="Image 0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RIESGOS CLAVE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inversor debe saber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83210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Categoría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Detalle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Estructural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🔴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profesional pendiente sobre si la estructura soporta el piso adicional del Ángulo 2, sin refuerzo mayor.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Terreno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Resuelto — el AMC sugería un terreno vacío de ~USD 380/m² (~2x menos que el implícito, ~768/m²); el founder explicó la diferencia como valor de casa preexistente + demolición (regla D-071 ya vigente).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La plusvalía de zona a 2 años (20%/año) es un dato del founder, no una tasación de tercero.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Ejecución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El mix de unidades chicas de Ángulo 2/3 es ilustrativo — falta un arquitecto que confirme que entra en la envolvente aprobada.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Construcción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Obra parcialmente construida (73,5%) reduce el riesgo frente a un terreno vacío.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Financiero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Márgenes positivos en los 3 diseños, en todo el rango de precio, con IVA del desarrollador ya descontado.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DILIGENCE Y TESIS DE INVERSIÓN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está confirmado, y por qué conviene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120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Ítem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Identidad del vendedor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Título, gravámenes y embargos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 del IVA del desarrollador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Política de precios vs. comparables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estructural (piso adicional)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CRÍTICO ANTES DE INVERTIR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ya construida al 73,5% — menos riesgo y tiempo que empezar de cero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entrada validado contra múltiples referencias independientes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positivo en los 3 diseños, en todo el rango de precio analizado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Demanda y plusvalía reales de la zona, confirmadas con datos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caja detectado con solución concreta ya modelada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Sumate al desarrollo del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54864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     ·     juancastillo@meridianocapital.net     ·     www.meridianocapital.net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Contiene visualizaciones y planos preliminares del desarrollador original, sujetos a cambios, e información ilustrativa para los diseños Ángulo 2/3. Sujeto a la opinión estructural pendiente y a los términos finales del boleto de compraventa. Ver el apéndice Data Room (contracts/cases/HERRERA-001/) para el detalle completo y las fuentes.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2026-08-22T15:19:52Z</dcterms:created>
  <dcterms:modified xsi:type="dcterms:W3CDTF">2026-08-22T15:19:52Z</dcterms:modified>
</cp:coreProperties>
</file>