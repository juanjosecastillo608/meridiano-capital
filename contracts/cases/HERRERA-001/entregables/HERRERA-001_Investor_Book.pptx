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image" Target="../media/image-4-2.jpeg"/><Relationship Id="rId3" Type="http://schemas.openxmlformats.org/officeDocument/2006/relationships/image" Target="../media/image-4-3.jpe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31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uario\OneDrive\Documentos\Meridiano-Capital\production\generadores/assets-herrera001/brochure/00-portada-fachad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309360" y="0"/>
            <a:ext cx="588233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492240" cy="6858000"/>
          </a:xfrm>
          <a:prstGeom prst="rect">
            <a:avLst/>
          </a:prstGeom>
          <a:solidFill>
            <a:srgbClr val="14313A">
              <a:alpha val="92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6355080" y="6446520"/>
            <a:ext cx="5788152" cy="292608"/>
          </a:xfrm>
          <a:prstGeom prst="rect">
            <a:avLst/>
          </a:prstGeom>
          <a:solidFill>
            <a:srgbClr val="F6EEDD"/>
          </a:solidFill>
          <a:ln w="9525">
            <a:solidFill>
              <a:srgbClr val="A87D22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6355080" y="6446520"/>
            <a:ext cx="57881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VISUALIZACIÓN ARQUITECTÓNICA — DESARROLLADOR ORIGINAL, SUJETA A CAMBIOS</a:t>
            </a:r>
            <a:endParaRPr lang="en-US" sz="850" dirty="0"/>
          </a:p>
        </p:txBody>
      </p:sp>
      <p:pic>
        <p:nvPicPr>
          <p:cNvPr id="6" name="Image 1" descr="isotipo_invers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502920" cy="5029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188720" y="5486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spc="200" kern="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MERIDIANO CAPITAL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566928" y="22860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INVESTMENT OPPORTUNITY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548640" y="2697480"/>
            <a:ext cx="55778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8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Edificio Residencial</a:t>
            </a:r>
            <a:endParaRPr lang="en-US" sz="38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8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Herrera, Asunción</a:t>
            </a:r>
            <a:endParaRPr lang="en-US" sz="3800" dirty="0"/>
          </a:p>
        </p:txBody>
      </p:sp>
      <p:sp>
        <p:nvSpPr>
          <p:cNvPr id="10" name="Text 6"/>
          <p:cNvSpPr/>
          <p:nvPr/>
        </p:nvSpPr>
        <p:spPr>
          <a:xfrm>
            <a:off x="566928" y="4572000"/>
            <a:ext cx="5394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Investor Book — de la estructura actual al producto terminado: activo, ubicación, tipologías, precios, forma de pago, mercado y rentabilidad.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566928" y="5715000"/>
            <a:ext cx="2834640" cy="457200"/>
          </a:xfrm>
          <a:prstGeom prst="rect">
            <a:avLst/>
          </a:prstGeom>
          <a:solidFill>
            <a:srgbClr val="0D2226"/>
          </a:solidFill>
          <a:ln w="12700">
            <a:solidFill>
              <a:srgbClr val="C9982E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566928" y="571500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NEGOCIAR / CONDICIONAR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RESUMEN EJECUTIVO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La oportunidad en una página</a:t>
            </a:r>
            <a:endParaRPr lang="en-US" sz="26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5029200"/>
                <a:gridCol w="60350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Concepto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Valor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Precio de adquisición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850.000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Inversión Total (Ángulo 2, recomendado)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3.185.640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Superficie comercializable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1.800 – 2.100 m² según diseño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Unidades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21 (tal cual) a 39 (con piso adicional, ilustrativo)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Precio de venta objetivo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1.900 – 2.050 /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Ingresos potenciales (Ángulo 2)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4.424.700 – 4.749.150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Margen final, neto de comisión e IVA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784.541 – 1.091.147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ROI sobre Inversión Total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24,6% – 34,3%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Plazo estimado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12 meses de obra + 1 mes de entrega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Recomendación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Negociar / condicionar — 1 punto técnico pendiente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172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Cifras del Ángulo 2 (recomendado). Ver la sección 17 para los tres Ángulos comparados. Ninguna cifra mostrada carece de respaldo en el modelo financiero del caso.</a:t>
            </a:r>
            <a:endParaRPr lang="en-US" sz="950" dirty="0"/>
          </a:p>
        </p:txBody>
      </p:sp>
      <p:pic>
        <p:nvPicPr>
          <p:cNvPr id="6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8" name="Text 4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01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 OPORTUNIDAD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Qué estamos adquiriendo y por qué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1106424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400" b="1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Qué se adquiere: </a:t>
            </a:r>
            <a:pPr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 edificio residencial con el 73,5% de su estructura de hormigón ya construida, en una esquina de alta demanda de Barrio Herrera — no un terreno vacío ni un proyecto en papel.
</a:t>
            </a:r>
            <a:endParaRPr lang="en-US" sz="14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400" b="1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 oportunidad: </a:t>
            </a:r>
            <a:pPr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comprar la estructura existente a un costo por debajo del de construir desde cero, terminar el edificio en 12 meses, y vender/retener con el respaldo de comparables reales de la misma zona.
</a:t>
            </a:r>
            <a:endParaRPr lang="en-US" sz="14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400" b="1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 tesis de inversión: </a:t>
            </a:r>
            <a:pPr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precio de entrada ya validado, más el ahorro de tiempo y riesgo de una obra parcialmente avanzada, produce un margen positivo en los tres diseños analizados — incluso en el escenario de precio más conservador.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4206240"/>
            <a:ext cx="1106424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389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Verificación de identidad del predio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480060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nombre técnico del proyecto ("Edificio 4 de Julio", planos de 2023) y el nombre comercial ("Herrera Town") corresponden al mismo predio — verificado por cuenta catastral (14-502-04), superficie (469 m²) y ubicación (esquina Concejal Vargas y 4 de Julio) coincidentes en ambas fuentes.</a:t>
            </a:r>
            <a:endParaRPr lang="en-US" sz="1150" dirty="0"/>
          </a:p>
        </p:txBody>
      </p:sp>
      <p:pic>
        <p:nvPicPr>
          <p:cNvPr id="8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ESTADO ACTUAL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CURRENT PROJECT STATUS — julio 2026</a:t>
            </a:r>
            <a:endParaRPr lang="en-US" sz="2600" dirty="0"/>
          </a:p>
        </p:txBody>
      </p:sp>
      <p:pic>
        <p:nvPicPr>
          <p:cNvPr id="4" name="Image 0" descr="C:\Users\Usuario\OneDrive\Documentos\Meridiano-Capital\production\generadores/assets-herrera001/fotos-obra/04-fachada-calle-02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783080"/>
            <a:ext cx="3520440" cy="30175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783080"/>
            <a:ext cx="3520440" cy="301752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21792" y="4434840"/>
            <a:ext cx="3374136" cy="292608"/>
          </a:xfrm>
          <a:prstGeom prst="rect">
            <a:avLst/>
          </a:prstGeom>
          <a:solidFill>
            <a:srgbClr val="E7EFE9"/>
          </a:solidFill>
          <a:ln w="9525">
            <a:solidFill>
              <a:srgbClr val="2E5C3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21792" y="4434840"/>
            <a:ext cx="3374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2E5C3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FOTOGRAFÍA REAL — JULIO 2026</a:t>
            </a:r>
            <a:endParaRPr lang="en-US" sz="850" dirty="0"/>
          </a:p>
        </p:txBody>
      </p:sp>
      <p:pic>
        <p:nvPicPr>
          <p:cNvPr id="8" name="Image 1" descr="C:\Users\Usuario\OneDrive\Documentos\Meridiano-Capital\production\generadores/assets-herrera001/fotos-obra/01-formwork-nivel-superior.jpe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51960" y="1783080"/>
            <a:ext cx="3520440" cy="301752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4251960" y="1783080"/>
            <a:ext cx="3520440" cy="301752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325112" y="4434840"/>
            <a:ext cx="3374136" cy="292608"/>
          </a:xfrm>
          <a:prstGeom prst="rect">
            <a:avLst/>
          </a:prstGeom>
          <a:solidFill>
            <a:srgbClr val="E7EFE9"/>
          </a:solidFill>
          <a:ln w="9525">
            <a:solidFill>
              <a:srgbClr val="2E5C3E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325112" y="4434840"/>
            <a:ext cx="3374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2E5C3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FOTOGRAFÍA REAL — JULIO 2026</a:t>
            </a:r>
            <a:endParaRPr lang="en-US" sz="850" dirty="0"/>
          </a:p>
        </p:txBody>
      </p:sp>
      <p:pic>
        <p:nvPicPr>
          <p:cNvPr id="12" name="Image 2" descr="C:\Users\Usuario\OneDrive\Documentos\Meridiano-Capital\production\generadores/assets-herrera001/fotos-obra/05-interior-planta-columnas.jpe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955280" y="1783080"/>
            <a:ext cx="3520440" cy="301752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7955280" y="1783080"/>
            <a:ext cx="3520440" cy="301752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8028432" y="4434840"/>
            <a:ext cx="3374136" cy="292608"/>
          </a:xfrm>
          <a:prstGeom prst="rect">
            <a:avLst/>
          </a:prstGeom>
          <a:solidFill>
            <a:srgbClr val="E7EFE9"/>
          </a:solidFill>
          <a:ln w="9525">
            <a:solidFill>
              <a:srgbClr val="2E5C3E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8028432" y="4434840"/>
            <a:ext cx="3374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2E5C3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FOTOGRAFÍA REAL — JULIO 2026</a:t>
            </a:r>
            <a:endParaRPr lang="en-US" sz="850" dirty="0"/>
          </a:p>
        </p:txBody>
      </p:sp>
      <p:sp>
        <p:nvSpPr>
          <p:cNvPr id="16" name="Text 11"/>
          <p:cNvSpPr/>
          <p:nvPr/>
        </p:nvSpPr>
        <p:spPr>
          <a:xfrm>
            <a:off x="548640" y="502920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73,5%</a:t>
            </a:r>
            <a:endParaRPr lang="en-US" sz="2200" dirty="0"/>
          </a:p>
        </p:txBody>
      </p:sp>
      <p:sp>
        <p:nvSpPr>
          <p:cNvPr id="17" name="Text 12"/>
          <p:cNvSpPr/>
          <p:nvPr/>
        </p:nvSpPr>
        <p:spPr>
          <a:xfrm>
            <a:off x="548640" y="5486400"/>
            <a:ext cx="3520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Avance de estructura de hormigón</a:t>
            </a:r>
            <a:endParaRPr lang="en-US" sz="1050" dirty="0"/>
          </a:p>
        </p:txBody>
      </p:sp>
      <p:sp>
        <p:nvSpPr>
          <p:cNvPr id="18" name="Text 13"/>
          <p:cNvSpPr/>
          <p:nvPr/>
        </p:nvSpPr>
        <p:spPr>
          <a:xfrm>
            <a:off x="4251960" y="502920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2.286,93 m²</a:t>
            </a:r>
            <a:endParaRPr lang="en-US" sz="2200" dirty="0"/>
          </a:p>
        </p:txBody>
      </p:sp>
      <p:sp>
        <p:nvSpPr>
          <p:cNvPr id="19" name="Text 14"/>
          <p:cNvSpPr/>
          <p:nvPr/>
        </p:nvSpPr>
        <p:spPr>
          <a:xfrm>
            <a:off x="4251960" y="5486400"/>
            <a:ext cx="3520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Construidos, de 3.113,03 m² totales</a:t>
            </a:r>
            <a:endParaRPr lang="en-US" sz="1050" dirty="0"/>
          </a:p>
        </p:txBody>
      </p:sp>
      <p:sp>
        <p:nvSpPr>
          <p:cNvPr id="20" name="Text 15"/>
          <p:cNvSpPr/>
          <p:nvPr/>
        </p:nvSpPr>
        <p:spPr>
          <a:xfrm>
            <a:off x="7955280" y="502920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0%</a:t>
            </a:r>
            <a:endParaRPr lang="en-US" sz="2200" dirty="0"/>
          </a:p>
        </p:txBody>
      </p:sp>
      <p:sp>
        <p:nvSpPr>
          <p:cNvPr id="21" name="Text 16"/>
          <p:cNvSpPr/>
          <p:nvPr/>
        </p:nvSpPr>
        <p:spPr>
          <a:xfrm>
            <a:off x="7955280" y="5486400"/>
            <a:ext cx="3520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Mampostería, instalaciones y terminaciones — pendiente en su totalidad</a:t>
            </a:r>
            <a:endParaRPr lang="en-US" sz="1050" dirty="0"/>
          </a:p>
        </p:txBody>
      </p:sp>
      <p:pic>
        <p:nvPicPr>
          <p:cNvPr id="22" name="Image 3" descr="isotip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24" name="Text 18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HOY AL PRODUCTO TERMINADO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FROM CURRENT STATE TO FINAL PRODUCT — Ángulo 1</a:t>
            </a:r>
            <a:endParaRPr lang="en-US" sz="2600" dirty="0"/>
          </a:p>
        </p:txBody>
      </p:sp>
      <p:pic>
        <p:nvPicPr>
          <p:cNvPr id="4" name="Image 0" descr="C:\Users\Usuario\OneDrive\Documentos\Meridiano-Capital\production\generadores/assets-herrera001/fotos-obra/03-fachada-calle-01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691640"/>
            <a:ext cx="5349240" cy="36118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21792" y="4937760"/>
            <a:ext cx="5212080" cy="292608"/>
          </a:xfrm>
          <a:prstGeom prst="rect">
            <a:avLst/>
          </a:prstGeom>
          <a:solidFill>
            <a:srgbClr val="E7EFE9"/>
          </a:solidFill>
          <a:ln w="9525">
            <a:solidFill>
              <a:srgbClr val="2E5C3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21792" y="4937760"/>
            <a:ext cx="5212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2E5C3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FOTOGRAFÍA REAL — HOY, JULIO 2026</a:t>
            </a:r>
            <a:endParaRPr lang="en-US" sz="850" dirty="0"/>
          </a:p>
        </p:txBody>
      </p:sp>
      <p:pic>
        <p:nvPicPr>
          <p:cNvPr id="7" name="Image 1" descr="C:\Users\Usuario\OneDrive\Documentos\Meridiano-Capital\production\generadores/assets-herrera001/brochure/00-portada-fachada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63640" y="1691640"/>
            <a:ext cx="5349240" cy="361188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336792" y="4937760"/>
            <a:ext cx="5212080" cy="292608"/>
          </a:xfrm>
          <a:prstGeom prst="rect">
            <a:avLst/>
          </a:prstGeom>
          <a:solidFill>
            <a:srgbClr val="F6EEDD"/>
          </a:solidFill>
          <a:ln w="9525">
            <a:solidFill>
              <a:srgbClr val="A87D2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6336792" y="4937760"/>
            <a:ext cx="5212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VISUALIZACIÓN — DESARROLLADOR ORIGINAL, SUJETA A CAMBIOS</a:t>
            </a:r>
            <a:endParaRPr lang="en-US" sz="850" dirty="0"/>
          </a:p>
        </p:txBody>
      </p:sp>
      <p:sp>
        <p:nvSpPr>
          <p:cNvPr id="10" name="Text 6"/>
          <p:cNvSpPr/>
          <p:nvPr/>
        </p:nvSpPr>
        <p:spPr>
          <a:xfrm>
            <a:off x="548640" y="544068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 conserva la estructura existente y la envolvente ya aprobada. Se completa mampostería, instalaciones, fachada y terminaciones — sin modificar el diseño original en el escenario Ángulo 1 ("tal cual"). Los Ángulos 2 y 3 proponen cambios de diseño que todavía no tienen un plano o render propio — ver sección 9.</a:t>
            </a:r>
            <a:endParaRPr lang="en-US" sz="1000" dirty="0"/>
          </a:p>
        </p:txBody>
      </p:sp>
      <p:pic>
        <p:nvPicPr>
          <p:cNvPr id="11" name="Image 2" descr="isotip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3" name="Text 8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PROYECTO ARQUITECTÓNICO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Distribución — diseño original (Ángulo 1)</a:t>
            </a:r>
            <a:endParaRPr lang="en-US" sz="2600" dirty="0"/>
          </a:p>
        </p:txBody>
      </p:sp>
      <p:pic>
        <p:nvPicPr>
          <p:cNvPr id="4" name="Image 0" descr="C:\Users\Usuario\OneDrive\Documentos\Meridiano-Capital\production\generadores/assets-herrera001/brochure/07-plano-bas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783080"/>
            <a:ext cx="5943600" cy="42062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94360" y="5806440"/>
            <a:ext cx="5852160" cy="292608"/>
          </a:xfrm>
          <a:prstGeom prst="rect">
            <a:avLst/>
          </a:prstGeom>
          <a:solidFill>
            <a:srgbClr val="F5E6E2"/>
          </a:solidFill>
          <a:ln w="9525">
            <a:solidFill>
              <a:srgbClr val="8B332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94360" y="5806440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PLANO DEL DESARROLLADOR — PRELIMINAR, SUJETO A CAMBIOS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6766560" y="1828800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8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7818120" y="182880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Niveles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766560" y="2606040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21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818120" y="260604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Departamentos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766560" y="3383280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21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7818120" y="338328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Cocheras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766560" y="4206240"/>
            <a:ext cx="4754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Amenities: salón multiuso climatizado, parrilla, piscina, solarium, parque infantil, ascensor, área de descanso.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766560" y="5394960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Fuente: brochure comercial real del desarrollador original ("Herrera Town"), verificado contra la cuenta catastral del predio.</a:t>
            </a:r>
            <a:endParaRPr lang="en-US" sz="950" dirty="0"/>
          </a:p>
        </p:txBody>
      </p:sp>
      <p:pic>
        <p:nvPicPr>
          <p:cNvPr id="15" name="Image 1" descr="isotip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7" name="Text 13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TIPOLOGÍAS — ÁNGULO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6 tipologías, del diseño original real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926080"/>
                <a:gridCol w="2834640"/>
                <a:gridCol w="3657600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Tipología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Dormitorios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Área propia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Distribución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 dormitorios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77,1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Pisos 1–6 (6 unidades)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 dormitorios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95,8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Pisos 1–6 (6 unidades)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 dormitorio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54,5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Pisos 1–3 (3 unidades)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 dormitorios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77,2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Pisos 1–3 (3 unidades)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E1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3 dormitorios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132,3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 4 (1 unidad)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E2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3 dormitorios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124,4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Pisos 5–6 (2 unidades)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0749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 unidades en total — área propia total ≈ 1.813,6 m², consistente con los 1.800 m² de área comercializable usados en el modelo financiero del Ángulo 1.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48640" y="5623560"/>
            <a:ext cx="3840480" cy="292608"/>
          </a:xfrm>
          <a:prstGeom prst="rect">
            <a:avLst/>
          </a:prstGeom>
          <a:solidFill>
            <a:srgbClr val="F5E6E2"/>
          </a:solidFill>
          <a:ln w="9525">
            <a:solidFill>
              <a:srgbClr val="8B332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48640" y="5623560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PLANILLA REAL DEL DESARROLLADOR ORIGINAL</a:t>
            </a:r>
            <a:endParaRPr lang="en-US" sz="850" dirty="0"/>
          </a:p>
        </p:txBody>
      </p:sp>
      <p:pic>
        <p:nvPicPr>
          <p:cNvPr id="8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FICHA DE TIPOLOGÍA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Tipo A — 2 dormitorios, 77,1 m²</a:t>
            </a:r>
            <a:endParaRPr lang="en-US" sz="2600" dirty="0"/>
          </a:p>
        </p:txBody>
      </p:sp>
      <p:pic>
        <p:nvPicPr>
          <p:cNvPr id="4" name="Image 0" descr="C:\Users\Usuario\OneDrive\Documentos\Meridiano-Capital\production\generadores/assets-herrera001/brochure/08-tipo-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737360"/>
            <a:ext cx="5486400" cy="44805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94360" y="5852160"/>
            <a:ext cx="5394960" cy="292608"/>
          </a:xfrm>
          <a:prstGeom prst="rect">
            <a:avLst/>
          </a:prstGeom>
          <a:solidFill>
            <a:srgbClr val="F5E6E2"/>
          </a:solidFill>
          <a:ln w="9525">
            <a:solidFill>
              <a:srgbClr val="8B332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94360" y="5852160"/>
            <a:ext cx="5394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PLANO DEL DESARROLLADOR — PRELIMINAR, SUJETO A CAMBIOS</a:t>
            </a:r>
            <a:endParaRPr lang="en-US" sz="8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828800"/>
          <a:ext cx="521208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Ambiente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Habitación principal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13,03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Habitación 1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9,91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Baño principal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3,19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Baño 1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2,76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Sala/comedor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22,16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Cocina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5,69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Balcón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5,1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6400800" y="4709160"/>
            <a:ext cx="5212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Ejemplo de ficha disponible por cada una de las 6 tipologías (A-E2) a partir del mismo material real del desarrollador.</a:t>
            </a:r>
            <a:endParaRPr lang="en-US" sz="1050" dirty="0"/>
          </a:p>
        </p:txBody>
      </p:sp>
      <p:pic>
        <p:nvPicPr>
          <p:cNvPr id="9" name="Image 1" descr="isotip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1" name="Text 6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ÁNGULO 2 Y ÁNGULO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Propuesta de rediseño de mix — sin plano confirmado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64240" cy="685800"/>
          </a:xfrm>
          <a:prstGeom prst="rect">
            <a:avLst/>
          </a:prstGeom>
          <a:solidFill>
            <a:srgbClr val="F6EEDD"/>
          </a:solidFill>
          <a:ln w="12700">
            <a:solidFill>
              <a:srgbClr val="A87D2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737360"/>
            <a:ext cx="10607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Estos dos escenarios reconsideran el mix de unidades del diseño original — todavía no tienen un plano arquitectónico ni un render propio. No se ilustra ninguna unidad de estas con material inventado.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48640" y="2651760"/>
            <a:ext cx="539496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88036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Ángulo 3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68680" y="324612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Fachada nueva + tipologías chicas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68680" y="37490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 pisos, 29 unidades (ilustrativo)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68680" y="4160520"/>
            <a:ext cx="48463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Monoambiente (30 m²), 1 dormitorio (45 m²) y 2/3 dormitorios en proporciones más parejas — mejor perfil de retención en renta.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72200" y="2651760"/>
            <a:ext cx="5394960" cy="3291840"/>
          </a:xfrm>
          <a:prstGeom prst="rect">
            <a:avLst/>
          </a:prstGeom>
          <a:solidFill>
            <a:srgbClr val="14313A"/>
          </a:solidFill>
          <a:ln w="25400">
            <a:solidFill>
              <a:srgbClr val="C9982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288036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Ángulo 2 — recomendado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92240" y="324612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+ piso adicional (7º)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92240" y="37490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 pisos, 39 unidades (ilustrativo)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0" y="4160520"/>
            <a:ext cx="48463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Mismo mix de Ángulo 3, más un piso adicional ya con incentivo de altura municipal confirmado — mayor margen, costo/m² más bajo de los tres diseños.</a:t>
            </a:r>
            <a:endParaRPr lang="en-US" sz="1100" dirty="0"/>
          </a:p>
        </p:txBody>
      </p:sp>
      <p:pic>
        <p:nvPicPr>
          <p:cNvPr id="16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MATRIZ DE UNIDADES — ÁNGULO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UNIT PRICE MATRIX — precio por tipología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371600"/>
                <a:gridCol w="1828800"/>
                <a:gridCol w="365760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Tipología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Unidades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Área propia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Precio de venta (rango)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Precio/m²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6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77,1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146.490 – 158.055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1.900 – 2.050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6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95,8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182.020 – 196.390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1.900 – 2.050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3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54,5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103.550 – 111.725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1.900 – 2.050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3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77,2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146.680 – 158.260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1.900 – 2.050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E1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132,3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251.370 – 271.215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1.900 – 2.050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E2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124,4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236.360 – 255.020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1.900 – 2.050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89204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 cochera: USD 15.000 por unidad (21 cocheras) — validado contra comparables reales (rango de mercado USD 12.000–15.000).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548640" y="5257800"/>
            <a:ext cx="11064240" cy="868680"/>
          </a:xfrm>
          <a:prstGeom prst="rect">
            <a:avLst/>
          </a:prstGeom>
          <a:solidFill>
            <a:srgbClr val="F6EEDD"/>
          </a:solidFill>
          <a:ln w="12700">
            <a:solidFill>
              <a:srgbClr val="A87D2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530352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Nota de consistencia (§41): 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esta matriz, calculada unidad por unidad a partir de la planilla real del desarrollador, da un ingreso total de USD 3.760.840 – 4.032.880 (sin contar cocheras aparte). El modelo financiero del caso usa USD 3.567.637 – 4.218.165 para el mismo Ángulo 1 (cálculo top-down sobre el área total). La diferencia (±5%) no se resolvió — puede deberse a una diferenciación de precio por piso no modelada acá. Ver `contracts/cases/HERRERA-001/41-unit-price-matrix.md`.</a:t>
            </a:r>
            <a:endParaRPr lang="en-US" sz="900" dirty="0"/>
          </a:p>
        </p:txBody>
      </p:sp>
      <p:pic>
        <p:nvPicPr>
          <p:cNvPr id="8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JUSTIFICACIÓN DEL PRECIO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Precio del proyecto vs. mercado comparable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743200"/>
                <a:gridCol w="3200400"/>
                <a:gridCol w="182880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Tipología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Precio proyecto USD/m²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Mercado (comparables reales)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Posición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Monoambiente/1 dorm chico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1.900 – 2.050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1.576 – 1.809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ABOVE MARKET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 dormitorios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1.900 – 2.050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1.580 – 1.851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ABOVE MARKET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3 dormitorios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1.900 – 2.050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1.850 – 2.212 (Filum)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MARKET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2880360"/>
            <a:ext cx="110642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precio objetivo está por encima del rango de los 7 comparables de Century 21 (calidad estándar) y en línea con Filum Herrera (comparable directo del mismo barrio, mejores terminaciones). La diferenciación de producto (calidad USD 720/m² vs. 650/m² del rango bajo) fue evaluada cuantitativamente y sostiene el precio premium — ver sección 19.</a:t>
            </a:r>
            <a:endParaRPr lang="en-US" sz="1200" dirty="0"/>
          </a:p>
        </p:txBody>
      </p:sp>
      <p:pic>
        <p:nvPicPr>
          <p:cNvPr id="6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8" name="Text 4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MARKET COMPARABLES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7 comparables reales + el comparable directo del barrio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377440"/>
                <a:gridCol w="2468880"/>
                <a:gridCol w="1828800"/>
                <a:gridCol w="16459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Proyecto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Zona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Tipología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Precio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USD/m²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Inarco Herrera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Barrio Herrera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 dorm, 44 m²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69.800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1.586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Filum Herrera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Barrio Herrera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 dorm, 38 m²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70.300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1.850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Sunset Santa Teresa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Ycuá Satí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 dorm, 45,2 m²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73.689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1.631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Ayre Santa Teresa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Ycuá Satí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Mono, 35,6 m²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64.404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1.809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Marina 11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Ycuá Satí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 dorm, 72,8 m²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115.000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1.580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Livit Santa Teresa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Ycuá Satí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 dorm, 43,8 m²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79.200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1.807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Ventura Ycuá Satí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Ycuá Satí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 dorm, 49,5 m²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83.062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1.677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16636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Fuente: listados públicos de Century 21, relevados 2026-08-17 (categoría A — dato real con fuente citable). Filum Herrera: flyer comercial real de Century 21 Liberty, mismo barrio.</a:t>
            </a:r>
            <a:endParaRPr lang="en-US" sz="950" dirty="0"/>
          </a:p>
        </p:txBody>
      </p:sp>
      <p:pic>
        <p:nvPicPr>
          <p:cNvPr id="6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8" name="Text 4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MARKET SNAPSHOT — HERRERA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Venta y alquiler, lado a lado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9496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9659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VENTA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2423160"/>
            <a:ext cx="484632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USD 1.576 – 1.809/m²  </a:t>
            </a:r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rango de 7 comparables reales (Century 21)
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USD 1.850 – 2.025/m²  </a:t>
            </a:r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Filum Herrera, comparable directo del barrio
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USD 1.900 – 2.050/m²  </a:t>
            </a:r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precio objetivo del proyecto (calidad diferenciada)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63640" y="1783080"/>
            <a:ext cx="539496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37960" y="19659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ALQUILER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37960" y="2423160"/>
            <a:ext cx="484632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Monoambiente  </a:t>
            </a:r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más sólido — supera su piso de renta en todas las combinaciones probadas
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dormitorio  </a:t>
            </a:r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sólido en tradicional/amoblado básico
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2-3 dormitorios  </a:t>
            </a:r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necesitan amoblado o zona premium para superar el piso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57607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Fuente: knowledge-base/investment/market-intelligence/ (D-066, D-073) — datos reales relevados de Century 21, RE/MAX y portales, categoría A/C según el registro.</a:t>
            </a:r>
            <a:endParaRPr lang="en-US" sz="950" dirty="0"/>
          </a:p>
        </p:txBody>
      </p:sp>
      <p:pic>
        <p:nvPicPr>
          <p:cNvPr id="11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UBICACIÓN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LOCATION &amp; MARKET MAP</a:t>
            </a:r>
            <a:endParaRPr lang="en-US" sz="2600" dirty="0"/>
          </a:p>
        </p:txBody>
      </p:sp>
      <p:pic>
        <p:nvPicPr>
          <p:cNvPr id="4" name="Image 0" descr="C:\Users\Usuario\OneDrive\Documentos\Meridiano-Capital\production\generadores/assets-herrera001/brochure/04-ubicacion-map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737360"/>
            <a:ext cx="7315200" cy="44805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94360" y="5806440"/>
            <a:ext cx="3657600" cy="292608"/>
          </a:xfrm>
          <a:prstGeom prst="rect">
            <a:avLst/>
          </a:prstGeom>
          <a:solidFill>
            <a:srgbClr val="F5E6E2"/>
          </a:solidFill>
          <a:ln w="9525">
            <a:solidFill>
              <a:srgbClr val="8B332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94360" y="5806440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MAPA REAL DEL DESARROLLADOR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8138160" y="1920240"/>
            <a:ext cx="352044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Esquina Concejal Vargas y 4 de Julio, Barrio Herrera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500 m de Av. Mariscal López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Cercano a Superseis, Biggie, Shopping Mariscal, Paseo La Galería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pocas cuadras de la Municipalidad de Asunción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Lindante con Barrio Villa Morra y San Cristóbal</a:t>
            </a:r>
            <a:endParaRPr lang="en-US" sz="1150" dirty="0"/>
          </a:p>
        </p:txBody>
      </p:sp>
      <p:pic>
        <p:nvPicPr>
          <p:cNvPr id="8" name="Image 1" descr="isotip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PAYMENT STRUCTURE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Cómo se puede comprar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3949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201168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Norma estándar Meridiano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68680" y="26517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20% anticipo (firma boleto)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68680" y="33375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70% cuotas mensuales decrecientes durante obra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68680" y="40233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10% contra la entrega física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72200" y="1828800"/>
            <a:ext cx="53949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0" y="201168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Variante de plazo corto (este proyecto)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92240" y="26517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40% anticipo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492240" y="33375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50% cuotas durante obra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492240" y="40233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10% contra la entrega física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48640" y="525780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se financia directamente contra la escritura — el 10% final se cobra contra la entrega física del departamento, ~6-8 meses antes de la escritura. Ambos esquemas conviven; la variante de plazo corto ayuda a cerrar el déficit de timing de este proyecto específico (12 meses de obra).</a:t>
            </a:r>
            <a:endParaRPr lang="en-US" sz="1100" dirty="0"/>
          </a:p>
        </p:txBody>
      </p:sp>
      <p:pic>
        <p:nvPicPr>
          <p:cNvPr id="15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FINANCIACIÓN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Del comprador vs. estructura de inversión de Meridiano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53949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38328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Comparable real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Condición de financiamiento observada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Sunset Santa Teresa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Hasta 24 meses sin interés, escalones 30/50/90%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Ayre Santa Teresa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Planes 20-80, 20-50-30, 30-50-20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Livit Santa Teresa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20% + cuotas de USD 500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Matrisa Lillo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27 meses sin interés + financiación post-obra hasta 5 años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Ventura Ycuá Satí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Hasta 36 meses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263640" y="1783080"/>
            <a:ext cx="5394960" cy="3931920"/>
          </a:xfrm>
          <a:prstGeom prst="rect">
            <a:avLst/>
          </a:prstGeom>
          <a:solidFill>
            <a:srgbClr val="14313A"/>
          </a:solidFill>
          <a:ln/>
        </p:spPr>
      </p:sp>
      <p:sp>
        <p:nvSpPr>
          <p:cNvPr id="6" name="Text 3"/>
          <p:cNvSpPr/>
          <p:nvPr/>
        </p:nvSpPr>
        <p:spPr>
          <a:xfrm>
            <a:off x="6537960" y="19659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ESTRUCTURA DE INVERSIÓN — MERIDIANO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537960" y="2468880"/>
            <a:ext cx="484632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Vehículo: Sociedad Anónima, 2-3 socios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100% fondos propios — sin deuda bancaria, sin fideicomiso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Capital propio cubre el 74-76% de la Inversión Total según escenario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Déficit de timing de caja identificado y resuelto (mes 9→11)</a:t>
            </a:r>
            <a:endParaRPr lang="en-US" sz="1150" dirty="0"/>
          </a:p>
        </p:txBody>
      </p:sp>
      <p:pic>
        <p:nvPicPr>
          <p:cNvPr id="8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31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ESTRATEGIA Y RETORNO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21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Capital → Obra → Producto terminado → Venta → Ganancia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3474720" cy="3749040"/>
          </a:xfrm>
          <a:prstGeom prst="rect">
            <a:avLst/>
          </a:prstGeom>
          <a:solidFill>
            <a:srgbClr val="1B3D45"/>
          </a:solidFill>
          <a:ln w="12700">
            <a:solidFill>
              <a:srgbClr val="2A4A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28600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Ángulo 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265176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 uds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22960" y="310896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Inversión Total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822960" y="333756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USD 2.745.598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38862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Margen (bajo–alto)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22960" y="411480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436.259 – 1.051.008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475488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ROI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822960" y="498348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15,9% – 38,3%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4251960" y="2103120"/>
            <a:ext cx="3474720" cy="3749040"/>
          </a:xfrm>
          <a:prstGeom prst="rect">
            <a:avLst/>
          </a:prstGeom>
          <a:solidFill>
            <a:srgbClr val="1B3D45"/>
          </a:solidFill>
          <a:ln w="12700">
            <a:solidFill>
              <a:srgbClr val="2A4A5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26280" y="228600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Ángulo 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26280" y="265176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29 uds (ilustr.)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526280" y="310896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Inversión Total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526280" y="333756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USD 2.930.823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526280" y="38862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Margen (bajo–alto)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526280" y="411480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489.990 – 751.518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26280" y="475488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ROI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526280" y="498348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16,7% – 25,6%</a:t>
            </a:r>
            <a:endParaRPr lang="en-US" sz="1900" dirty="0"/>
          </a:p>
        </p:txBody>
      </p:sp>
      <p:sp>
        <p:nvSpPr>
          <p:cNvPr id="22" name="Shape 20"/>
          <p:cNvSpPr/>
          <p:nvPr/>
        </p:nvSpPr>
        <p:spPr>
          <a:xfrm>
            <a:off x="7955280" y="2103120"/>
            <a:ext cx="3474720" cy="3749040"/>
          </a:xfrm>
          <a:prstGeom prst="rect">
            <a:avLst/>
          </a:prstGeom>
          <a:solidFill>
            <a:srgbClr val="0D2226"/>
          </a:solidFill>
          <a:ln w="25400">
            <a:solidFill>
              <a:srgbClr val="C9982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0" y="228600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Ángulo 2 ★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229600" y="265176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39 uds (ilustr.)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229600" y="310896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Inversión Total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8229600" y="333756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USD 3.185.640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229600" y="38862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Margen (bajo–alto)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229600" y="411480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784.541 – 1.091.147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229600" y="475488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ROI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8229600" y="498348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24,6% – 34,3%</a:t>
            </a:r>
            <a:endParaRPr lang="en-US" sz="1900" dirty="0"/>
          </a:p>
        </p:txBody>
      </p:sp>
      <p:sp>
        <p:nvSpPr>
          <p:cNvPr id="31" name="Text 29"/>
          <p:cNvSpPr/>
          <p:nvPr/>
        </p:nvSpPr>
        <p:spPr>
          <a:xfrm>
            <a:off x="548640" y="589788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★ Ángulo 2 recomendado — mayor margen, mejor ROI en el extremo conservador, y el costo/m² más bajo de los tres.</a:t>
            </a:r>
            <a:endParaRPr lang="en-US" sz="1000" dirty="0"/>
          </a:p>
        </p:txBody>
      </p:sp>
      <p:pic>
        <p:nvPicPr>
          <p:cNvPr id="32" name="Image 0" descr="isotipo_invers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33" name="Text 30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POTENCIAL DE ALQUILER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También un producto de renta, no solo de venta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47472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148840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Venta mínima + retención perpetua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301752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15,0%/año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3657600"/>
            <a:ext cx="29718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 vende solo lo necesario para financiar la obra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251960" y="1920240"/>
            <a:ext cx="347472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26280" y="2148840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Venta agresiva (100%)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26280" y="301752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24,3%/año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526280" y="3657600"/>
            <a:ext cx="29718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 liquida la totalidad apenas disponible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955280" y="1920240"/>
            <a:ext cx="3474720" cy="3566160"/>
          </a:xfrm>
          <a:prstGeom prst="rect">
            <a:avLst/>
          </a:prstGeom>
          <a:solidFill>
            <a:srgbClr val="14313A"/>
          </a:solidFill>
          <a:ln w="25400">
            <a:solidFill>
              <a:srgbClr val="C998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48840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Venta mínima + retención 2 años + reventa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29600" y="301752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33,4%/año — ESTIMATED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8229600" y="3657600"/>
            <a:ext cx="29718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más alto, con más riesgo de mercado (plusvalía 20%/año no es una tasación de tercero)</a:t>
            </a:r>
            <a:endParaRPr lang="en-US" sz="1050" dirty="0"/>
          </a:p>
        </p:txBody>
      </p:sp>
      <p:pic>
        <p:nvPicPr>
          <p:cNvPr id="16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SENSIBILIDAD Y PRECIO DE ENTRADA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Cómo cambia el margen — y hasta cuánto conviene pagar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rango de precio de venta (USD 1.900-2.050/m²) es la variable de sensibilidad principal — los tres Ángulos dan margen positivo en todo ese rango, incluido el extremo bajo.</a:t>
            </a:r>
            <a:endParaRPr lang="en-US" sz="12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560320"/>
          <a:ext cx="11064240" cy="914400"/>
        </p:xfrm>
        <a:graphic>
          <a:graphicData uri="http://schemas.openxmlformats.org/drawingml/2006/table">
            <a:tbl>
              <a:tblPr/>
              <a:tblGrid>
                <a:gridCol w="5943600"/>
                <a:gridCol w="512064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Concepto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Valor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Precio solicitado por el vendedor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850.000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Precio pagado / a pagar (validado)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850.000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Precio máximo económicamente justificable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No cuantificado en este documento — PENDING, ver Data Room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297680"/>
            <a:ext cx="11064240" cy="1371600"/>
          </a:xfrm>
          <a:prstGeom prst="rect">
            <a:avLst/>
          </a:prstGeom>
          <a:solidFill>
            <a:srgbClr val="F6EEDD"/>
          </a:solidFill>
          <a:ln w="12700">
            <a:solidFill>
              <a:srgbClr val="A87D2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4434840"/>
            <a:ext cx="10607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Variables de sensibilidad pendientes de cuantificar (PROJECTION, no ESTIMATED): </a:t>
            </a:r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costo de refuerzo estructural del Ángulo 2 si la opinión estructural lo exige — la única variable de sensibilidad real que sigue abierta.</a:t>
            </a:r>
            <a:endParaRPr lang="en-US" sz="1150" dirty="0"/>
          </a:p>
        </p:txBody>
      </p:sp>
      <p:pic>
        <p:nvPicPr>
          <p:cNvPr id="8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KEY RISKS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Lo que todo inversor debe saber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05840"/>
                <a:gridCol w="8046720"/>
              </a:tblGrid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Categoría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Estado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Detalle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Estructural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🔴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Opinión profesional pendiente sobre si la estructura soporta el piso adicional del Ángulo 2, sin refuerzo mayor.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Mercado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🟡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La plusvalía de zona a 2 años (20%/año) es un dato del founder, no una tasación de tercero.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Ejecución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🟡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El mix de unidades chicas de Ángulo 2/3 es ilustrativo — falta un arquitecto que confirme que entra en la envolvente aprobada.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Construcción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🟢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Obra parcialmente construida (73,5%) reduce el riesgo frente a un terreno vacío.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Financiero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🟢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Márgenes positivos en los 3 diseños, en todo el rango de precio, con IVA del desarrollador ya descontado.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7" name="Text 3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DUE DILIGENCE &amp; INVESTMENT THESIS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Qué está confirmado, y por qué conviene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51206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Ítem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Estado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Identidad del vendedor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VERIFICADO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Título, gravámenes y embargos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VERIFICADO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Base del IVA del desarrollador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VERIFICADO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Política de precios vs. comparables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VERIFICADO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Opinión estructural (piso adicional)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CRÍTICO ANTES DE INVERTIR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263640" y="1783080"/>
            <a:ext cx="5394960" cy="4206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Estructura ya construida al 73,5% — menos riesgo y tiempo que empezar de cero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Precio de entrada validado contra múltiples referencias independientes de mercado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Margen positivo en los 3 diseños, en todo el rango de precio analizado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Demanda y plusvalía reales de la zona, confirmadas con datos de mercado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Déficit de caja detectado con solución concreta ya modelada</a:t>
            </a:r>
            <a:endParaRPr lang="en-US" sz="1150" dirty="0"/>
          </a:p>
        </p:txBody>
      </p:sp>
      <p:pic>
        <p:nvPicPr>
          <p:cNvPr id="6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8" name="Text 4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8B3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sotipo_invers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502920" cy="5029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566928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spc="200" kern="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MERIDIANO CAPITAL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48640" y="2103120"/>
            <a:ext cx="100584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Sumate al desarrollo del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Edificio Barrio Herrera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548640" y="42062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Juan José Castillo</a:t>
            </a:r>
            <a:endParaRPr lang="en-US" sz="1900" dirty="0"/>
          </a:p>
        </p:txBody>
      </p:sp>
      <p:sp>
        <p:nvSpPr>
          <p:cNvPr id="6" name="Text 3"/>
          <p:cNvSpPr/>
          <p:nvPr/>
        </p:nvSpPr>
        <p:spPr>
          <a:xfrm>
            <a:off x="548640" y="46634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0DDD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Operador Técnico y Legal de Inversiones Inmobiliarias · Asunción, Paraguay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548640" y="5120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+595 982 853 111</a:t>
            </a:r>
            <a:pPr indent="0" marL="0">
              <a:buNone/>
            </a:pPr>
            <a:r>
              <a:rPr lang="en-US" sz="1250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   ·     juancastillo@meridianocapital.net     ·     www.meridianocapital.net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548640" y="58064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i="1" dirty="0">
                <a:solidFill>
                  <a:srgbClr val="F0DDD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Documento preliminar y no vinculante. Contiene visualizaciones y planos preliminares del desarrollador original, sujetos a cambios, e información ilustrativa para los diseños Ángulo 2/3. Sujeto a la opinión estructural pendiente y a los términos finales del boleto de compraventa. Ver el apéndice Data Room (contracts/cases/HERRERA-001/) para el detalle completo y las fuentes.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2026-08-18T02:49:16Z</dcterms:created>
  <dcterms:modified xsi:type="dcterms:W3CDTF">2026-08-18T02:49:16Z</dcterms:modified>
</cp:coreProperties>
</file>