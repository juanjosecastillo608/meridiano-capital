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jpe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uario\OneDrive\Documentos\Meridiano-Capital\production\generadores/assets-herrera001/brochure/00-portada-facha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0"/>
            <a:ext cx="58823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492240" cy="6858000"/>
          </a:xfrm>
          <a:prstGeom prst="rect">
            <a:avLst/>
          </a:prstGeom>
          <a:solidFill>
            <a:srgbClr val="14313A">
              <a:alpha val="9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6355080" y="6446520"/>
            <a:ext cx="5788152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355080" y="6446520"/>
            <a:ext cx="57881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VISUALIZACIÓN ARQUITECTÓNICA — DESARROLLADOR ORIGINAL, SUJETA A CAMBIOS</a:t>
            </a:r>
            <a:endParaRPr lang="en-US" sz="850" dirty="0"/>
          </a:p>
        </p:txBody>
      </p:sp>
      <p:pic>
        <p:nvPicPr>
          <p:cNvPr id="6" name="Image 1" descr="isotipo_inver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88720" y="548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66928" y="2286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OPORTUNIDAD DE INVERSIÓN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48640" y="2697480"/>
            <a:ext cx="5577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Residencial</a:t>
            </a:r>
            <a:endParaRPr lang="en-US" sz="3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Herrera, Asunción</a:t>
            </a:r>
            <a:endParaRPr lang="en-US" sz="3800" dirty="0"/>
          </a:p>
        </p:txBody>
      </p:sp>
      <p:sp>
        <p:nvSpPr>
          <p:cNvPr id="10" name="Text 6"/>
          <p:cNvSpPr/>
          <p:nvPr/>
        </p:nvSpPr>
        <p:spPr>
          <a:xfrm>
            <a:off x="566928" y="4572000"/>
            <a:ext cx="5394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Investor Book — de la estructura actual al producto terminado: activo, ubicación, tipologías, precios, forma de pago, mercado y rentabilidad.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66928" y="5715000"/>
            <a:ext cx="2834640" cy="457200"/>
          </a:xfrm>
          <a:prstGeom prst="rect">
            <a:avLst/>
          </a:prstGeom>
          <a:solidFill>
            <a:srgbClr val="0D2226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" y="57150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NEGOCIAR / CONDICIONAR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La oportunidad en una página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6035040"/>
              </a:tblGrid>
              <a:tr h="3520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adquisición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Inversión Total (Ángulo 2, recomendado)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3.185.640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Superficie comercializable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1.800 – 2.100 m² según diseño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Unidades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21 (tal cual) a 39 (con piso adicional, ilustrativo)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venta objetivo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1.900 – 2.050 /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Ingresos potenciales (Ángulo 2)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4.424.700 – 4.749.150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Margen final, neto de comisión e IVA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784.541 – 1.091.147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ROI sobre Inversión Total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24,6% – 34,3%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Plazo estimado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 meses de obra + 1 mes de entrega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Recomendación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Negociar / condicionar — 1 punto técnico pendiente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424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Cifras del Ángulo 2 (recomendado). Ver la sección 17 para los tres Ángulos comparados. Ninguna cifra mostrada carece de respaldo en el modelo financiero del caso.</a:t>
            </a:r>
            <a:endParaRPr lang="en-US" sz="8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OPORTUNIDAD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Qué estamos adquiriendo y por qué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Qué se adquiere: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edificio residencial con el 73,5% de su estructura de hormigón ya construida, en una esquina de alta demanda de Barrio Herrera — no un terreno vacío ni un proyecto en papel.
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oportunidad: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comprar la estructura existente a un costo por debajo del de construir desde cero, terminar el edificio en 12 meses, y vender/retener con el respaldo de comparables reales de la misma zona.
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tesis de inversión: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precio de entrada ya validado, más el ahorro de tiempo y riesgo de una obra parcialmente avanzada, produce un margen positivo en los tres diseños analizados — incluso en el escenario de precio más conservador.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64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389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Verificación de identidad del predio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8006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nombre técnico del proyecto ("Edificio 4 de Julio", planos de 2023) y el nombre comercial ("Herrera Town") corresponden al mismo predio — verificado por cuenta catastral (14-502-04), superficie (469 m²) y ubicación (esquina Concejal Vargas y 4 de Julio) coincidentes en ambas fuentes.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ESTADO ACTUAL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ESTADO ACTUAL DEL PROYECTO — julio 2026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fotos-obra/04-fachada-calle-02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83080"/>
            <a:ext cx="352044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179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pic>
        <p:nvPicPr>
          <p:cNvPr id="8" name="Image 1" descr="C:\Users\Usuario\OneDrive\Documentos\Meridiano-Capital\production\generadores/assets-herrera001/fotos-obra/01-formwork-nivel-superior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783080"/>
            <a:ext cx="3520440" cy="3017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25196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32511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32511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pic>
        <p:nvPicPr>
          <p:cNvPr id="12" name="Image 2" descr="C:\Users\Usuario\OneDrive\Documentos\Meridiano-Capital\production\generadores/assets-herrera001/fotos-obra/05-interior-planta-columnas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55280" y="1783080"/>
            <a:ext cx="3520440" cy="301752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95528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802843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02843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sp>
        <p:nvSpPr>
          <p:cNvPr id="16" name="Text 11"/>
          <p:cNvSpPr/>
          <p:nvPr/>
        </p:nvSpPr>
        <p:spPr>
          <a:xfrm>
            <a:off x="54864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73,5%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54864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Avance de estructura de hormigón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425196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2.286,93 m²</a:t>
            </a:r>
            <a:endParaRPr lang="en-US" sz="2200" dirty="0"/>
          </a:p>
        </p:txBody>
      </p:sp>
      <p:sp>
        <p:nvSpPr>
          <p:cNvPr id="19" name="Text 14"/>
          <p:cNvSpPr/>
          <p:nvPr/>
        </p:nvSpPr>
        <p:spPr>
          <a:xfrm>
            <a:off x="425196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Construidos, de 3.113,03 m² totales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795528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0%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795528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Mampostería, instalaciones y terminaciones — pendiente en su totalidad</a:t>
            </a:r>
            <a:endParaRPr lang="en-US" sz="1050" dirty="0"/>
          </a:p>
        </p:txBody>
      </p:sp>
      <p:pic>
        <p:nvPicPr>
          <p:cNvPr id="22" name="Image 3" descr="isoti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24" name="Text 18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HOY AL PRODUCTO TERMINADO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DEL ESTADO ACTUAL AL PRODUCTO FINAL — Ángulo 1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fotos-obra/03-fachada-calle-01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5349240" cy="3611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" y="4937760"/>
            <a:ext cx="5212080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1792" y="493776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HOY, JULIO 2026</a:t>
            </a:r>
            <a:endParaRPr lang="en-US" sz="850" dirty="0"/>
          </a:p>
        </p:txBody>
      </p:sp>
      <p:pic>
        <p:nvPicPr>
          <p:cNvPr id="7" name="Image 1" descr="C:\Users\Usuario\OneDrive\Documentos\Meridiano-Capital\production\generadores/assets-herrera001/brochure/00-portada-fachad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691640"/>
            <a:ext cx="5349240" cy="36118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36792" y="4937760"/>
            <a:ext cx="5212080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336792" y="493776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VISUALIZACIÓN — DESARROLLADOR ORIGINAL, SUJETA A CAMBIOS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548640" y="54406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conserva la estructura existente y la envolvente ya aprobada. Se completa mampostería, instalaciones, fachada y terminaciones — sin modificar el diseño original en el escenario Ángulo 1 ("tal cual"). Los Ángulos 2 y 3 proponen cambios de diseño que todavía no tienen un plano o render propio — ver sección 9.</a:t>
            </a:r>
            <a:endParaRPr lang="en-US" sz="1000" dirty="0"/>
          </a:p>
        </p:txBody>
      </p:sp>
      <p:pic>
        <p:nvPicPr>
          <p:cNvPr id="11" name="Image 2" descr="isotip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PROYECTO ARQUITECTÓNICO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Distribución — diseño original (Ángulo 1)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7-plano-ba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83080"/>
            <a:ext cx="59436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06440"/>
            <a:ext cx="585216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06440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PLANO DEL DESARROLLADOR — PRELIMINAR, SUJETO A CAMBIOS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6766560" y="182880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8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18120" y="18288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766560" y="260604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21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18120" y="26060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Departamentos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766560" y="338328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21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18120" y="33832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Cocheras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766560" y="420624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Amenities: salón multiuso climatizado, parrilla, piscina, solarium, parque infantil, ascensor, área de descanso.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539496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brochure comercial real del desarrollador original ("Herrera Town"), verificado contra la cuenta catastral del predio.</a:t>
            </a:r>
            <a:endParaRPr lang="en-US" sz="950" dirty="0"/>
          </a:p>
        </p:txBody>
      </p:sp>
      <p:pic>
        <p:nvPicPr>
          <p:cNvPr id="15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TIPOLOGÍAS — ÁNGULO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 tipologías, del diseño original real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926080"/>
                <a:gridCol w="283464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Área propia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1–6 (6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95,8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1–6 (6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dormitorio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54,5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1–3 (3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77,2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1–3 (3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132,3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 4 (1 unidad)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124,4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5–6 (2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unidades en total — área propia total ≈ 1.813,6 m², consistente con los 1.800 m² de área comercializable usados en el modelo financiero del Ángulo 1.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48640" y="5623560"/>
            <a:ext cx="384048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62356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PLANILLA REAL DEL DESARROLLADOR ORIGINAL</a:t>
            </a:r>
            <a:endParaRPr lang="en-US" sz="8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FICHA DE TIPOLOGÍA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Tipo A — 2 dormitorios, 77,1 m²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8-tipo-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548640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52160"/>
            <a:ext cx="539496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5216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PLANO DEL DESARROLLADOR — PRELIMINAR, SUJETO A CAMBIOS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828800"/>
          <a:ext cx="52120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Ambiente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Habitación principal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13,03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Habitación 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9,91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Baño principal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3,19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Baño 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2,76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Sala/comedor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22,16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Cocina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5,69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Balcón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0" y="4709160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Ejemplo de ficha disponible por cada una de las 6 tipologías (A-E2) a partir del mismo material real del desarrollador.</a:t>
            </a:r>
            <a:endParaRPr lang="en-US" sz="1050" dirty="0"/>
          </a:p>
        </p:txBody>
      </p:sp>
      <p:pic>
        <p:nvPicPr>
          <p:cNvPr id="9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1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Y ÁNGULO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Propuesta de rediseño de mix — sin plano confirmado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68580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3736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Estos dos escenarios reconsideran el mix de unidades del diseño original — todavía no tienen un plano arquitectónico ni un render propio. No se ilustra ninguna unidad de estas con material inventado.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880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3246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Fachada nueva + tipologías chicas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3749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pisos, 29 unidades (ilustrativo)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41605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Monoambiente (30 m²), 1 dormitorio (45 m²) y 2/3 dormitorios en proporciones más parejas — mejor perfil de retención en renta.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2651760"/>
            <a:ext cx="5394960" cy="329184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880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— recomendado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92240" y="3246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+ piso adicional (7º)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3749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pisos, 39 unidades (ilustrativo)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41605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Mismo mix de Ángulo 3, más un piso adicional ya con incentivo de altura municipal confirmado — mayor margen, costo/m² más bajo de los tres diseños.</a:t>
            </a:r>
            <a:endParaRPr lang="en-US" sz="110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REFERENCIAS DE DISEÑO — ÁNGULO 2/3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Tambone Arquitectura — estudio propuesto para el rediseño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Estudio propuesto por Meridiano para la fachada y las tipologías chicas de Ángulo 2/3 — diseñó Edificio Qubo (Senador Long, Asunción), ya revisado como referencia directa de tipología y amoblamiento. Ningún plano de estas imágenes es de Herrera todavía.</a:t>
            </a:r>
            <a:endParaRPr lang="en-US" sz="1150" dirty="0"/>
          </a:p>
        </p:txBody>
      </p:sp>
      <p:pic>
        <p:nvPicPr>
          <p:cNvPr id="5" name="Image 0" descr="C:\Users\Usuario\OneDrive\Documentos\Meridiano-Capital\production\generadores/assets-herrera001/qubo-referencia/00-fachada-sugerida-tambone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331720"/>
            <a:ext cx="352044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179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SUGERENCIA DE FACHADA — TAMBONE ARQUITECTURA</a:t>
            </a:r>
            <a:endParaRPr lang="en-US" sz="850" dirty="0"/>
          </a:p>
        </p:txBody>
      </p:sp>
      <p:pic>
        <p:nvPicPr>
          <p:cNvPr id="8" name="Image 1" descr="C:\Users\Usuario\OneDrive\Documentos\Meridiano-Capital\production\generadores/assets-herrera001/qubo-referencia/18-tipologia-1-amoblada-qub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2331720"/>
            <a:ext cx="3520440" cy="32461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32511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32511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 DE TIPOLOGÍA — EDIFICIO QUBO, NO ES HERRERA</a:t>
            </a:r>
            <a:endParaRPr lang="en-US" sz="850" dirty="0"/>
          </a:p>
        </p:txBody>
      </p:sp>
      <p:pic>
        <p:nvPicPr>
          <p:cNvPr id="11" name="Image 2" descr="C:\Users\Usuario\OneDrive\Documentos\Meridiano-Capital\production\generadores/assets-herrera001/qubo-referencia/26-tipologia-3-amoblada-qubo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55280" y="2331720"/>
            <a:ext cx="3520440" cy="32461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02843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02843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 DE AMOBLAMIENTO — EDIFICIO QUBO, NO ES HERRERA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Edificio Qubo — Villa Morra, 1 dormitorio 42 m² desde USD 68.080 (~USD 1.621/m², Coldwell Banker Paraguay, 2026-08-18). Formato "Aparta Office" con coworking; no es un comparable de precio directo para Herrera, ver `42-market-comparables.md` §1.1.</a:t>
            </a:r>
            <a:endParaRPr lang="en-US" sz="950" dirty="0"/>
          </a:p>
        </p:txBody>
      </p:sp>
      <p:pic>
        <p:nvPicPr>
          <p:cNvPr id="15" name="Image 3" descr="isoti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1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MATRIZ DE UNIDADES — ÁNGULO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MATRIZ DE PRECIO POR UNIDAD — precio por tipología, +1%/piso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828800"/>
                <a:gridCol w="2103120"/>
                <a:gridCol w="42976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Unidades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Área propia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venta (rango)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146.490 – 165.958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95,8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182.020 – 206.210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54,5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103.550 – 113.960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77,2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146.680 – 161.425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132,3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 4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258.911 – 279.351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124,4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5-6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245.814 – 267.771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rango de cada tipología ya incorpora el escalado de +1% por piso sobre la base USD 1.900–2.050/m² — el precio exacto depende del piso, ver `41-...md` para el detalle unidad por unidad. + cochera: USD 15.000 por unidad, sin escalar.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48640" y="5303520"/>
            <a:ext cx="11064240" cy="82296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3492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Nota de consistencia (§41), actualizada: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 el escalado de +1%/piso confirmado por el founder, el extremo bajo de esta matriz (sin cochera) casi coincide con el memorándum (±1,0%, antes ±3,4%); el extremo alto (con cochera) también mejora (±2,2%, antes ±4,4%) — pero ninguna combinación cierra ambos extremos a la vez. Detalle completo y brecha sin resolver en `41-unit-price-matrix.md` §3.</a:t>
            </a:r>
            <a:endParaRPr lang="en-US" sz="90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JUSTIFICACIÓN DEL PRECIO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Precio del proyecto vs. mercado comparable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743200"/>
                <a:gridCol w="3200400"/>
                <a:gridCol w="18288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proyecto USD/m²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Mercado (comparables reales)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Posición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Monoambiente/1 dorm chico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1.576 – 1.809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SOBRE MERCADO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1.580 – 1.851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SOBRE MERCADO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1.850 – 2.212 (Filum)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 MERCADO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70332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precio objetivo está por encima del rango de mercado y en línea con Filum Herrera (comparable directo del mismo barrio, mejores terminaciones). AMC parametrizado (2026-08-18, 9 comparables reales del propio barrio): promedio ajustado ~USD 1.509/m² para 2 dormitorios — confirma el hallazgo con muestra 4,5x mayor. La diferenciación de producto (calidad USD 720/m² vs. 650/m² del rango bajo) fue evaluada cuantitativamente y sostiene el precio premium — ver sección 19.</a:t>
            </a:r>
            <a:endParaRPr lang="en-US" sz="11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COMPARABLES DE MERCADO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2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11 comparables reales — 9 dentro del propio Barrio Herrera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  <a:gridCol w="2743200"/>
                <a:gridCol w="1828800"/>
                <a:gridCol w="1645920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Proyecto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Zona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USD/m²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Inarco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44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69.800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1.586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Filum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38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70.300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1.850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Invicta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 (Concejal Vargas)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44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80.000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1.818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Invicta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dorm, 72,5 m² (c/cochera)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113.700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1.569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Pampidos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dorm, 86 m² (terminado, c/cochera)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128.000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1.488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Forvm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 (Concejal Vargas)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dorm, 172,8 m² propia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229.800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1.330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Sunset Santa Teresa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45,2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73.689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1.631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Ayre Santa Teresa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Mono, 35,6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64.404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1.809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Marina 11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dorm, 72,8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115.000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1.580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Livit Santa Teresa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43,8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79.200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1.807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Ventura 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49,5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83.062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1.677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48640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listados públicos de Century 21 y RE/MAX, relevados 2026-08-17/18 (categoría A — dato real con fuente citable). Filum Herrera: flyer comercial de Century 21 Liberty. AMC completo y ajuste por tipología: Data Room.</a:t>
            </a:r>
            <a:endParaRPr lang="en-US" sz="90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PANORAMA DE MERCADO — HERRERA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y alquiler, lado a lado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1.576 – 1.809/m²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rango de 7 comparables reales (Century 21)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1.850 – 2.025/m²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Filum Herrera, comparable directo del barrio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1.900 – 2.050/m²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objetivo del proyecto (calidad diferenciada)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ALQUILER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Monoambiente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más sólido — supera su piso de renta en todas las combinaciones probadas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dormitorio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sólido en tradicional/amoblado básico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2-3 dormitorios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necesitan amoblado o zona premium para superar el piso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knowledge-base/investment/market-intelligence/ (D-066, D-073) — datos reales relevados de Century 21, RE/MAX y portales, categoría A/C según el registro.</a:t>
            </a:r>
            <a:endParaRPr lang="en-US" sz="950" dirty="0"/>
          </a:p>
        </p:txBody>
      </p:sp>
      <p:pic>
        <p:nvPicPr>
          <p:cNvPr id="11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UBICACIÓN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UBICACIÓN Y MAPA DE MERCADO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4-ubicacion-map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731520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06440"/>
            <a:ext cx="365760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0644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MAPA REAL DEL DESARROLLADOR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138160" y="1920240"/>
            <a:ext cx="35204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Esquina Concejal Vargas y 4 de Julio, Barrio Herrera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500 m de Av. Mariscal López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Cercano a Superseis, Biggie, Shopping Mariscal, Paseo La Galería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pocas cuadras de la Municipalidad de Asunción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Lindante con Barrio Villa Morra y San Cristóbal</a:t>
            </a:r>
            <a:endParaRPr lang="en-US" sz="1150" dirty="0"/>
          </a:p>
        </p:txBody>
      </p:sp>
      <p:pic>
        <p:nvPicPr>
          <p:cNvPr id="8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FORMA DE PAGO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se puede comprar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116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Norma estándar Meridiano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20% anticipo (firma boleto)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337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 cuotas mensuales decrecientes durante obra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40233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contra la entrega física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82880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0116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Variante de plazo corto (este proyecto)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651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 anticipo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92240" y="3337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50% cuotas durante obra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92240" y="40233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contra la entrega física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525780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se financia directamente contra la escritura — el 10% final se cobra contra la entrega física del departamento, ~6-8 meses antes de la escritura. Ambos esquemas conviven; la variante de plazo corto ayuda a cerrar el déficit de timing de este proyecto específico (12 meses de obra).</a:t>
            </a:r>
            <a:endParaRPr lang="en-US" sz="1100" dirty="0"/>
          </a:p>
        </p:txBody>
      </p:sp>
      <p:pic>
        <p:nvPicPr>
          <p:cNvPr id="1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FINANCIACIÓN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Del comprador vs. estructura de inversión de Meridiano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394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383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Comparable real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Condición de financiamiento observada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Sunset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Hasta 24 meses sin interés, escalones 30/50/90%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Ayre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Planes 20-80, 20-50-30, 30-50-20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Livit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20% + cuotas de USD 500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Matrisa Lillo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27 meses sin interés + financiación post-obra hasta 5 años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Ventura Ycuá Satí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Hasta 36 meses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263640" y="1783080"/>
            <a:ext cx="5394960" cy="393192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6" name="Text 3"/>
          <p:cNvSpPr/>
          <p:nvPr/>
        </p:nvSpPr>
        <p:spPr>
          <a:xfrm>
            <a:off x="6537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DE INVERSIÓN — MERIDIANO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537960" y="246888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Vehículo: Sociedad Anónima, 2-3 socios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fondos propios — sin deuda bancaria, sin fideicomiso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Capital propio cubre el 74-76% de la Inversión Total según escenario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Déficit de timing de caja identificado y resuelto (mes 9→11)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ESTRATEGIA Y RETORNO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1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Capital → Obra → Producto terminado → Venta → Ganancia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474720" cy="3749040"/>
          </a:xfrm>
          <a:prstGeom prst="rect">
            <a:avLst/>
          </a:prstGeom>
          <a:solidFill>
            <a:srgbClr val="1B3D45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uds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2.745.598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436.259 – 1.051.008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2296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15,9% – 38,3%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251960" y="2103120"/>
            <a:ext cx="3474720" cy="3749040"/>
          </a:xfrm>
          <a:prstGeom prst="rect">
            <a:avLst/>
          </a:prstGeom>
          <a:solidFill>
            <a:srgbClr val="1B3D45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2628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 uds (ilustr.)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2628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2628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2.930.823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2628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2628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489.990 – 751.518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2628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2628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16,7% – 25,6%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7955280" y="2103120"/>
            <a:ext cx="3474720" cy="3749040"/>
          </a:xfrm>
          <a:prstGeom prst="rect">
            <a:avLst/>
          </a:prstGeom>
          <a:solidFill>
            <a:srgbClr val="0D2226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★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2960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 uds (ilustr.)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22960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3.185.640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2960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2960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784.541 – 1.091.147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2960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24,6% – 34,3%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★ Ángulo 2 recomendado — mayor margen, mejor ROI en el extremo conservador, y el costo/m² más bajo de los tres.</a:t>
            </a:r>
            <a:endParaRPr lang="en-US" sz="1000" dirty="0"/>
          </a:p>
        </p:txBody>
      </p:sp>
      <p:pic>
        <p:nvPicPr>
          <p:cNvPr id="3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POTENCIAL DE ALQUILER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También un producto de renta, no solo de venta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 perpetua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15,0%/año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vende solo lo necesario para financiar la obra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51960" y="192024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agresiva (100%)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24,3%/año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2628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liquida la totalidad apenas disponible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55280" y="1920240"/>
            <a:ext cx="3474720" cy="356616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 2 años + reventa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33,4%/año — ESTIMATED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2960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más alto, con más riesgo de mercado (plusvalía 20%/año no es una tasación de tercero)</a:t>
            </a:r>
            <a:endParaRPr lang="en-US" sz="105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SENSIBILIDAD Y PRECIO DE ENTRADA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cambia el margen — y hasta cuánto conviene pagar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rango de precio de venta (USD 1.900-2.050/m²) es la variable de sensibilidad principal — los tres Ángulos dan margen positivo en todo ese rango, incluido el extremo bajo.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11064240" cy="914400"/>
        </p:xfrm>
        <a:graphic>
          <a:graphicData uri="http://schemas.openxmlformats.org/drawingml/2006/table">
            <a:tbl>
              <a:tblPr/>
              <a:tblGrid>
                <a:gridCol w="5943600"/>
                <a:gridCol w="51206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solicitado por el vendedor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pagado / a pagar (validado)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máximo económicamente justificable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 cuantificado en este documento — PENDING, ver Data Room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297680"/>
            <a:ext cx="11064240" cy="137160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43484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Variables de sensibilidad pendientes de cuantificar (PROJECTION, no ESTIMATED):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costo de refuerzo estructural del Ángulo 2 si la opinión estructural lo exige — la única variable de sensibilidad real que sigue abierta.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RIESGOS CLAVE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Lo que todo inversor debe saber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832104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Categoría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Detalle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Estructural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🔴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Opinión profesional pendiente sobre si la estructura soporta el piso adicional del Ángulo 2, sin refuerzo mayor.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Terreno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🟢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Resuelto — el AMC sugería un terreno vacío de ~USD 380/m² (~2x menos que el implícito, ~768/m²); el founder explicó la diferencia como valor de casa preexistente + demolición (regla D-071 ya vigente).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Mercado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🟡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La plusvalía de zona a 2 años (20%/año) es un dato del founder, no una tasación de tercero.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Ejecución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🟡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El mix de unidades chicas de Ángulo 2/3 es ilustrativo — falta un arquitecto que confirme que entra en la envolvente aprobada.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Construcción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🟢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Obra parcialmente construida (73,5%) reduce el riesgo frente a un terreno vacío.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Financiero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🟢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Márgenes positivos en los 3 diseños, en todo el rango de precio, con IVA del desarrollador ya descontado.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DILIGENCE Y TESIS DE INVERSIÓN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Qué está confirmado, y por qué conviene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1206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Ítem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Identidad del vendedor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Título, gravámenes y embargos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Base del IVA del desarrollador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Política de precios vs. comparables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Opinión estructural (piso adicional)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CRÍTICO ANTES DE INVERTIR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26364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ya construida al 73,5% — menos riesgo y tiempo que empezar de cero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de entrada validado contra múltiples referencias independientes de mercado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positivo en los 3 diseños, en todo el rango de precio analizado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Demanda y plusvalía reales de la zona, confirmadas con datos de mercado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Déficit de caja detectado con solución concreta ya modelada</a:t>
            </a:r>
            <a:endParaRPr lang="en-US" sz="11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8B3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56692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48640" y="210312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Sumate al desarrollo del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Barrio Herrera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48640" y="4206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Juan José Castillo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548640" y="4663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Operador Técnico y Legal de Inversiones Inmobiliarias · Asunción, Paraguay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+595 982 853 111     ·     juancastillo@meridianocapital.net     ·     www.meridianocapital.net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58064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preliminar y no vinculante. Contiene visualizaciones y planos preliminares del desarrollador original, sujetos a cambios, e información ilustrativa para los diseños Ángulo 2/3. Sujeto a la opinión estructural pendiente y a los términos finales del boleto de compraventa. Ver el apéndice Data Room (contracts/cases/HERRERA-001/) para el detalle completo y las fuentes.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2026-08-18T21:08:30Z</dcterms:created>
  <dcterms:modified xsi:type="dcterms:W3CDTF">2026-08-18T21:08:30Z</dcterms:modified>
</cp:coreProperties>
</file>