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194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OPORTUNIDAD DE INVERSIÓN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Barrio Herrera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94360" y="4480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Adquisición y terminación de un edificio residencial al 73,5% de avance, en una de las zonas de mayor demanda de Asunción.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para inversores calificados — no constituye una oferta vinculante.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 qué Barrio Herrera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469 m²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 — esquina Concejal Vargas y 4 de Julio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&gt;20%/año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2044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real de la zona, confirmada por Meridiano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30936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estructura ya construida — menos riesgo, menos tiempo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9828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de obra para terminar el edificio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Barrio Herrera es una zona residencial consolidada, cercana a los principales centros comerciales de Asunción sin estar en medio del tránsito — con demanda real y confirmada para departamentos amoblados de todas las tipologías.</a:t>
            </a:r>
            <a:endParaRPr lang="en-US" sz="14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ACTIVO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edificio con la estructura ya de pie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un edificio parcialmente construido, en vez de un terreno vacío, elimina buena parte del riesgo y el tiempo de una obra desde cero — sin pagar de más por eso.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edificio hoy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73,5% de la estructura de hormigón ya construida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Zonificación AR2-B — permiso municipal confirmado para un piso adicional (de 6 a 7 plantas)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 y titularidad del vendedor verificados y en orden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comparable directo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 (Century 21), mismo barrio, entrega dic. 2026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38m² = USD 70.300 (USD 1.850/m²)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dormitorios 77m² = USD 142.500 (USD 1.851/m²)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 que la zona sostiene el rango de precio del proyecto</a:t>
            </a:r>
            <a:endParaRPr lang="en-US" sz="12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Tres formas de terminar el edificio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 cual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Terminar el edificio exactamente como está diseñado hoy — 21 unidades. Menor riesgo de ejecución.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+ tipologías chicas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Nueva fachada y un mix más parejo de unidades más pequeñas — 29 unidades, mismo edificio.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01168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2960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Suma un 7º piso, ya con permiso municipal — 39 unidades. El mayor margen y el costo por m² más bajo.</a:t>
            </a:r>
            <a:endParaRPr lang="en-US" sz="12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Ángulo 2 — el escenario recomendado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4.424.700 – 4.749.150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2044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totales proyectados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784.541 – 1.091.147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final, neto de comisión e IVA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9828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sobre la Inversión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verificadas con el costo de construcción definitivo, comisión de venta e IVA del desarrollador ya descontados. Margen positivo en todo el rango de precio de venta analizado.</a:t>
            </a:r>
            <a:endParaRPr lang="en-US" sz="1200" dirty="0"/>
          </a:p>
        </p:txBody>
      </p:sp>
      <p:pic>
        <p:nvPicPr>
          <p:cNvPr id="17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todo se vende — parte se retiene y renta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 porción de las unidades se vende para financiar la obra y capturar ganancia inmediata. El resto se retiene y se alquila — con un retorno de renta más alto del que obtendría un comprador individual, porque el costo de entrada de Meridiano es más bajo.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obra; el resto se retiene y alquila de forma indefinida.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2628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del proyecto apenas está disponible para la venta.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2880360"/>
            <a:ext cx="3474720" cy="274320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2960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retiene, se alquila, y se vende después de 2 años capturando la plusvalía de zona — mayor retorno, con más riesgo de mercado.</a:t>
            </a:r>
            <a:endParaRPr lang="en-US" sz="11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LA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financia y se administra el proyecto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Vehículo y capital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Sociedad Anónima entre 2-3 socios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disponible durante toda la obra, sin depender solo de las ventas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Comercialización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venta: 5,5% del total de la venta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Financiamiento del comprador: 20% entrega + cuotas durante obra + saldo contra la entrega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Régimen tributario del desarrollador confirmado: 10% IVA + 10% impuesto a la renta</a:t>
            </a:r>
            <a:endParaRPr lang="en-US" sz="1250" dirty="0"/>
          </a:p>
        </p:txBody>
      </p:sp>
      <p:pic>
        <p:nvPicPr>
          <p:cNvPr id="1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 de obra, con ventas desde el mes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Cierre de la operación e inicio de obra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2–3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Continúa la obra — se recupera la confianza del mercado tras el parate previo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3484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Arranca la comercialización — lanzamiento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5–11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en curso, ventas durante obra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8388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Finalización de la obra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92124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 de las unidades vendidas</a:t>
            </a:r>
            <a:endParaRPr lang="en-US" sz="100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 DE RIESGO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proyecto ya está en negociación condicionada a un único punto pendiente: la opinión estructural profesional sobre si el edificio soporta el piso adicional sin refuerzo mayor.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identidad del vendedor y el título de la propiedad ya fueron verificados y están en orden.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inversión en desarrollo está sujeta a riesgos de demora de obra y variación de costos de construcción.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condiciones de mercado al momento de vender o alquilar pueden diferir de las proyectadas en este documento.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cifras de retorno presentadas son ilustrativas y no constituyen garantía de rentabilidad — se recomienda evaluar la oportunidad con asesoría propia.</a:t>
            </a:r>
            <a:endParaRPr lang="en-US" sz="1400" dirty="0"/>
          </a:p>
        </p:txBody>
      </p:sp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Sujeto a confirmación de la opinión estructural pendiente y a los términos finales del boleto de compraventa.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2026-08-17T03:00:30Z</dcterms:created>
  <dcterms:modified xsi:type="dcterms:W3CDTF">2026-08-17T03:00:30Z</dcterms:modified>
</cp:coreProperties>
</file>