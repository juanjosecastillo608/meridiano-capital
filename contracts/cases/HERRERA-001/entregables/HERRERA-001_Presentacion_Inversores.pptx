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31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sotipo_invers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548640" cy="5486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234440" y="5486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200" kern="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MERIDIANO CAPITAL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594360" y="21945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98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ASUNCIÓN, PARAGUAY · OPORTUNIDAD DE INVERSIÓN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48640" y="2606040"/>
            <a:ext cx="10058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6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Edificio</a:t>
            </a:r>
            <a:endParaRPr lang="en-US" sz="46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6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Barrio Herrera</a:t>
            </a:r>
            <a:endParaRPr lang="en-US" sz="4600" dirty="0"/>
          </a:p>
        </p:txBody>
      </p:sp>
      <p:sp>
        <p:nvSpPr>
          <p:cNvPr id="6" name="Text 3"/>
          <p:cNvSpPr/>
          <p:nvPr/>
        </p:nvSpPr>
        <p:spPr>
          <a:xfrm>
            <a:off x="594360" y="4480560"/>
            <a:ext cx="8686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C7CFD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Adquisición y terminación de un edificio residencial al 73,5% de avance, en una de las zonas de mayor demanda de Asunción.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94360" y="5486400"/>
            <a:ext cx="3108960" cy="502920"/>
          </a:xfrm>
          <a:prstGeom prst="rect">
            <a:avLst/>
          </a:prstGeom>
          <a:solidFill>
            <a:srgbClr val="0D2226"/>
          </a:solidFill>
          <a:ln w="12700">
            <a:solidFill>
              <a:srgbClr val="C9982E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94360" y="5486400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998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NEGOCIAR / CONDICIONAR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94360" y="62636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Documento preliminar para inversores calificados — no constituye una oferta vinculante.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 ZONA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9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Por qué Barrio Herrera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256032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240280"/>
            <a:ext cx="22402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469 m²</a:t>
            </a:r>
            <a:endParaRPr lang="en-US" sz="2900" dirty="0"/>
          </a:p>
        </p:txBody>
      </p:sp>
      <p:sp>
        <p:nvSpPr>
          <p:cNvPr id="6" name="Text 4"/>
          <p:cNvSpPr/>
          <p:nvPr/>
        </p:nvSpPr>
        <p:spPr>
          <a:xfrm>
            <a:off x="731520" y="3246120"/>
            <a:ext cx="22402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Terreno — esquina Concejal Vargas y 4 de Julio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337560" y="1920240"/>
            <a:ext cx="256032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20440" y="2240280"/>
            <a:ext cx="22402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&gt;20%/año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3520440" y="3246120"/>
            <a:ext cx="22402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Plusvalía real de la zona, confirmada por Meridiano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126480" y="1920240"/>
            <a:ext cx="256032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09360" y="2240280"/>
            <a:ext cx="22402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73,5%</a:t>
            </a:r>
            <a:endParaRPr lang="en-US" sz="2900" dirty="0"/>
          </a:p>
        </p:txBody>
      </p:sp>
      <p:sp>
        <p:nvSpPr>
          <p:cNvPr id="12" name="Text 10"/>
          <p:cNvSpPr/>
          <p:nvPr/>
        </p:nvSpPr>
        <p:spPr>
          <a:xfrm>
            <a:off x="6309360" y="3246120"/>
            <a:ext cx="22402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 la estructura ya construida — menos riesgo, menos tiempo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915400" y="1920240"/>
            <a:ext cx="256032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098280" y="2240280"/>
            <a:ext cx="22402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12 meses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9098280" y="3246120"/>
            <a:ext cx="22402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Plazo de obra para terminar el edificio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48640" y="49377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i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Barrio Herrera es una zona residencial consolidada, cercana a los principales centros comerciales de Asunción sin estar en medio del tránsito — con demanda real y confirmada para departamentos amoblados de todas las tipologías.</a:t>
            </a:r>
            <a:endParaRPr lang="en-US" sz="1400" dirty="0"/>
          </a:p>
        </p:txBody>
      </p:sp>
      <p:pic>
        <p:nvPicPr>
          <p:cNvPr id="17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Confidencial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EL ACTIVO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9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Un edificio con la estructura ya de pie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Comprar un edificio parcialmente construido, en vez de un terreno vacío, elimina buena parte del riesgo y el tiempo de una obra desde cero — sin pagar de más por eso.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651760"/>
            <a:ext cx="539496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88036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El edificio hoy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960120" y="3429000"/>
            <a:ext cx="45720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90500" indent="-1905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73,5% de la estructura de hormigón ya construida</a:t>
            </a:r>
            <a:endParaRPr lang="en-US" sz="1250" dirty="0"/>
          </a:p>
          <a:p>
            <a:pPr marL="190500" indent="-1905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Zonificación AR2-B — permiso municipal confirmado para un piso adicional (de 6 a 7 plantas)</a:t>
            </a:r>
            <a:endParaRPr lang="en-US" sz="1250" dirty="0"/>
          </a:p>
          <a:p>
            <a:pPr marL="190500" indent="-1905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Título y titularidad del vendedor verificados y en orden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172200" y="2651760"/>
            <a:ext cx="539496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37960" y="288036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El comparable directo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6583680" y="3429000"/>
            <a:ext cx="45720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90500" indent="-1905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Filum Herrera (Century 21), mismo barrio, entrega dic. 2026</a:t>
            </a:r>
            <a:endParaRPr lang="en-US" sz="1250" dirty="0"/>
          </a:p>
          <a:p>
            <a:pPr marL="190500" indent="-1905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dormitorio 38m² = USD 70.300 (USD 1.850/m²)</a:t>
            </a:r>
            <a:endParaRPr lang="en-US" sz="1250" dirty="0"/>
          </a:p>
          <a:p>
            <a:pPr marL="190500" indent="-1905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dormitorios 77m² = USD 142.500 (USD 1.851/m²)</a:t>
            </a:r>
            <a:endParaRPr lang="en-US" sz="1250" dirty="0"/>
          </a:p>
          <a:p>
            <a:pPr marL="190500" indent="-1905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Confirma que la zona sostiene el rango de precio del proyecto</a:t>
            </a:r>
            <a:endParaRPr lang="en-US" sz="1250" dirty="0"/>
          </a:p>
        </p:txBody>
      </p:sp>
      <p:pic>
        <p:nvPicPr>
          <p:cNvPr id="11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Confidencial</a:t>
            </a:r>
            <a:endParaRPr lang="en-US" sz="800" dirty="0"/>
          </a:p>
        </p:txBody>
      </p:sp>
      <p:sp>
        <p:nvSpPr>
          <p:cNvPr id="13" name="Text 10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 OPORTUNIDAD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9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Tres formas de terminar el edificio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347472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24028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Ángulo 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269748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Tal cual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822960" y="3337560"/>
            <a:ext cx="29718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Terminar el edificio exactamente como está diseñado hoy — 21 unidades. Menor riesgo de ejecución.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251960" y="2011680"/>
            <a:ext cx="347472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26280" y="224028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Ángulo 3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26280" y="269748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Fachada + tipologías chicas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4526280" y="3337560"/>
            <a:ext cx="29718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Nueva fachada y un mix más parejo de unidades más pequeñas — 29 unidades, mismo edificio.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955280" y="2011680"/>
            <a:ext cx="3474720" cy="3566160"/>
          </a:xfrm>
          <a:prstGeom prst="rect">
            <a:avLst/>
          </a:prstGeom>
          <a:solidFill>
            <a:srgbClr val="14313A"/>
          </a:solidFill>
          <a:ln w="25400">
            <a:solidFill>
              <a:srgbClr val="C9982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24028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998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Ángulo 2 — Recomendado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229600" y="269748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+ Piso adicional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8229600" y="3337560"/>
            <a:ext cx="29718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7CFD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Suma un 7º piso, ya con permiso municipal — 39 unidades. El mayor margen y el costo por m² más bajo.</a:t>
            </a:r>
            <a:endParaRPr lang="en-US" sz="1200" dirty="0"/>
          </a:p>
        </p:txBody>
      </p:sp>
      <p:pic>
        <p:nvPicPr>
          <p:cNvPr id="16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Confidencial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31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98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LOS NÚMEROS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9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Ángulo 2 — el escenario recomendado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60320" cy="3108960"/>
          </a:xfrm>
          <a:prstGeom prst="rect">
            <a:avLst/>
          </a:prstGeom>
          <a:solidFill>
            <a:srgbClr val="0D2226"/>
          </a:solidFill>
          <a:ln w="12700">
            <a:solidFill>
              <a:srgbClr val="2A4A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286000"/>
            <a:ext cx="22402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2400" dirty="0">
                <a:solidFill>
                  <a:srgbClr val="C9982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USD 3.185.640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3977640"/>
            <a:ext cx="2240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C7CFD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Inversión Total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337560" y="2011680"/>
            <a:ext cx="2560320" cy="3108960"/>
          </a:xfrm>
          <a:prstGeom prst="rect">
            <a:avLst/>
          </a:prstGeom>
          <a:solidFill>
            <a:srgbClr val="0D2226"/>
          </a:solidFill>
          <a:ln w="12700">
            <a:solidFill>
              <a:srgbClr val="2A4A5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20440" y="2286000"/>
            <a:ext cx="22402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600" dirty="0">
                <a:solidFill>
                  <a:srgbClr val="C9982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USD 4.424.700 – 4.749.150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520440" y="3977640"/>
            <a:ext cx="2240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C7CFD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Ingresos totales proyectados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126480" y="2011680"/>
            <a:ext cx="2560320" cy="3108960"/>
          </a:xfrm>
          <a:prstGeom prst="rect">
            <a:avLst/>
          </a:prstGeom>
          <a:solidFill>
            <a:srgbClr val="0D2226"/>
          </a:solidFill>
          <a:ln w="12700">
            <a:solidFill>
              <a:srgbClr val="2A4A5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09360" y="2286000"/>
            <a:ext cx="22402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600" dirty="0">
                <a:solidFill>
                  <a:srgbClr val="C9982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USD 784.541 – 1.091.147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309360" y="3977640"/>
            <a:ext cx="2240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C7CFD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Margen final, neto de comisión e IVA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915400" y="2011680"/>
            <a:ext cx="2560320" cy="3108960"/>
          </a:xfrm>
          <a:prstGeom prst="rect">
            <a:avLst/>
          </a:prstGeom>
          <a:solidFill>
            <a:srgbClr val="0D2226"/>
          </a:solidFill>
          <a:ln w="12700">
            <a:solidFill>
              <a:srgbClr val="2A4A5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098280" y="2286000"/>
            <a:ext cx="22402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2400" dirty="0">
                <a:solidFill>
                  <a:srgbClr val="C9982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24,6% – 34,3%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9098280" y="3977640"/>
            <a:ext cx="2240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C7CFD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ROI sobre la Inversión Total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48640" y="55321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i="1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Cifras verificadas con el costo de construcción definitivo, comisión de venta e IVA del desarrollador ya descontados. Margen positivo en todo el rango de precio de venta analizado.</a:t>
            </a:r>
            <a:endParaRPr lang="en-US" sz="1200" dirty="0"/>
          </a:p>
        </p:txBody>
      </p:sp>
      <p:pic>
        <p:nvPicPr>
          <p:cNvPr id="17" name="Image 0" descr="isotipo_invers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Confidencial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ESTRATEGIA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9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No todo se vende — parte se retiene y renta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Una porción de las unidades se vende para financiar la obra y capturar ganancia inmediata. El resto se retiene y se alquila — con un retorno de renta más alto del que obtendría un comprador individual, porque el costo de entrada de Meridiano es más bajo.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880360"/>
            <a:ext cx="347472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3108960"/>
            <a:ext cx="2926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5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Venta mínima + retención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374904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15,0%/año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822960" y="4343400"/>
            <a:ext cx="2971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 vende solo lo necesario para financiar la obra; el resto se retiene y alquila de forma indefinida.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251960" y="2880360"/>
            <a:ext cx="347472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26280" y="3108960"/>
            <a:ext cx="2926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5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Venta agresiva (100%)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26280" y="374904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24,3%/año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4526280" y="4343400"/>
            <a:ext cx="2971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 liquida la totalidad del proyecto apenas está disponible para la venta.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955280" y="2880360"/>
            <a:ext cx="3474720" cy="2743200"/>
          </a:xfrm>
          <a:prstGeom prst="rect">
            <a:avLst/>
          </a:prstGeom>
          <a:solidFill>
            <a:srgbClr val="14313A"/>
          </a:solidFill>
          <a:ln w="25400">
            <a:solidFill>
              <a:srgbClr val="C9982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3108960"/>
            <a:ext cx="2926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5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Venta mínima + retención 2 años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0" y="374904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9982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33,4%/año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8229600" y="4343400"/>
            <a:ext cx="2971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C7CFD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 retiene, se alquila, y se vende después de 2 años capturando la plusvalía de zona — mayor retorno, con más riesgo de mercado.</a:t>
            </a:r>
            <a:endParaRPr lang="en-US" sz="1100" dirty="0"/>
          </a:p>
        </p:txBody>
      </p:sp>
      <p:pic>
        <p:nvPicPr>
          <p:cNvPr id="17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Confidencial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ESTRUCTURA DE LA INVERSIÓN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9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Cómo se financia y se administra el proyecto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539496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24028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Vehículo y capital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960120" y="2788920"/>
            <a:ext cx="45720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90500" indent="-1905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Sociedad Anónima entre 2-3 socios</a:t>
            </a:r>
            <a:endParaRPr lang="en-US" sz="1250" dirty="0"/>
          </a:p>
          <a:p>
            <a:pPr marL="190500" indent="-1905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100% fondos propios — sin deuda bancaria, sin fideicomiso</a:t>
            </a:r>
            <a:endParaRPr lang="en-US" sz="1250" dirty="0"/>
          </a:p>
          <a:p>
            <a:pPr marL="190500" indent="-1905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Capital propio disponible durante toda la obra, sin depender solo de las ventas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172200" y="2011680"/>
            <a:ext cx="539496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37960" y="224028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Comercialización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583680" y="2788920"/>
            <a:ext cx="45720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90500" indent="-1905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Comisión de venta: 5,5% del total de la venta</a:t>
            </a:r>
            <a:endParaRPr lang="en-US" sz="1250" dirty="0"/>
          </a:p>
          <a:p>
            <a:pPr marL="190500" indent="-1905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Financiamiento del comprador: 20% entrega + cuotas durante obra + saldo contra la entrega</a:t>
            </a:r>
            <a:endParaRPr lang="en-US" sz="1250" dirty="0"/>
          </a:p>
          <a:p>
            <a:pPr marL="190500" indent="-1905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Régimen tributario del desarrollador confirmado: 10% IVA + 10% impuesto a la renta</a:t>
            </a:r>
            <a:endParaRPr lang="en-US" sz="1250" dirty="0"/>
          </a:p>
        </p:txBody>
      </p:sp>
      <p:pic>
        <p:nvPicPr>
          <p:cNvPr id="10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Confidencial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CRONOGRAMA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9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12 meses de obra, con ventas desde el mes 4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2377440"/>
            <a:ext cx="169164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2560320"/>
            <a:ext cx="1417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Mes 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3063240"/>
            <a:ext cx="14630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Cierre de la operación e inicio de obra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423160" y="2377440"/>
            <a:ext cx="169164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560320" y="2560320"/>
            <a:ext cx="1417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Meses 2–3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2560320" y="3063240"/>
            <a:ext cx="14630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Continúa la obra — se recupera la confianza del mercado tras el parate previo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297680" y="2377440"/>
            <a:ext cx="1691640" cy="2834640"/>
          </a:xfrm>
          <a:prstGeom prst="rect">
            <a:avLst/>
          </a:prstGeom>
          <a:solidFill>
            <a:srgbClr val="14313A"/>
          </a:solidFill>
          <a:ln w="12700">
            <a:solidFill>
              <a:srgbClr val="C9982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34840" y="2560320"/>
            <a:ext cx="1417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982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Mes 4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434840" y="3063240"/>
            <a:ext cx="14630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C7CFD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Arranca la comercialización — lanzamiento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172200" y="2377440"/>
            <a:ext cx="169164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09360" y="2560320"/>
            <a:ext cx="1417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Meses 5–11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309360" y="3063240"/>
            <a:ext cx="14630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Obra en curso, ventas durante obra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046720" y="2377440"/>
            <a:ext cx="169164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183880" y="2560320"/>
            <a:ext cx="1417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Mes 12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183880" y="3063240"/>
            <a:ext cx="14630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Finalización de la obra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921240" y="2377440"/>
            <a:ext cx="1691640" cy="2834640"/>
          </a:xfrm>
          <a:prstGeom prst="rect">
            <a:avLst/>
          </a:prstGeom>
          <a:solidFill>
            <a:srgbClr val="14313A"/>
          </a:solidFill>
          <a:ln w="12700">
            <a:solidFill>
              <a:srgbClr val="C9982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058400" y="2560320"/>
            <a:ext cx="1417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982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Mes 13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0058400" y="3063240"/>
            <a:ext cx="14630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C7CFD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Entrega de las unidades vendidas</a:t>
            </a:r>
            <a:endParaRPr lang="en-US" sz="1000" dirty="0"/>
          </a:p>
        </p:txBody>
      </p:sp>
      <p:pic>
        <p:nvPicPr>
          <p:cNvPr id="22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Confidencial</a:t>
            </a:r>
            <a:endParaRPr lang="en-US" sz="800" dirty="0"/>
          </a:p>
        </p:txBody>
      </p:sp>
      <p:sp>
        <p:nvSpPr>
          <p:cNvPr id="24" name="Text 21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CONSIDERACIONES DE RIESGO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9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Lo que todo inversor debe saber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1088136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28600" indent="-228600">
              <a:lnSpc>
                <a:spcPts val="2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El proyecto ya está en negociación condicionada a un único punto pendiente: la opinión estructural profesional sobre si el edificio soporta el piso adicional sin refuerzo mayor.</a:t>
            </a:r>
            <a:endParaRPr lang="en-US" sz="1400" dirty="0"/>
          </a:p>
          <a:p>
            <a:pPr marL="228600" indent="-228600">
              <a:lnSpc>
                <a:spcPts val="2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 identidad del vendedor y el título de la propiedad ya fueron verificados y están en orden.</a:t>
            </a:r>
            <a:endParaRPr lang="en-US" sz="1400" dirty="0"/>
          </a:p>
          <a:p>
            <a:pPr marL="228600" indent="-228600">
              <a:lnSpc>
                <a:spcPts val="2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 análisis de mercado de terreno (AMC de un tercero) sugería un valor de terreno vacío menor al asignado dentro del precio de compra — la diferencia se explica por el valor de una construcción preexistente en el lote más su demolición (no hay lotes vacíos en la zona); no cambia el precio total ni el margen del proyecto.</a:t>
            </a:r>
            <a:endParaRPr lang="en-US" sz="1400" dirty="0"/>
          </a:p>
          <a:p>
            <a:pPr marL="228600" indent="-228600">
              <a:lnSpc>
                <a:spcPts val="2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Toda inversión en desarrollo está sujeta a riesgos de demora de obra y variación de costos de construcción.</a:t>
            </a:r>
            <a:endParaRPr lang="en-US" sz="1400" dirty="0"/>
          </a:p>
          <a:p>
            <a:pPr marL="228600" indent="-228600">
              <a:lnSpc>
                <a:spcPts val="2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Las condiciones de mercado al momento de vender o alquilar pueden diferir de las proyectadas en este documento.</a:t>
            </a:r>
            <a:endParaRPr lang="en-US" sz="1400" dirty="0"/>
          </a:p>
          <a:p>
            <a:pPr marL="228600" indent="-228600">
              <a:lnSpc>
                <a:spcPts val="2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Las cifras de retorno presentadas son ilustrativas y no constituyen garantía de rentabilidad — se recomienda evaluar la oportunidad con asesoría propia.</a:t>
            </a:r>
            <a:endParaRPr lang="en-US" sz="1400" dirty="0"/>
          </a:p>
        </p:txBody>
      </p:sp>
      <p:pic>
        <p:nvPicPr>
          <p:cNvPr id="5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Confidencial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8B3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sotipo_invers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502920" cy="5029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566928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spc="200" kern="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MERIDIANO CAPITAL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48640" y="2103120"/>
            <a:ext cx="100584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38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Sumate al desarrollo del</a:t>
            </a:r>
            <a:endParaRPr lang="en-US" sz="38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38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Edificio Barrio Herrera</a:t>
            </a:r>
            <a:endParaRPr lang="en-US" sz="3800" dirty="0"/>
          </a:p>
        </p:txBody>
      </p:sp>
      <p:sp>
        <p:nvSpPr>
          <p:cNvPr id="5" name="Text 2"/>
          <p:cNvSpPr/>
          <p:nvPr/>
        </p:nvSpPr>
        <p:spPr>
          <a:xfrm>
            <a:off x="548640" y="42976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Juan José Castillo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54864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DDD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Operador Técnico y Legal de Inversiones Inmobiliarias · Asunción, Paraguay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48640" y="52578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3ED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+595 982 853 111     ·     juancastillo@meridianocapital.net     ·     www.meridianocapital.net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61264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F0DDD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Documento preliminar y no vinculante. Sujeto a confirmación de la opinión estructural pendiente y a los términos finales del boleto de compraventa.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2026-08-18T21:08:34Z</dcterms:created>
  <dcterms:modified xsi:type="dcterms:W3CDTF">2026-08-18T21:08:34Z</dcterms:modified>
</cp:coreProperties>
</file>