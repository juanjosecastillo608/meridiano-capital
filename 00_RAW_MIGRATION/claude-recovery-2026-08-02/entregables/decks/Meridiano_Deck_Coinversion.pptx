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C998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EDE3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98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66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8A9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Capital</c:v>
                  </c:pt>
                  <c:pt idx="1">
                    <c:v>Retorno preferente</c:v>
                  </c:pt>
                  <c:pt idx="2">
                    <c:v>Parte del remanente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500000</c:v>
                </c:pt>
                <c:pt idx="1">
                  <c:v>80000</c:v>
                </c:pt>
                <c:pt idx="2">
                  <c:v>56000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EDE3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3EDE3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MERIDIANO CAPITAL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436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ASUNCIÓN, PARAGUAY ·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Coinversión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Inmobiliaria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94360" y="4572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Participá, junto a otros inversores, en el desarrollo de proyectos inmobiliarios en Asunción, con estructuración profesional y retorno alineado.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para inversores calificados — no constituye una oferta vinculante.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MERCADO EN CONSOLIDACIÓN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Paraguay 2026: el contexto que sostiene la oportunidad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Grado de Inversión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Otorgado por Moody's al riesgo soberano paraguayo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~4,4%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52044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Crecimiento económico anual proyectado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~80.000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30936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Radicaciones de extranjeros proyectadas para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92024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2402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 países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9098280" y="32461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Orígenes principales: Brasil, Argentina, Alemania y España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este contexto, la calidad constructiva y la estructuración legal-financiera de cada proyecto son determinantes. La coinversión permite acceder a desarrollos que, individualmente, quedarían fuera de alcance.</a:t>
            </a:r>
            <a:endParaRPr lang="en-US" sz="1400" dirty="0"/>
          </a:p>
        </p:txBody>
      </p:sp>
      <p:pic>
        <p:nvPicPr>
          <p:cNvPr id="1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CONCEPTO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Qué es la coinversión inmobiliaria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Varios inversores aportan capital a un vehículo común para desarrollar un proyecto inmobiliario que, por su escala, ninguno emprendería en soledad. Meridiano origina el proyecto, estructura el vehículo y gestiona la obra y la comercialización. Cada inversor participa del retorno según su aporte.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Acceso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Entrás a proyectos de mayor escala y potencial que una compra individual.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320040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 profesional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40233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estructura, construye y comercializa, con 16 años de trayectoria técnica.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3200400"/>
            <a:ext cx="34747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32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Interés alineado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40233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cobra su carry solo si vos ya recuperaste tu capital más el retorno preferente.</a:t>
            </a:r>
            <a:endParaRPr lang="en-US" sz="1250" dirty="0"/>
          </a:p>
        </p:txBody>
      </p:sp>
      <p:pic>
        <p:nvPicPr>
          <p:cNvPr id="14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PROCESO DE COINVERSIÓN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la originación a la distribución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Originación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identifica y evalúa el proyecto de desarrollo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78608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9776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008376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Estructuración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08376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constituye el vehículo (S.A. o Fideicomiso) y sus reglas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9744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10912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239512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Ronda de capital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9512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inversores aportan y se cierra el capital comprometido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42048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70648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70648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obra y comercialización durante la construcción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72016" y="32918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73184" y="2468880"/>
            <a:ext cx="20482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01784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701784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Distribución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01784" y="402336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Salida y reparto según el waterfall acordado</a:t>
            </a:r>
            <a:endParaRPr lang="en-US" sz="1000" dirty="0"/>
          </a:p>
        </p:txBody>
      </p:sp>
      <p:pic>
        <p:nvPicPr>
          <p:cNvPr id="28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VEHÍCULO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Sociedad Anónima o Fideicomiso, según la escala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Sociedad Anónima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 jurídica propia, con accionistas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Directorio flexible — control activo del gestor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Costo y tiempo de constitución moderados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Familiar para el inversor extranjero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Recomendado para menor escala o grupos acotados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Fideicomiso de Administración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Patrimonio autónomo, fiduciario regulado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Mayor formalidad y separación patrimonial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Costo inicial más alto, estructura más robusta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Mayor protección para tickets grandes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Recomendado para mayor escala o inversores no relacionados</a:t>
            </a:r>
            <a:endParaRPr lang="en-US" sz="1250" dirty="0"/>
          </a:p>
        </p:txBody>
      </p:sp>
      <p:pic>
        <p:nvPicPr>
          <p:cNvPr id="10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ECONOMICS DEL VEHÍCULO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Tres componentes, alineados con tu resultado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74720" cy="329184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Fee de Estructuración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1,5% – 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capital comprometido, al cierre de la ronda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103120"/>
            <a:ext cx="3474720" cy="329184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Fee de Gestión de Obra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2% – 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41148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 costo de obra, durante la construcción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474720" cy="329184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27889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Carried Interest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3429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15% – 20%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75320" y="41148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ganancia sobre el retorno preferente del 8% anual — solo tras devolver capital + hurdle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carry solo se cobra si vos ya recuperaste tu capital más el retorno preferente. Nuestra ganancia depende de la tuya.</a:t>
            </a:r>
            <a:endParaRPr lang="en-US" sz="1300" dirty="0"/>
          </a:p>
        </p:txBody>
      </p:sp>
      <p:pic>
        <p:nvPicPr>
          <p:cNvPr id="20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ORDEN DE RETORNOS (WATERFALL)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Caso ilustrativo — capital USD 500.000, 24 meses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566928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2024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9202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0" y="19202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Monto (USD)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8716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487168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Devolución de capital a inversores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248716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500.000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11064240" cy="566928"/>
          </a:xfrm>
          <a:prstGeom prst="rect">
            <a:avLst/>
          </a:prstGeom>
          <a:solidFill>
            <a:srgbClr val="F7F4EE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5409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3054096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Retorno preferente (hurdle 8% anual × 2 años)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30540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80.000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2102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621024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Ganancia remanente a repartir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362102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70.000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11064240" cy="566928"/>
          </a:xfrm>
          <a:prstGeom prst="rect">
            <a:avLst/>
          </a:prstGeom>
          <a:solidFill>
            <a:srgbClr val="F7F4EE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8795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187952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 del remanente → inversores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418795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56.000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AD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548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37360" y="47548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20% del remanente → carried interest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0" y="47548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14.000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4589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inversor recupera capital + hurdle + su parte del remanente =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636.000 (27,2% en 24 meses).</a:t>
            </a:r>
            <a:endParaRPr lang="en-US" sz="1300" dirty="0"/>
          </a:p>
        </p:txBody>
      </p:sp>
      <p:pic>
        <p:nvPicPr>
          <p:cNvPr id="29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RETORNO PROYECTADO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Composición del retorno al inversor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2024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2194560"/>
            <a:ext cx="4206240" cy="347472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2651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USD 636.000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635240" y="3474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Retorno total al inversor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(27,2% en 24 meses)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4343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~13,2%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35240" y="4800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Retorno anualizado simple estimado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87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Cifras ilustrativas. El retorno real depende del desempeño del proyecto y no está garantizado.</a:t>
            </a:r>
            <a:endParaRPr lang="en-US" sz="950" dirty="0"/>
          </a:p>
        </p:txBody>
      </p:sp>
      <p:pic>
        <p:nvPicPr>
          <p:cNvPr id="11" name="Image 0" descr="isotipo_inver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 DEL PROYECTO DESARROLLADO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 terminar la obra: vender o rentar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Renta Tradicional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Contrato de locación de largo plazo, inquilino estable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bruta de referencia: 6% – 10% anual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directa del equipo de Meridiano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 de rentabilidad neta de cartera: 10%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949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40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Renta Temporal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Estadías cortas en zonas de alta demanda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bruta de referencia: 10% – 16%+ anual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Operada con aliado de 20+ años en el rubro</a:t>
            </a:r>
            <a:endParaRPr lang="en-US" sz="1250" dirty="0"/>
          </a:p>
          <a:p>
            <a:pPr marL="190500" indent="-1905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origina y reporta; el aliado ejecuta</a:t>
            </a:r>
            <a:endParaRPr lang="en-US" sz="1250" dirty="0"/>
          </a:p>
        </p:txBody>
      </p:sp>
      <p:pic>
        <p:nvPicPr>
          <p:cNvPr id="10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GOBERNANZA Y REPORTE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Transparencia durante todo el horizonte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 operativa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estructurador conserva las decisiones técnicas de obra y comercialización.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Decisiones reservadas a inversores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Cambios materiales de presupuesto · extensión de plazo · venta anticipada del proyecto completo.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Reporte trimestral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6177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de avance de obra y estado financiero del vehículo, cada trimestre.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886200"/>
            <a:ext cx="5394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Auditoría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6177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Estados financieros por la contadora de la red, con acceso de inversores a la documentación.</a:t>
            </a:r>
            <a:endParaRPr lang="en-US" sz="1200" dirty="0"/>
          </a:p>
        </p:txBody>
      </p:sp>
      <p:pic>
        <p:nvPicPr>
          <p:cNvPr id="1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 DE ALIADOS PROFESIONALES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Cada etapa, respaldada por especialistas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Abogado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Constitución del vehículo, revisión contractual, debida diligencia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1031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377440"/>
            <a:ext cx="640080" cy="64008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Escribano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9319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Escrituración y protocolización de los actos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77440"/>
            <a:ext cx="640080" cy="64008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Contadora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9319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RUC, facturación, régimen impositivo, cumplimiento fiscal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210312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2377440"/>
            <a:ext cx="640080" cy="64008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8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89720" y="320040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Operador Renta Temporal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89720" y="39319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20+ años — operación del circuito de renta temporal</a:t>
            </a:r>
            <a:endParaRPr lang="en-US" sz="1150" dirty="0"/>
          </a:p>
        </p:txBody>
      </p:sp>
      <p:pic>
        <p:nvPicPr>
          <p:cNvPr id="24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CONSIDERACIONES DE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4313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 que todo coinversor debe saber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inversión en etapa de desarrollo está sujeta a riesgos, incluyendo demoras de obra y variación de costos de construcción.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condiciones de mercado al momento de vender o alquilar pueden diferir de las proyectadas en este documento.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coinversión presenta riesgo de iliquidez durante el horizonte del proyecto — no contempla rescate anticipado de capital, salvo acuerdo expreso.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 cifras de retorno presentadas son ilustrativas y no constituyen garantía de rentabilidad.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recomienda a cada inversor evaluar la oportunidad con asesoría legal, impositiva y financiera propia, independiente de Meridiano Capital.</a:t>
            </a:r>
            <a:endParaRPr lang="en-US" sz="1400" dirty="0"/>
          </a:p>
        </p:txBody>
      </p:sp>
      <p:pic>
        <p:nvPicPr>
          <p:cNvPr id="5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Coinversión · Confidencial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MERIDIANO CAPITAL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Coinvertí en el desarrollo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inmobiliario de Asunción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EDE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Juan José Castillo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Operador Técnico y Legal de Inversiones Inmobiliarias · Asunción, Paraguay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</a:t>
            </a:r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·     juancastillo@meridianocapital.net     ·     www.meridianocapital.net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preliminar y no vinculante. Los términos finales quedarán establecidos en el estatuto societario o contrato de fideicomiso definitivo.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2026-07-30T20:43:45Z</dcterms:created>
  <dcterms:modified xsi:type="dcterms:W3CDTF">2026-07-30T20:43:45Z</dcterms:modified>
</cp:coreProperties>
</file>