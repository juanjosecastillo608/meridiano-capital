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4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rb_iso_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5120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5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500" b="1" spc="2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5074920" y="457200"/>
            <a:ext cx="1965960" cy="457200"/>
          </a:xfrm>
          <a:prstGeom prst="rect">
            <a:avLst/>
          </a:prstGeom>
          <a:solidFill>
            <a:srgbClr val="374630"/>
          </a:solidFill>
          <a:ln w="9525">
            <a:solidFill>
              <a:srgbClr val="C998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74920" y="457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CONFIDENCIAL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ALQUILERES TEMPORARIOS · ASUNCIÓN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PROPIETARIOS EXIGENTES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246888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 propiedad,
</a:t>
            </a:r>
            <a:pPr indent="0" marL="0">
              <a:lnSpc>
                <a:spcPts val="5000"/>
              </a:lnSpc>
              <a:buNone/>
            </a:pPr>
            <a:r>
              <a:rPr lang="en-US" sz="4600" i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trabajando</a:t>
            </a:r>
            <a:pPr indent="0" marL="0">
              <a:lnSpc>
                <a:spcPts val="5000"/>
              </a:lnSpc>
              <a:buNone/>
            </a:pP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usted.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566928" y="5074920"/>
            <a:ext cx="91440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39496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profesional de apartamentos turísticos en Asunción. Sistema con más de 20 años de experiencia, con origen en Barcelona (2010), aplicado al mercado más rentable de Sudamérica.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7040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69%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48640" y="7635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MEDIA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MERCADO ASUNCIÓN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084832" y="7086600"/>
            <a:ext cx="0" cy="640080"/>
          </a:xfrm>
          <a:prstGeom prst="line">
            <a:avLst/>
          </a:prstGeom>
          <a:noFill/>
          <a:ln w="12700">
            <a:solidFill>
              <a:srgbClr val="4E5B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76272" y="7040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86%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176272" y="7635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HUÉSPEDES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INTERNACIONALES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712464" y="7086600"/>
            <a:ext cx="0" cy="640080"/>
          </a:xfrm>
          <a:prstGeom prst="line">
            <a:avLst/>
          </a:prstGeom>
          <a:noFill/>
          <a:ln w="12700">
            <a:solidFill>
              <a:srgbClr val="4E5B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03904" y="7040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8–11%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803904" y="7635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NETA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PROPIEDADES TOP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340096" y="7086600"/>
            <a:ext cx="0" cy="640080"/>
          </a:xfrm>
          <a:prstGeom prst="line">
            <a:avLst/>
          </a:prstGeom>
          <a:noFill/>
          <a:ln w="12700">
            <a:solidFill>
              <a:srgbClr val="4E5B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31536" y="7040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431536" y="7635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EN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SUDAMÉRICA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48640" y="100492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— QUIÉNES SOMOS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NUESTRA HISTORIA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somos una agencia más.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2834640"/>
            <a:ext cx="82296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Empezamos en 2010, en Barcelona, cuando el mercado de apartamentos turísticos era territorio inexplorado. Aprendimos de primera mano cómo funcionan realmente los precios, la demanda y la operativa.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el tiempo entendimos algo que pocas agencias aplican: no se trata solo de generar ingresos, sino de que el propietario comprenda exactamente de dónde vienen y adónde van. La transparencia es la base de cualquier relación seria.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2025 trajimos ese sistema a Asunción — uno de los mercados más atractivos de la región, y hoy mal gestionado.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6858000"/>
            <a:ext cx="6464808" cy="137160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685800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Hoy aplicamos un sistema de más de 20 años de experiencia real</a:t>
            </a:r>
            <a:pPr algn="just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 un objetivo claro: maximizar la rentabilidad de su propiedad con total transparencia. No gestionamos muchas propiedades — solo aquellas que sabemos hacer genuinamente rentables.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686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9281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FUNDACIÓN EN BARCELONA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0" y="8686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743200" y="9281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AÑOS DE EXPERIENCIA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8686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37760" y="9281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LLEGADA A ASUNCIÓN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101406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— EL MERCADO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DATOS REALES · AIRBTICS, AIRROI, AIRDNA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Asunción: el mercado que pocos conocen.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057400" cy="182880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754880"/>
            <a:ext cx="64008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49808" y="3794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MEDIA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MERCADO (2024–25)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9808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Fuente: Airbtics 2025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0" y="3017520"/>
            <a:ext cx="2057400" cy="182880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4754880"/>
            <a:ext cx="64008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44368" y="3794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TARIFA MEDIA DIARIA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(ADR) EN ASUNCIÓN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44368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Fuente: AirDNA 2025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37760" y="3017520"/>
            <a:ext cx="2057400" cy="182880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4754880"/>
            <a:ext cx="64008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86%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138928" y="3794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HUÉSPEDES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INTERNACIONALES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38928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Fuente: Airbtics 2025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6464808" cy="137160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POSICIONAMIENTO DE ASUNCIÓN EN SUDAMÉRICA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60533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 SUDAMÉRICA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50008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25%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350008" y="60533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922776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1.579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22776" y="60533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ANUNCIOS ACTIVOS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LA PLATAFORMA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495544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95544" y="60533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NOCHES RESERVADAS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 AÑO (MEDIA)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8640" y="6858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0480" y="6858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7269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Propiedades Top 10%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7269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88%+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20640" y="7342632"/>
            <a:ext cx="1682496" cy="146304"/>
          </a:xfrm>
          <a:prstGeom prst="rect">
            <a:avLst/>
          </a:prstGeom>
          <a:solidFill>
            <a:srgbClr val="45573A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7653528"/>
            <a:ext cx="6464808" cy="0"/>
          </a:xfrm>
          <a:prstGeom prst="line">
            <a:avLst/>
          </a:prstGeom>
          <a:noFill/>
          <a:ln w="6350">
            <a:solidFill>
              <a:srgbClr val="D8CD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7744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Propiedades Top 25%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7744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76%+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20640" y="7818120"/>
            <a:ext cx="1463040" cy="146304"/>
          </a:xfrm>
          <a:prstGeom prst="rect">
            <a:avLst/>
          </a:prstGeom>
          <a:solidFill>
            <a:srgbClr val="45573A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8129016"/>
            <a:ext cx="6464808" cy="0"/>
          </a:xfrm>
          <a:prstGeom prst="line">
            <a:avLst/>
          </a:prstGeom>
          <a:noFill/>
          <a:ln w="6350">
            <a:solidFill>
              <a:srgbClr val="D8CD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82204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 del mercado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0" y="82204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53–69%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20640" y="8293608"/>
            <a:ext cx="1097280" cy="146304"/>
          </a:xfrm>
          <a:prstGeom prst="rect">
            <a:avLst/>
          </a:prstGeom>
          <a:solidFill>
            <a:srgbClr val="45573A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8604504"/>
            <a:ext cx="6464808" cy="0"/>
          </a:xfrm>
          <a:prstGeom prst="line">
            <a:avLst/>
          </a:prstGeom>
          <a:noFill/>
          <a:ln w="6350">
            <a:solidFill>
              <a:srgbClr val="D8CD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86959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Propiedades sin gestión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840480" y="86959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26–42%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120640" y="8769096"/>
            <a:ext cx="621792" cy="146304"/>
          </a:xfrm>
          <a:prstGeom prst="rect">
            <a:avLst/>
          </a:prstGeom>
          <a:solidFill>
            <a:srgbClr val="B5654D"/>
          </a:solidFill>
          <a:ln/>
        </p:spPr>
      </p:sp>
      <p:sp>
        <p:nvSpPr>
          <p:cNvPr id="49" name="Shape 47"/>
          <p:cNvSpPr/>
          <p:nvPr/>
        </p:nvSpPr>
        <p:spPr>
          <a:xfrm>
            <a:off x="548640" y="9079992"/>
            <a:ext cx="6464808" cy="0"/>
          </a:xfrm>
          <a:prstGeom prst="line">
            <a:avLst/>
          </a:prstGeom>
          <a:noFill/>
          <a:ln w="6350">
            <a:solidFill>
              <a:srgbClr val="D8CD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9217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diferencia entre el 26% y el 88% de ocupación no es el mercado. Es la gestión.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10232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— RENTABILIDAD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SU PROPIEDAD PUEDE GENERAR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Números reales, no promesas.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alquiler turístico bien gestionado en Asunción puede generar entre un 50% y 80% más de ingresos que el alquiler tradicional. Estos son los rangos que registra el mercado (datos independientes 2024–2025).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3154680" cy="23774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ALQUILER TRADICIONAL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4343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5–7%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NETA anual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5349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 fijo · tarifa estática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flexibilidad · gestión propia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58768" y="3840480"/>
            <a:ext cx="3154680" cy="237744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14" name="Text 12"/>
          <p:cNvSpPr/>
          <p:nvPr/>
        </p:nvSpPr>
        <p:spPr>
          <a:xfrm>
            <a:off x="4087368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ALQUILER TURÍSTICO GESTIONADO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59936" y="4343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8–11%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087368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NETA anual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87368" y="5349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Precios dinámicos · máxima ocupación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Flexibilidad · gestión profesional 360°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6492240"/>
            <a:ext cx="6464808" cy="1645920"/>
          </a:xfrm>
          <a:prstGeom prst="rect">
            <a:avLst/>
          </a:prstGeom>
          <a:solidFill>
            <a:srgbClr val="FBF7E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6720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$9.000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680" y="7315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NETOS ANUALES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 REAL DOCUMENTADO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71800" y="6720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9,3%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971800" y="7315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NETA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GESTIÓN OPTIMIZADA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74920" y="6720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92,8%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74920" y="7315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ALCANZABLE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MÉTODO PROFESIONAL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8321040"/>
            <a:ext cx="6464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 Datos basados en Airbtics, AirROI, AirDNA y ProInvest.com.py (2024–2025). La rentabilidad varía según ubicación, tamaño y equipamiento. Evaluamos su propiedad de forma personalizada.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101864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— METODOLOGÍA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 ENFOQUE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Leemos el mercado en tiempo real.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 trabajo no es publicar un apartamento y esperar reservas. Es entender cómo se comporta el mercado cada semana y decidir con datos, no con intuición.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154680" cy="17373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931920"/>
            <a:ext cx="164592" cy="164592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587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por zona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Monitorizamos precios y demanda en Villa Morra, Recoleta, Las Mercedes y zonas corporativas.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58768" y="3657600"/>
            <a:ext cx="3154680" cy="17373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33088" y="3931920"/>
            <a:ext cx="164592" cy="164592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53128" y="38587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Precios dinámicos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33088" y="4343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Ajustamos tarifas según temporada, eventos y competencia. Julio–agosto son los meses de mayor demanda.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5577840"/>
            <a:ext cx="3154680" cy="17373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852160"/>
            <a:ext cx="164592" cy="164592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779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Posicionamiento competitivo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calidad de los anuncios en Asunción es baja. Con fotografía profesional y copy optimizado, su propiedad destaca.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58768" y="5577840"/>
            <a:ext cx="3154680" cy="17373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33088" y="5852160"/>
            <a:ext cx="164592" cy="164592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2" name="Text 20"/>
          <p:cNvSpPr/>
          <p:nvPr/>
        </p:nvSpPr>
        <p:spPr>
          <a:xfrm>
            <a:off x="4453128" y="5779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Mercado internacional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33088" y="6263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86% de los huéspedes son internacionales. Optimizamos para captar viajeros de negocios y turismo.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7680960"/>
            <a:ext cx="6464808" cy="118872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768096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 nos permite mantener cada propiedad en el </a:t>
            </a:r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alto del mercado</a:t>
            </a:r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no como excepción, sino de forma consistente y medible.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10232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— TRANSPARENCIA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 TOTAL PARA EL PROPIETARIO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sorpresas. Sin letra pequeña.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154680" cy="19202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337560"/>
            <a:ext cx="365760" cy="0"/>
          </a:xfrm>
          <a:prstGeom prst="line">
            <a:avLst/>
          </a:prstGeom>
          <a:noFill/>
          <a:ln w="25400">
            <a:solidFill>
              <a:srgbClr val="C998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claros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 cada reserva, cada noche y cuánto genera en tiempo real. Sin agregados confusos ni cifras redondeadas.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58768" y="3017520"/>
            <a:ext cx="3154680" cy="19202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3337560"/>
            <a:ext cx="365760" cy="0"/>
          </a:xfrm>
          <a:prstGeom prst="line">
            <a:avLst/>
          </a:prstGeom>
          <a:noFill/>
          <a:ln w="25400">
            <a:solidFill>
              <a:srgbClr val="C998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Gastos detallados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33088" y="3931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coste desglosado — limpieza, mantenimiento, plataformas. Sin costes ocultos ni sorpresas a fin de mes.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3154680" cy="19202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440680"/>
            <a:ext cx="365760" cy="0"/>
          </a:xfrm>
          <a:prstGeom prst="line">
            <a:avLst/>
          </a:prstGeom>
          <a:noFill/>
          <a:ln w="25400">
            <a:solidFill>
              <a:srgbClr val="C998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77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 mensual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mensual con ocupación, tarifa media, ingresos brutos y netos. Información que realmente le sirve.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58768" y="5120640"/>
            <a:ext cx="3154680" cy="19202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33088" y="5440680"/>
            <a:ext cx="365760" cy="0"/>
          </a:xfrm>
          <a:prstGeom prst="line">
            <a:avLst/>
          </a:prstGeom>
          <a:noFill/>
          <a:ln w="25400">
            <a:solidFill>
              <a:srgbClr val="C998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3088" y="5577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Liquidación puntual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33088" y="6035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 ingresos transferidos cada mes, con el resumen completo del período. Sin retrasos ni explicaciones vagas.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7498080"/>
            <a:ext cx="6464808" cy="1005840"/>
          </a:xfrm>
          <a:prstGeom prst="rect">
            <a:avLst/>
          </a:prstGeom>
          <a:solidFill>
            <a:srgbClr val="FBF7E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749808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 exactamente cómo está funcionando su propiedad en todo momento. Eso no es un servicio — es una obligación.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10232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— POR QUÉ NOSOTROS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DIFERENCIA QUE IMPORTA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propiedades. Más atención.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PROBLEMA HABITUAL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 ENFOQUE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Agencias que gestionan cientos de propiedades sin diferenciación. La suya es un número más.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86200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Cartera limitada de propiedades seleccionadas. Solo las que sabemos hacer rentables.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claridad en los números: no sabe si su propiedad rinde bien o mal.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86200" y="4297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4297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 mensual detallado. Usted entiende de dónde vienen sus ingresos.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Comunicación escasa. Solo sabe algo cuando sale mal.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86200" y="5349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5349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directo con el gestor de su propiedad. No un call center.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64008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Fotografías de baja calidad y anuncios sin optimizar. Ocupación del 26–42%.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86200" y="6400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64008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 profesional, SEO y anuncios optimizados en todas las plataformas.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7452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7452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Tarifas fijas que no se adaptan a la demanda real.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86200" y="7452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7452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Precios dinámicos que maximizan el ingreso sin sacrificar ocupación.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10232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— NUESTRO SERVICIO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360°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 encargamos de absolutamente todo.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322783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 y listing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53872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Sesión fotográfica, descripción optimizada ES/EN y posicionamiento en Airbnb, Booking y plataformas.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58768" y="297180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322783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4407408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Optimización de precios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53872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de precios dinámicos ajustado semanalmente según demanda, estacionalidad y competencia.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64515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572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huéspedes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495604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Atención 24/7, check-in y check-out coordinados, resolución de incidencias. Rating y reputación cuidados.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58768" y="438912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464515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4572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Limpieza y mantenimiento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95604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Protocolo de limpieza profesional entre estancias. Control del inmueble y pequeñas reparaciones.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606247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989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y reporting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63733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mensual con ocupación, ADR, ingresos brutos y netos, y comparativa de mercado.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58768" y="580644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606247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9" name="Text 27"/>
          <p:cNvSpPr/>
          <p:nvPr/>
        </p:nvSpPr>
        <p:spPr>
          <a:xfrm>
            <a:off x="4407408" y="5989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Selección de huéspedes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63733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Verificación y cribado de reservas. Priorizamos perfiles de alta calidad para proteger su propiedad.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8321040"/>
            <a:ext cx="6464808" cy="109728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832104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Usted solo hace una cosa: </a:t>
            </a:r>
            <a:pPr indent="0" marL="0">
              <a:buNone/>
            </a:pPr>
            <a:r>
              <a:rPr lang="en-US" sz="15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recibir sus ingresos.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10277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rb_iso_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2743200" y="566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292608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Evaluamos
su propiedad
</a:t>
            </a:r>
            <a:pPr indent="0" marL="0">
              <a:lnSpc>
                <a:spcPts val="4600"/>
              </a:lnSpc>
              <a:buNone/>
            </a:pPr>
            <a:r>
              <a:rPr lang="en-US" sz="4000" i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compromiso.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C0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damos una visión honesta y documentada del potencial real de su inmueble. Sin promesas infladas. Solo datos. Solo lo que su propiedad puede generar con una gestión profesional.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6675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949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urbannit@meridianocapital.net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7498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7772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88696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9A928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trabajamos con propiedades que sabemos hacer genuinamente rentables. Si la suya es una de ellas, lo sabremos desde la primera conversación.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100492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2026-08-05T02:28:26Z</dcterms:created>
  <dcterms:modified xsi:type="dcterms:W3CDTF">2026-08-05T02:28:26Z</dcterms:modified>
</cp:coreProperties>
</file>