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4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rb_is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512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5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5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500" dirty="0"/>
          </a:p>
        </p:txBody>
      </p:sp>
      <p:sp>
        <p:nvSpPr>
          <p:cNvPr id="4" name="Shape 1"/>
          <p:cNvSpPr/>
          <p:nvPr/>
        </p:nvSpPr>
        <p:spPr>
          <a:xfrm>
            <a:off x="5074920" y="457200"/>
            <a:ext cx="1965960" cy="457200"/>
          </a:xfrm>
          <a:prstGeom prst="rect">
            <a:avLst/>
          </a:prstGeom>
          <a:solidFill>
            <a:srgbClr val="374630"/>
          </a:solidFill>
          <a:ln w="9525">
            <a:solidFill>
              <a:srgbClr val="C998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74920" y="4572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CONFIDENCIAL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ALQUILERES TEMPORARIOS · ASUNCIÓN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PROPIETARIOS EXIGENTES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 propiedad,
</a:t>
            </a:r>
            <a:pPr indent="0" marL="0">
              <a:lnSpc>
                <a:spcPts val="5000"/>
              </a:lnSpc>
              <a:buNone/>
            </a:pPr>
            <a:r>
              <a:rPr lang="en-US" sz="460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trabajando</a:t>
            </a:r>
            <a:pPr indent="0" marL="0">
              <a:lnSpc>
                <a:spcPts val="5000"/>
              </a:lnSpc>
              <a:buNone/>
            </a:pP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usted.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566928" y="5074920"/>
            <a:ext cx="91440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3949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profesional de apartamentos turísticos en Asunción. Sistema con más de 20 años de experiencia, con origen en Barcelona (2010), aplicado al mercado más rentable de Sudamérica.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48640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MEDIA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ASUNCIÓN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84832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76272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176272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HUÉSPEDES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INTERNACIONALES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712464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8–11%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803904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340096" y="7086600"/>
            <a:ext cx="0" cy="640080"/>
          </a:xfrm>
          <a:prstGeom prst="line">
            <a:avLst/>
          </a:prstGeom>
          <a:noFill/>
          <a:ln w="12700">
            <a:solidFill>
              <a:srgbClr val="4E5B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1536" y="7040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431536" y="7635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EN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SUDAMÉRICA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10049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— QUIÉNES SOMOS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 HISTORIA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somos una agencia más.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2834640"/>
            <a:ext cx="82296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Empezamos en 2010, en Barcelona, cuando el mercado de apartamentos turísticos era territorio inexplorado. Aprendimos de primera mano cómo funcionan realmente los precios, la demanda y la operativa.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el tiempo entendimos algo que pocas agencias aplican: no se trata solo de generar ingresos, sino de que el propietario comprenda exactamente de dónde vienen y adónde van. La transparencia es la base de cualquier relación seria.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2025 trajimos ese sistema a Asunción — uno de los mercados más atractivos de la región, y hoy mal gestionado.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858000"/>
            <a:ext cx="6464808" cy="137160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68580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Hoy aplicamos un sistema de más de 20 años de experiencia real</a:t>
            </a:r>
            <a:pPr algn="just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 un objetivo claro: maximizar la rentabilidad de su propiedad con total transparencia. No gestionamos muchas propiedades — solo aquellas que sabemos hacer genuinamente rentables.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FUNDACIÓN EN BARCELONA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DE EXPERIENCIA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8686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9281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LLEGADA A ASUNCIÓN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10140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— EL MERCADO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 REALES · AIRBTICS, AIRROI, AIRDNA 2025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Asunción: el mercado que pocos conocen.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980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MEDIA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MERCADO (2024–25)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Airbtics 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4436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 MEDIA DIARIA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(ADR) EN ASUNCIÓN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4436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AirDNA 2025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2057400" cy="182880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4754880"/>
            <a:ext cx="640080" cy="0"/>
          </a:xfrm>
          <a:prstGeom prst="line">
            <a:avLst/>
          </a:prstGeom>
          <a:noFill/>
          <a:ln w="19050">
            <a:solidFill>
              <a:srgbClr val="C998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138928" y="3794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HUÉSPEDES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INTERNACIONALES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3892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Airbtics 2025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6464808" cy="137160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DE ASUNCIÓN EN SUDAMÉRICA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SUDAMÉRICA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50008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25%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50008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922776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1.579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22776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ANUNCIOS ACTIVOS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 PLATAFORMA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495544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95544" y="60533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NOCHES RESERVADAS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spc="100" kern="0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 AÑO (MEDIA)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6858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40480" y="6858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7269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 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7269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88%+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7342632"/>
            <a:ext cx="1682496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7653528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7744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Top 25%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7744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76%+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20640" y="7818120"/>
            <a:ext cx="1463040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8129016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82204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del mercado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82204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53–69%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20640" y="8293608"/>
            <a:ext cx="1097280" cy="146304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8604504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86959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Propiedades sin gestión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40480" y="86959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26–42%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20640" y="8769096"/>
            <a:ext cx="621792" cy="146304"/>
          </a:xfrm>
          <a:prstGeom prst="rect">
            <a:avLst/>
          </a:prstGeom>
          <a:solidFill>
            <a:srgbClr val="B565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9079992"/>
            <a:ext cx="6464808" cy="0"/>
          </a:xfrm>
          <a:prstGeom prst="line">
            <a:avLst/>
          </a:prstGeom>
          <a:noFill/>
          <a:ln w="6350">
            <a:solidFill>
              <a:srgbClr val="D8CD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9217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diferencia entre el 26% y el 88% de ocupación no es el mercado. Es la gestión.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— RENTABILIDAD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SU PROPIEDAD PUEDE GENERAR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Números reales, no promesas.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alquiler turístico bien gestionado en Asunción puede generar entre un 50% y 80% más de ingresos que el alquiler tradicional. Estos son los rangos que registra el mercado (datos independientes 2024–2025).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3154680" cy="23774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 TRADICIONAL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4343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 anual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fijo · tarifa estática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flexibilidad · gestión propia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58768" y="3840480"/>
            <a:ext cx="3154680" cy="237744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14" name="Text 12"/>
          <p:cNvSpPr/>
          <p:nvPr/>
        </p:nvSpPr>
        <p:spPr>
          <a:xfrm>
            <a:off x="4087368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 TURÍSTICO GESTIONADO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9936" y="4343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8–11%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08736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 anual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87368" y="5349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 · máxima ocupación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Flexibilidad · gestión profesional 360°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6492240"/>
            <a:ext cx="6464808" cy="1645920"/>
          </a:xfrm>
          <a:prstGeom prst="rect">
            <a:avLst/>
          </a:prstGeom>
          <a:solidFill>
            <a:srgbClr val="FBF7E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$9.000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NETOS ANUALES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 REAL DOCUMENTADO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7180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9,3%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97180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NETA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GESTIÓN OPTIMIZADA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74920" y="6720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92,8%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74920" y="7315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ALCANZABLE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spc="1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MÉTODO PROFESIONAL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832104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 Datos basados en Airbtics, AirROI, AirDNA y ProInvest.com.py (2024–2025). La rentabilidad varía según ubicación, tamaño y equipamiento. Evaluamos su propiedad de forma personalizada.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101864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— 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ENFOQUE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Leemos el mercado en tiempo real.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trabajo no es publicar un apartamento y esperar reservas. Es entender cómo se comporta el mercado cada semana y decidir con datos, no con intuición.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93192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58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por zona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Monitorizamos precios y demanda en Villa Morra, Recoleta, Las Mercedes y zonas corporativas.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58768" y="365760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33088" y="393192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3858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33088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Ajustamos tarifas según temporada, eventos y competencia. Julio–agosto son los meses de mayor demanda.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85216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779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Posicionamiento competitivo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calidad de los anuncios en Asunción es baja. Con fotografía profesional y copy optimizado, su propiedad destaca.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58768" y="5577840"/>
            <a:ext cx="3154680" cy="17373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5852160"/>
            <a:ext cx="164592" cy="16459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5779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internacional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33088" y="6263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86% de los huéspedes son internacionales. Optimizamos para captar viajeros de negocios y turismo.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7680960"/>
            <a:ext cx="6464808" cy="118872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76809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 nos permite mantener cada propiedad en el 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alto del mercado</a:t>
            </a:r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no como excepción, sino de forma consistente y medible.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— TRANSPARENCIA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 TOTAL PARA EL PROPIETARIO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sorpresas. Sin letra pequeña.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3756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claros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 cada reserva, cada noche y cuánto genera en tiempo real. Sin agregados confusos ni cifras redondeadas.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58768" y="301752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3088" y="333756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3474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Gastos detallados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33088" y="3931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coste desglosado — limpieza, mantenimiento, plataformas. Sin costes ocultos ni sorpresas a fin de mes.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44068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mensual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mensual con ocupación, tarifa media, ingresos brutos y netos. Información que realmente le sirve.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58768" y="5120640"/>
            <a:ext cx="3154680" cy="192024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3088" y="5440680"/>
            <a:ext cx="365760" cy="0"/>
          </a:xfrm>
          <a:prstGeom prst="line">
            <a:avLst/>
          </a:prstGeom>
          <a:noFill/>
          <a:ln w="25400">
            <a:solidFill>
              <a:srgbClr val="C998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5577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Liquidación puntual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33088" y="6035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 ingresos transferidos cada mes, con el resumen completo del período. Sin retrasos ni explicaciones vagas.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7498080"/>
            <a:ext cx="6464808" cy="1005840"/>
          </a:xfrm>
          <a:prstGeom prst="rect">
            <a:avLst/>
          </a:prstGeom>
          <a:solidFill>
            <a:srgbClr val="FBF7E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74980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 exactamente cómo está funcionando su propiedad en todo momento. Eso no es un servicio — es una obligación.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— POR QUÉ NOSOTROS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DIFERENCIA QUE IMPORTA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propiedades. Más atención.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 HABITUAL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ENFOQUE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Agencias que gestionan cientos de propiedades sin diferenciación. La suya es un número más.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8620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Cartera limitada de propiedades seleccionadas. Solo las que sabemos hacer rentables.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claridad en los números: no sabe si su propiedad rinde bien o mal.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6200" y="4297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42976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mensual detallado. Usted entiende de dónde vienen sus ingresos.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Comunicación escasa. Solo sabe algo cuando sale mal.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86200" y="5349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53492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directo con el gestor de su propiedad. No un call center.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6400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Fotografías de baja calidad y anuncios sin optimizar. Ocupación del 26–42%.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86200" y="6400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6400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profesional, SEO y anuncios optimizados en todas las plataformas.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7452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65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7452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Tarifas fijas que no se adaptan a la demanda real.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86200" y="7452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7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74523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Precios dinámicos que maximizan el ingreso sin sacrificar ocupación.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10232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— NUESTRO SERVICIO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6464808" cy="0"/>
          </a:xfrm>
          <a:prstGeom prst="line">
            <a:avLst/>
          </a:prstGeom>
          <a:noFill/>
          <a:ln w="12700">
            <a:solidFill>
              <a:srgbClr val="D8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360°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 encargamos de absolutamente todo.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22783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y listing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5387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Sesión fotográfica, descripción optimizada ES/EN y posicionamiento en Airbnb, Booking y plataformas.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58768" y="297180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322783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Optimización de precios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5387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de precios dinámicos ajustado semanalmente según demanda, estacionalidad y competencia.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64515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huéspedes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495604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Atención 24/7, check-in y check-out coordinados, resolución de incidencias. Rating y reputación cuidados.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58768" y="438912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464515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Limpieza y mantenimiento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95604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Protocolo de limpieza profesional entre estancias. Control del inmueble y pequeñas reparaciones.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606247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989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y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63733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mensual con ocupación, ADR, ingresos brutos y netos, y comparativa de mercado.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58768" y="5806440"/>
            <a:ext cx="3154680" cy="1280160"/>
          </a:xfrm>
          <a:prstGeom prst="rect">
            <a:avLst/>
          </a:prstGeom>
          <a:solidFill>
            <a:srgbClr val="FBF7EF"/>
          </a:solidFill>
          <a:ln w="12700">
            <a:solidFill>
              <a:srgbClr val="D8CD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6062472"/>
            <a:ext cx="146304" cy="14630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5989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Selección de huéspedes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63733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Verificación y cribado de reservas. Priorizamos perfiles de alta calidad para proteger su propiedad.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8321040"/>
            <a:ext cx="6464808" cy="1097280"/>
          </a:xfrm>
          <a:prstGeom prst="rect">
            <a:avLst/>
          </a:prstGeom>
          <a:solidFill>
            <a:srgbClr val="37463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832104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Usted solo hace una cosa: </a:t>
            </a:r>
            <a:pPr indent="0" marL="0">
              <a:buNone/>
            </a:pPr>
            <a:r>
              <a:rPr lang="en-US" sz="15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recibir sus ingresos.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10277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72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3A2E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rb_is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7552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</a:t>
            </a:r>
            <a:pPr indent="0" marL="0">
              <a:buNone/>
            </a:pPr>
            <a:r>
              <a:rPr lang="en-US" sz="13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</a:t>
            </a:r>
            <a:pPr indent="0" marL="0">
              <a:buNone/>
            </a:pPr>
            <a:r>
              <a:rPr lang="en-US" sz="1300" b="1" spc="2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743200" y="566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292608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Evaluamos
su propiedad
</a:t>
            </a:r>
            <a:pPr indent="0" marL="0">
              <a:lnSpc>
                <a:spcPts val="4600"/>
              </a:lnSpc>
              <a:buNone/>
            </a:pPr>
            <a:r>
              <a:rPr lang="en-US" sz="4000" i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compromiso.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7C0B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damos una visión honesta y documentada del potencial real de su inmueble. Sin promesas infladas. Solo datos. Solo lo que su propiedad puede generar con una gestión profesional.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675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949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urbannit@meridianocapital.net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7498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7772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8869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9A928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trabajamos con propiedades que sabemos hacer genuinamente rentables. Si la suya es una de ellas, lo sabremos desde la primera conversación.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10049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9B0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gestionado por </a:t>
            </a:r>
            <a:pPr indent="0" marL="0">
              <a:buNone/>
            </a:pPr>
            <a:r>
              <a:rPr lang="en-US" sz="900" b="1" spc="100" kern="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2026-08-09T20:54:50Z</dcterms:created>
  <dcterms:modified xsi:type="dcterms:W3CDTF">2026-08-09T20:54:50Z</dcterms:modified>
</cp:coreProperties>
</file>