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548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59436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ASUNCIÓN, PARAGUAY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269748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Información institucional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para inversores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94360" y="4526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Quiénes somos, cómo trabajamos y qué podés esperar de un acompañamiento de punta a punta: de la cédula al alquiler.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94360" y="5669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informativo — no constituye una oferta vinculante.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QUIÉNES SOMOS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operador técnico y legal, no un agente tradicional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675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somos un agente inmobiliario tradicional. Somos el operador técnico y legal que convierte a un extranjero en inversor inmobiliario paraguayo — de la cédula al alquiler, de punta a punta.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“Donde otros ven una comisión, nosotros vemos una responsabilidad que empieza antes de la compra y no termina en la firma.”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343400"/>
            <a:ext cx="6675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Juan José Castillo — asesor y desarrollador inmobiliario con 16 años de trayectoria técnica en construcción y evaluación de oportunidades reales, no solo intermediación.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589520" y="1783080"/>
            <a:ext cx="4023360" cy="397764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0" y="210312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16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7589520" y="31546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AÑOS DE TRAYECTORIA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3749040"/>
            <a:ext cx="914400" cy="914400"/>
          </a:xfrm>
          <a:prstGeom prst="line">
            <a:avLst/>
          </a:prstGeom>
          <a:noFill/>
          <a:ln w="12700">
            <a:solidFill>
              <a:srgbClr val="2A4A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0" y="393192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863840" y="44348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unidades en cartera propia (11 edificios)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5120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Inversores de Europa · Argentina · Brasil · Chile</a:t>
            </a:r>
            <a:endParaRPr lang="en-US" sz="1050" dirty="0"/>
          </a:p>
        </p:txBody>
      </p:sp>
      <p:pic>
        <p:nvPicPr>
          <p:cNvPr id="14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Información institucional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MISIÓN Y VALORES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no negociamos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Convertir a inversores extranjeros en propietarios e inversores inmobiliarios paraguayos, acompañándolos de punta a punta —de la cédula al alquiler— con rigor técnico y legal.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3949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88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27889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Responsabilidad más allá de la firma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63040" y="329184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compromiso empieza antes de la compra y no termina en el cierre.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72200" y="2606040"/>
            <a:ext cx="53949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788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086600" y="27889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Rigor técnico y legal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86600" y="329184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número y cada estructura se sostienen en datos y en la ley, nunca en promesas.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389120"/>
            <a:ext cx="53949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45720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Acompañamiento integral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507492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solo responsable para todo el camino: lo legal, lo bancario, lo migratorio y la renta.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72200" y="4389120"/>
            <a:ext cx="53949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45720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Transparencia que gana confianza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86600" y="507492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inversor entiende siempre en qué invierte, cuánto cuesta y qué riesgos corre.</a:t>
            </a:r>
            <a:endParaRPr lang="en-US" sz="1050" dirty="0"/>
          </a:p>
        </p:txBody>
      </p:sp>
      <p:pic>
        <p:nvPicPr>
          <p:cNvPr id="2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Información institucional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TRAYECTORIA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Una cartera real, no un proyecto en papel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Administramos patrimonio propio y de inversores en Asunción — no es una promesa, es una cartera operando hoy.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560320" cy="17373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6974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53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52044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unidades en cartera (Cartera A)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37560" y="2514600"/>
            <a:ext cx="2560320" cy="17373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6974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566160" y="352044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edificios, 5 sociedades propietarias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2514600"/>
            <a:ext cx="2560320" cy="17373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26974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35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355080" y="352044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unidades operativas hoy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15400" y="2514600"/>
            <a:ext cx="2560320" cy="17373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26974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9144000" y="352044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 obra, entregas hasta 2029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5720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Caso real — Habitalis Mburucuyá: compra en pozo, entregado y en renta. La plusvalía del momento de compra cubrió la diferencia frente al piso de referencia — la prueba de que la mirada técnica de quien construye hace la diferencia.</a:t>
            </a:r>
            <a:endParaRPr lang="en-US" sz="1200" dirty="0"/>
          </a:p>
        </p:txBody>
      </p:sp>
      <p:pic>
        <p:nvPicPr>
          <p:cNvPr id="18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Información institucional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TRABAJAMOS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proceso, de punta a punta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60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Cédula Paraguaya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Requisito habilitante — opcional, puede correr en paralelo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90672" y="27432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337560" y="1920240"/>
            <a:ext cx="2560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148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611880" y="310896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Apertura Bancaria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37033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Cuenta en guaraníes y dólares, con compliance de fondos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79592" y="27432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126480" y="1920240"/>
            <a:ext cx="2560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2148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400800" y="310896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Estructura Societaria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0" y="37033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S.A. 100% de propiedad extranjera cuando el volumen lo justifica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68512" y="27432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915400" y="1920240"/>
            <a:ext cx="2560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9720" y="2148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9189720" y="310896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Selección y Renta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89720" y="37033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Elección de la unidad y gestión activa post-inversión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la etapa se acompaña con la Red de Aliados Profesionales: abogado, escribano y contadora.</a:t>
            </a:r>
            <a:endParaRPr lang="en-US" sz="1200" dirty="0"/>
          </a:p>
        </p:txBody>
      </p:sp>
      <p:pic>
        <p:nvPicPr>
          <p:cNvPr id="24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Información institucional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DOS FORMAS DE INVERTIR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Elegí según tu capital y tus objetivos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INDIVIDUAL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Comprás tu propia unidad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97280" y="3063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Elegís la unidad, terminada o en pozo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97280" y="3520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administramos: renta tradicional o temporal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3977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97280" y="3977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 de rentabilidad neta sostenida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44348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97280" y="4434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Ideal para 1 o pocas propiedades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874520"/>
            <a:ext cx="5394960" cy="384048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COINVERSIÓN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92240" y="2423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Varios inversores, un desarrollo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492240" y="30632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766560" y="3063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Ingresás a un vehículo común (S.A. o Fideicomiso)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92240" y="3520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766560" y="3520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Participás del retorno de un proyecto de desarrollo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92240" y="3977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766560" y="3977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con retorno preferente y reparto de ganancia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92240" y="44348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766560" y="4434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Ideal para tickets grandes, desde USD 200.000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detalles económicos de cada modelo se comparten en el material específico correspondiente, nunca combinados.</a:t>
            </a:r>
            <a:endParaRPr lang="en-US" sz="950" dirty="0"/>
          </a:p>
        </p:txBody>
      </p:sp>
      <p:pic>
        <p:nvPicPr>
          <p:cNvPr id="2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Información institucional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GESTIÓN PATRIMONIAL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acompañamiento no termina en el cierre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949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 TRADICIONAL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Contrato de locación de largo plazo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6% – 10%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bruta de referencia anual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Inquilino estable, baja intensidad operativa, gestión directa de nuestro equipo. Objetivo de rentabilidad neta de cartera: 10%.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874520"/>
            <a:ext cx="5394960" cy="3566160"/>
          </a:xfrm>
          <a:prstGeom prst="rect">
            <a:avLst/>
          </a:prstGeom>
          <a:solidFill>
            <a:srgbClr val="45573A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 TEMPORAL · URBANNIT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92240" y="2423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Estadías cortas en zonas de alta demanda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29718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10% – 16%+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492240" y="35204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2B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bruta de referencia anual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397764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8CD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Operada con un aliado de 20+ años en el rubro: nosotros originamos y reportamos, el aliado ejecuta la operación diaria.</a:t>
            </a:r>
            <a:endParaRPr lang="en-US" sz="11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Información institucional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55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NUESTRA SUB-MARCA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Urbannit — renta temporal, gestionada por Meridiano Capital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F1E8D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Urbannit opera el circuito de renta temporal en alianza con un operador de 20+ años de trayectoria, con origen en Barcelona (2010). Nosotros originamos la propiedad y reportamos al inversor; el aliado ejecuta la operación diaria.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C2B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Urbannit es una marca gestionada por Meridiano Capital.</a:t>
            </a:r>
            <a:endParaRPr lang="en-US" sz="1200" dirty="0"/>
          </a:p>
        </p:txBody>
      </p:sp>
      <p:pic>
        <p:nvPicPr>
          <p:cNvPr id="6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Información institucional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DE ALIADOS PROFESIONALES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Cada etapa, respaldada por especialistas de confianza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463040" y="2103120"/>
            <a:ext cx="731520" cy="73152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5" name="Text 3"/>
          <p:cNvSpPr/>
          <p:nvPr/>
        </p:nvSpPr>
        <p:spPr>
          <a:xfrm>
            <a:off x="1463040" y="21031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Abogado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5204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Constitución societaria, revisión contractual, debida diligencia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2103120"/>
            <a:ext cx="731520" cy="73152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9" name="Text 7"/>
          <p:cNvSpPr/>
          <p:nvPr/>
        </p:nvSpPr>
        <p:spPr>
          <a:xfrm>
            <a:off x="4251960" y="21031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3017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Escribano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35204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Escrituración y protocolización de actos societarios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040880" y="2103120"/>
            <a:ext cx="731520" cy="73152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1031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126480" y="3017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Contadora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35204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RUC, facturación, régimen impositivo, cumplimiento fiscal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829800" y="2103120"/>
            <a:ext cx="731520" cy="73152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21031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15400" y="3017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Operador de Renta Temporal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52560" y="35204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20+ años — operación diaria del circuito de renta temporal</a:t>
            </a:r>
            <a:endParaRPr lang="en-US" sz="1000" dirty="0"/>
          </a:p>
        </p:txBody>
      </p:sp>
      <p:pic>
        <p:nvPicPr>
          <p:cNvPr id="20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Información institucional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COMPLIANCE Y TRANSPARENCIA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cumplimiento no es una carga, es parte del servicio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675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desarrollador e intermediario inmobiliario, somos sujeto obligado ante SEPRELAD (Res. 201/2020) y operamos con un programa formal de prevención de lavado de activos: verificación de identidad y origen de fondos para cada inversor, antes de cualquier operación.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programa de compliance sólido facilita el financiamiento bancario, cumple con lo que exigen los inversores extranjeros, y construye la reputación de transparencia que sostiene relaciones de largo plazo.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9520" y="178308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2057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75320" y="20574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Verificación de identidad y origen de fondos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863840" y="27432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75320" y="27432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Reporte anual ante SEPRELAD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863840" y="34290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75320" y="34290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Oficial de Cumplimiento designado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863840" y="41148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75320" y="41148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Ninguna operación sin debida diligencia</a:t>
            </a:r>
            <a:endParaRPr lang="en-US" sz="1100" dirty="0"/>
          </a:p>
        </p:txBody>
      </p:sp>
      <p:pic>
        <p:nvPicPr>
          <p:cNvPr id="1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Información institucional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Hablemos de tu próxima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inversión en Paraguay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48640" y="3931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 acompañamos en cada paso: constitución societaria, apertura de cuenta, ingreso de capital, y la gestión de tu renta.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53309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</a:t>
            </a:r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·     juancastillo@meridianocapital.net     ·     www.meridianocapital.net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2026-08-09T22:27:05Z</dcterms:created>
  <dcterms:modified xsi:type="dcterms:W3CDTF">2026-08-09T22:27:05Z</dcterms:modified>
</cp:coreProperties>
</file>