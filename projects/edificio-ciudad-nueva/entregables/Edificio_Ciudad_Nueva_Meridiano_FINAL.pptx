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13A"/>
                </a:solidFill>
                <a:latin typeface="Poppins"/>
              </a:defRPr>
            </a:pPr>
            <a:r>
              <a:rPr sz="1100" b="0" i="0" u="none" strike="noStrike">
                <a:solidFill>
                  <a:srgbClr val="14313A"/>
                </a:solidFill>
                <a:latin typeface="Poppins"/>
              </a:rPr>
              <a:t>Alquiler mensual por nivel, miles de Gs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Alquiler mensual (miles de Gs)</c:v>
                </c:pt>
              </c:strCache>
            </c:strRef>
          </c:tx>
          <c:spPr>
            <a:solidFill>
              <a:srgbClr val="14313A"/>
            </a:solidFill>
            <a:effectLst/>
          </c:spPr>
          <c:invertIfNegative val="0"/>
          <c:dLbls>
            <c:numFmt formatCode="#\.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31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3.er piso</c:v>
                  </c:pt>
                  <c:pt idx="1">
                    <c:v>2.º piso</c:v>
                  </c:pt>
                  <c:pt idx="2">
                    <c:v>1.er piso</c:v>
                  </c:pt>
                  <c:pt idx="3">
                    <c:v>P. baja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5300</c:v>
                </c:pt>
                <c:pt idx="1">
                  <c:v>7350</c:v>
                </c:pt>
                <c:pt idx="2">
                  <c:v>2900</c:v>
                </c:pt>
                <c:pt idx="3">
                  <c:v>4000</c:v>
                </c:pt>
              </c:numCache>
            </c:numRef>
          </c:val>
        </c:ser>
        <c:dLbls>
          <c:numFmt formatCode="#\.##0" sourceLinked="0"/>
          <c:txPr>
            <a:bodyPr/>
            <a:lstStyle/>
            <a:p>
              <a:pPr>
                <a:defRPr b="0" i="0" strike="noStrike" sz="1000" u="none">
                  <a:solidFill>
                    <a:srgbClr val="1431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Conservador</c:v>
                </c:pt>
              </c:strCache>
            </c:strRef>
          </c:tx>
          <c:spPr>
            <a:solidFill>
              <a:srgbClr val="6B6154"/>
            </a:solidFill>
            <a:ln w="31750" cap="flat">
              <a:solidFill>
                <a:srgbClr val="6B61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B6154"/>
              </a:solidFill>
              <a:ln w="9525" cap="flat">
                <a:solidFill>
                  <a:srgbClr val="6B61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28034</c:v>
                </c:pt>
                <c:pt idx="1">
                  <c:v>28907</c:v>
                </c:pt>
                <c:pt idx="2">
                  <c:v>29807</c:v>
                </c:pt>
                <c:pt idx="3">
                  <c:v>30734</c:v>
                </c:pt>
                <c:pt idx="4">
                  <c:v>31688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4313A"/>
            </a:solidFill>
            <a:ln w="31750" cap="flat">
              <a:solidFill>
                <a:srgbClr val="1431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4313A"/>
              </a:solidFill>
              <a:ln w="9525" cap="flat">
                <a:solidFill>
                  <a:srgbClr val="1431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28034</c:v>
                </c:pt>
                <c:pt idx="1">
                  <c:v>29490</c:v>
                </c:pt>
                <c:pt idx="2">
                  <c:v>31018</c:v>
                </c:pt>
                <c:pt idx="3">
                  <c:v>32623</c:v>
                </c:pt>
                <c:pt idx="4">
                  <c:v>34308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Optimista</c:v>
                </c:pt>
              </c:strCache>
            </c:strRef>
          </c:tx>
          <c:spPr>
            <a:solidFill>
              <a:srgbClr val="8B3323"/>
            </a:solidFill>
            <a:ln w="31750" cap="flat">
              <a:solidFill>
                <a:srgbClr val="8B332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B3323"/>
              </a:solidFill>
              <a:ln w="9525" cap="flat">
                <a:solidFill>
                  <a:srgbClr val="8B332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28034</c:v>
                </c:pt>
                <c:pt idx="1">
                  <c:v>30363</c:v>
                </c:pt>
                <c:pt idx="2">
                  <c:v>32878</c:v>
                </c:pt>
                <c:pt idx="3">
                  <c:v>35595</c:v>
                </c:pt>
                <c:pt idx="4">
                  <c:v>38529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000"/>
        </c:scaling>
        <c:delete val="0"/>
        <c:axPos val="l"/>
        <c:majorGridlines>
          <c:spPr>
            <a:ln w="6350" cap="flat">
              <a:solidFill>
                <a:srgbClr val="DAD2C0"/>
              </a:solidFill>
              <a:prstDash val="solid"/>
              <a:round/>
            </a:ln>
          </c:spPr>
        </c:majorGridlines>
        <c:numFmt formatCode="&quot;USD &quot;#\.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4313A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Foto: fachada frontal del edificio (recorte proporcional, sin deformación). Fuentes: detalle de alquileres y planilla del propietario (verificados 03/10/2026); superficies informadas por el founder (10/10/2026);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Neta final = después de IVA (5% dptos / 10% local y cocheras), vacancia 3%, administración 8%, mantenimiento 5%, gastos fijos USD 1.200 e IRE 10% estimado. Fuentes: detalle de alquileres y planilla del propietario (verificados 03/10/2026); superficies informadas por el founder (10/10/2026);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Distancias calculadas con build_edificio_ciudad_nueva_ubicacion.py sobre Overture Maps release 2026-09-23.1 (OSM): Eusebio Ayala 86 m, Rodríguez de Francia / Próceres de Mayo 320 m, Silvio Pettirossi 365 m, punto 'Mercado 4 de Asuncion' 477 m. Punto de referencia: -25.299977, -57.61909. El círculo del mapa marca el punto de referencia del Mercado 4, no su perímetro.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Reseña para inversores extranjeros. Vacancia baja: criterio del founder (zona de alto tránsito y demanda), modelada al 3%. No se citan cifras de visitantes exactas por no tener una fuente primaria verificada.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Superficies: founder 10/10/2026 (11 × 31 = 341 m²; se usa la superficie informada de 340 m²). Costo USD 650/m²: edificio de departamentos, calidad básica (knowledge-base/investment/market-intelligence/construction-costs/06-costos-de-construccion.md). Comparable: InfoCasas Ref #GB49D6, consulta 10/10/2026, precio de oferta sin superficie publicada. Precio/m² construido 306.58; costo de reposición 720850; precio/reposición 47.2%.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Montos del detalle de alquileres; USD al TC del día (Gs 5.694,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Fotos del edificio sin edición ni recorte (proporción del marco = proporción de la foto). El contorno rojo de la vista aérea es de la fuente. La fachada frontal está en la portada.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Fotos del edificio sin edición ni recorte. No se atribuyen a un piso o unidad.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alquileres verificado (founder 03/10/2026). Sin datos de inquilinos.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Método del motor de Meridiano (calculadora.py): cada concepto como % del bruto. IVA efectivo 5,49%. Gastos fijos USD 1.200 de la planilla verificada. Obras mayores (impermeabilización, fachada) no incluidas en el 5% de mantenimiento: se presupuestan tras la inspección técnica. Tipo de cambio: Gs 5.694 por USD (BCP, cierre interbancario del 09/10/2026).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Bruta 12.1180%; antes de IRE 9.1614%; neta final 8.2453%. Con el TC de la planilla original (Gs 6.100) la bruta era 11,31%: se reemplaza por el TC del día según la regla del founder.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 de alquileres en Gs: conservador 3% (bajo la inflación; IPC usado para el ajuste fiscal 2026: 4,1%), base 5%, optimista 8% (convergencia hacia avisos). Avisos: InfoCasas, consulta 03/10/2026, categoría C (avisos, no contratos; incluyen unidades más nuevas). Netos: Conservador 28034/28907/29807/30734/31688; Base 28034/29490/31018/32623/34308; Optimista 28034/30363/32878/35595/38529.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Valorización anual en USD: 2% / 3,5% / 5%. IVA de venta 1,5% efectivo (D-082/D-083). TIR con flujos: -precio en año 0, renta neta años 1-5 y venta neta de IVA en año 5. Ganancia total = plusvalía − IVA de venta + renta neta acumulada.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 de cambio: Gs 5.694 por USD (BCP, cierre interbancario del 09/10/2026). Forma de pago y plazos: a acordar.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Proceso de acompañamiento de Meridiano (captar → estructurar → invertir → administrar). No se afirman situación registral ni estado estructural: se verifican en los pasos 1 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Riesgos generales del tipo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Retrato aprobado de Juan José Castillo (D-099: siempre en el cierre). Firma según el pedido del founder. Contacto: 09-cierres-y-firmas.md.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maps/search/?api=1&amp;query=-25.299977,-57.61909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2-1.png"/><Relationship Id="rId3" Type="http://schemas.openxmlformats.org/officeDocument/2006/relationships/image" Target="../media/image-12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chada frontal del edificio">    </p:cNvPr>
          <p:cNvPicPr>
            <a:picLocks noChangeAspect="1"/>
          </p:cNvPicPr>
          <p:nvPr/>
        </p:nvPicPr>
        <p:blipFill>
          <a:blip r:embed="rId1"/>
          <a:srcRect l="0" r="0" t="5640" b="6894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331720" cy="75917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DE RENTA EN VENTA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87168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Ciudad Nueva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Marzo c/ Mayor Bullo  ·  Ciudad Nueva, Asunción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7548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669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3200400" y="47548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1.109 m²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3200400" y="52669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 sobre 340 m² de terreno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09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 en 1990  ·  Datos con verificación documental  ·  TC Gs 5.694 (BCP, 09/10/2026)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DEL INMUEBLE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de renta con 13 departamentos y un local comercial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construido en 1990, en operación y 100% alquilado, a una cuadra de la Av. Eusebio Ayala y a pocos minutos a pie del Mercado 4, el principal polo comercial minorista del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1.109 m²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construida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340 m²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 de 11 × 31 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15400" y="249631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15400" y="26060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· 6 · 1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Dptos. de 1, 2 y 3 dorm. + 1 local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Gs 19.550.000</a:t>
            </a:r>
            <a:endParaRPr lang="en-US" sz="2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 mensual  ·  USD 3.433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3756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12,12%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sobre precio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2648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2648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8,25%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neta final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15400" y="3959352"/>
            <a:ext cx="256032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15400" y="40690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11,7%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4526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TIR estimada a 5 años (base)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4415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553212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Ocupación: 100% alquilado  ·  Datos informados con verificación documental  ·  Tipo de cambio Gs 5.694 por USD (BCP, 09/10/2026)</a:t>
            </a:r>
            <a:endParaRPr lang="en-US" sz="1100" dirty="0"/>
          </a:p>
        </p:txBody>
      </p:sp>
      <p:pic>
        <p:nvPicPr>
          <p:cNvPr id="31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Una cuadra de Eusebio Ayala, cerca del Mercado 4</a:t>
            </a:r>
            <a:endParaRPr lang="en-US" sz="3000" dirty="0"/>
          </a:p>
        </p:txBody>
      </p:sp>
      <p:pic>
        <p:nvPicPr>
          <p:cNvPr id="4" name="Image 0" descr="Mapa de ubicación del edificio (OpenStreetMa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172891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5172891" cy="4526280"/>
          </a:xfrm>
          <a:prstGeom prst="rect">
            <a:avLst/>
          </a:prstGeom>
          <a:ln w="9525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33011" y="1783080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33011" y="1901952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AV. EUSEBIO AYALA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133011" y="2176272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m por calle  ·  una cuadra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33011" y="2715768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33011" y="2834640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AV. RODRÍGUEZ DE FRANCIA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133011" y="3108960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320 m por calle  ·  unas tres cuadras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33011" y="3648456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33011" y="3767328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4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133011" y="4041648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480 m por calle hasta su punto de referencia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33011" y="4599432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33011" y="4709160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Dirección: 9 de Marzo c/ Mayor Bullo, barrio Ciudad Nueva, Asunción.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133011" y="5230368"/>
            <a:ext cx="5510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en Google Maps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33011" y="5559552"/>
            <a:ext cx="55100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Distancias por la red de calles, medidas desde la intersección de 9 de Marzo y Mayor Bullo. Cartografía: © OpenStreetMap contributors · Overture Maps.</a:t>
            </a:r>
            <a:endParaRPr lang="en-US" sz="950" dirty="0"/>
          </a:p>
        </p:txBody>
      </p:sp>
      <p:pic>
        <p:nvPicPr>
          <p:cNvPr id="19" name="Image 1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 PARA EL INVERSOR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Mercado 4: el corazón comercial de Asunción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Mercado Municipal N.º 4 funciona desde 1942 y es el principal polo comercial minorista del Paraguay. Concentra miles de comercios de alimentos, indumentaria, tecnología y servicios, y recibe a diario a decenas de miles de compradores de toda el área metropolitana.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 alrededor se formó un barrio de trabajo intenso: comerciantes, empleados y proveedores que buscan vivir cerca para evitar traslados largos. La Av. Eusebio Ayala, a una cuadra del edificio, es uno de los grandes ejes de transporte público hacia el este del área metropolitana.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783080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QUÉ IMPORTA LA CERCANÍA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23042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234086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constante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69748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Unidades de 1 y 2 dormitorios buscadas por quienes trabajan en el comercio y los servicios de la zona.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338328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3493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52958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Vacancia muy baja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88620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alto tránsito y la demanda sostenida hacen que las unidades se vuelvan a alquilar rápido. El análisis usa una vacancia de solo 3%.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457200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46817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71830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del local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507492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flujo peatonal y vehicular de la zona sostiene la demanda de locales comerciales en planta baja.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Fuentes: Municipalidad de Asunción (Mercado Municipal N.º 4, 84 años como principal polo comercial minorista del país); prensa local para el flujo diario de compradores.</a:t>
            </a:r>
            <a:endParaRPr lang="en-US" sz="950" dirty="0"/>
          </a:p>
        </p:txBody>
      </p:sp>
      <p:pic>
        <p:nvPicPr>
          <p:cNvPr id="1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SUPERFICIES Y VALOR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340 m² de terreno y 1.109 m² construidos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51560" y="1874520"/>
            <a:ext cx="1330305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31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5696712"/>
            <a:ext cx="2061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m de frente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473305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m de fondo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20440"/>
            <a:ext cx="133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340 m²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0" y="185623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965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1.109 m²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441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construida  ·  3,3 veces el terreno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0" y="185623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1965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1990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441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Año de construcción  ·  36 años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0" y="309067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307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m² construido, terreno incluido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09067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720.850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construir hoy 1.109 m² (USD 650/m², sin terreno)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0" y="432511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0" y="44348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47%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9103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frente a ese costo de construcción nueva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80960" y="4325112"/>
            <a:ext cx="37490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44348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24.286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49103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unidad de renta (14 unidades)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5623560"/>
            <a:ext cx="7985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del barrio: un edificio de 9 unidades en Ciudad Nueva se publica en USD 650.000 (unos USD 72.222 por unidad). Valores de referencia, no tasación: el costo de construcción nueva no descuenta los 36 años del edificio ni su estado de conservación.</a:t>
            </a:r>
            <a:endParaRPr lang="en-US" sz="950" dirty="0"/>
          </a:p>
        </p:txBody>
      </p:sp>
      <p:pic>
        <p:nvPicPr>
          <p:cNvPr id="2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DISTRIBUCIÓN DE LAS UNIDADES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Cuatro niveles de departamentos más terraza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086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34640"/>
                <a:gridCol w="1600200"/>
                <a:gridCol w="1325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Composición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por mes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× 2 dorm.  ·  2 × 1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5.300.000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931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 × 2 dorm.  ·  1 × 1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7.350.000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1.291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× 1 dorm.  ·  1 × 3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2.900.000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509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× 1 dorm.  ·  cochera  ·  cochera y depto.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4.000.000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702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 departamentos, local y cocheras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19.550.000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3.433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8001000" y="1691640"/>
          <a:ext cx="364205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amplia en el cuarto nivel, con vistas abiertas sobre la ciudad. Composición y montos según el detalle de alquileres verificado.</a:t>
            </a:r>
            <a:endParaRPr lang="en-US" sz="1100" dirty="0"/>
          </a:p>
        </p:txBody>
      </p:sp>
      <p:pic>
        <p:nvPicPr>
          <p:cNvPr id="7" name="Image 0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FOTOGRÁFICO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y acceso</a:t>
            </a:r>
            <a:endParaRPr lang="en-US" sz="3000" dirty="0"/>
          </a:p>
        </p:txBody>
      </p:sp>
      <p:pic>
        <p:nvPicPr>
          <p:cNvPr id="4" name="Image 0" descr="Vista aérea del edificio y su entorn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35278" y="1783080"/>
            <a:ext cx="58978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5278" y="5824728"/>
            <a:ext cx="589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Vista aérea del edificio y su entorno</a:t>
            </a:r>
            <a:endParaRPr lang="en-US" sz="1200" dirty="0"/>
          </a:p>
        </p:txBody>
      </p:sp>
      <p:pic>
        <p:nvPicPr>
          <p:cNvPr id="6" name="Image 1" descr="Acceso principal">    </p:cNvPr>
          <p:cNvPicPr>
            <a:picLocks noChangeAspect="1"/>
          </p:cNvPicPr>
          <p:nvPr/>
        </p:nvPicPr>
        <p:blipFill>
          <a:blip r:embed="rId2"/>
          <a:srcRect l="15" r="15" t="0" b="0"/>
          <a:stretch/>
        </p:blipFill>
        <p:spPr>
          <a:xfrm>
            <a:off x="7707478" y="1783080"/>
            <a:ext cx="2948940" cy="3931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07478" y="5824728"/>
            <a:ext cx="2948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 principal</a:t>
            </a:r>
            <a:endParaRPr lang="en-US" sz="1200" dirty="0"/>
          </a:p>
        </p:txBody>
      </p:sp>
      <p:pic>
        <p:nvPicPr>
          <p:cNvPr id="8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FOTOGRÁFICO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Circulación común y terraza</a:t>
            </a:r>
            <a:endParaRPr lang="en-US" sz="3000" dirty="0"/>
          </a:p>
        </p:txBody>
      </p:sp>
      <p:pic>
        <p:nvPicPr>
          <p:cNvPr id="4" name="Image 0" descr="Terraza superi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69568" y="1783080"/>
            <a:ext cx="58978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69568" y="5824728"/>
            <a:ext cx="589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superior con vistas abiertas sobre la ciudad</a:t>
            </a:r>
            <a:endParaRPr lang="en-US" sz="1200" dirty="0"/>
          </a:p>
        </p:txBody>
      </p:sp>
      <p:pic>
        <p:nvPicPr>
          <p:cNvPr id="6" name="Image 1" descr="Escalera y circulación común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41768" y="1783080"/>
            <a:ext cx="2880360" cy="1920240"/>
          </a:xfrm>
          <a:prstGeom prst="rect">
            <a:avLst/>
          </a:prstGeom>
        </p:spPr>
      </p:pic>
      <p:pic>
        <p:nvPicPr>
          <p:cNvPr id="7" name="Image 2" descr="Escalera, vista hacia el lucernario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41768" y="3794760"/>
            <a:ext cx="28803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41768" y="58247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Escalera y circulación común</a:t>
            </a:r>
            <a:endParaRPr lang="en-US" sz="1200" dirty="0"/>
          </a:p>
        </p:txBody>
      </p:sp>
      <p:pic>
        <p:nvPicPr>
          <p:cNvPr id="9" name="Image 3" descr="Isotipo Meridiano Capital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ALQUILERES VIGENTES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Ingreso mensual: Gs 19.550.000  ·  USD 3.433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83080"/>
                <a:gridCol w="13258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1.100.000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193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1.600.000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281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263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1.250.000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83080"/>
                <a:gridCol w="13258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1.300.000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228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1.600.000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281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900.000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158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Cochera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700.000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Cochera y departamento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15 conceptos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19.550.000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3.433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172200" y="48463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Montos en guaraníes según los contratos vigentes; equivalente en dólares al tipo de cambio del día: Gs 5.694 por USD (BCP, cierre interbancario del 09/10/2026).</a:t>
            </a:r>
            <a:endParaRPr lang="en-US" sz="1050" dirty="0"/>
          </a:p>
        </p:txBody>
      </p:sp>
      <p:pic>
        <p:nvPicPr>
          <p:cNvPr id="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Y EGRESOS ANUALES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ingreso bruto al resultado neto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8580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25880"/>
                <a:gridCol w="1691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% del bruto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por año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 bruto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100%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41.201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IVA (5% dptos. · 10% local y cocheras)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5,5%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2.260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Vacancia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1.236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Administración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8,0%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3.296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Mantenimiento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2.060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Gastos fijos del edificio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2,9%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1.200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Resultado antes de impuesto a la renta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75,6%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31.149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Impuesto a la renta estimado (IRE 10%)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7,6%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3.115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Resultado neto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68,0%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28.034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737360"/>
            <a:ext cx="3916375" cy="4297680"/>
          </a:xfrm>
          <a:prstGeom prst="rect">
            <a:avLst/>
          </a:prstGeom>
          <a:solidFill>
            <a:srgbClr val="F3EDE3"/>
          </a:solidFill>
          <a:ln w="9525">
            <a:solidFill>
              <a:srgbClr val="DAD2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CRITERIOS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860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IVA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56032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 departamentos; 10% local y cocheras.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301752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Vacancia 3%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29184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Zona de alto tránsito y demanda: rotación rápida.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74904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 8%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02336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Cobranza, contratos e inquilinos.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4805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Mantenimiento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75488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Reparaciones menores y recambios entre inquilinos.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2120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Impuesto a la renta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548640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estimado si se compra por sociedad; el contador define la base real.</a:t>
            </a:r>
            <a:endParaRPr lang="en-US" sz="1000" dirty="0"/>
          </a:p>
        </p:txBody>
      </p:sp>
      <p:pic>
        <p:nvPicPr>
          <p:cNvPr id="1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Indicadores sobre el precio de venta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12,12%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41.201 de ingreso bruto anual ÷ USD 340.000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12064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7220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8,25%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3108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neta final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28.034 de resultado neto ÷ USD 340.000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9,16%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18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 antes de impuesto a la renta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2062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8,3 veces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718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÷ ingreso bruto anual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416052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3EDE3">
                    <a:alpha val="9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leer estas cifras.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3EDE3">
                    <a:alpha val="9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neta final descuenta IVA, vacancia, administración, mantenimiento, gastos fijos e impuesto a la renta estimado. El denominador es el precio de venta, sin gastos de adquisición. Tipo de cambio: Gs 5.694 por USD (BCP, cierre interbancario del 09/10/2026). Cifras de referencia, no garantizadas.</a:t>
            </a:r>
            <a:endParaRPr lang="en-US" sz="1050" dirty="0"/>
          </a:p>
        </p:txBody>
      </p:sp>
      <p:pic>
        <p:nvPicPr>
          <p:cNvPr id="1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PROYECCIÓN DE ALQUILER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 neto anual proyectado a cinco años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783080"/>
          <a:ext cx="4053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  <a:gridCol w="12618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Escenario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Alquileres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Neto año 5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Conservador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+3,0%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31.688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+5,0%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34.308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Optimista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+8,0%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38.529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3703320"/>
            <a:ext cx="4053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de ajuste.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Hoy el promedio es Gs 1.158.333 en 1 dormitorio y Gs 1.516.667 en 2 dormitorios. Los avisos publicados hoy en Ciudad Nueva van de Gs 3,0 a 3,2 millones (1 dorm.) y de Gs 2,1 a 6,3 millones (2 dorm.): hay espacio para ajustar en cada renovación, según el estado de cada unidad.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Proyección ilustrativa en USD al tipo de cambio del día constante; no garantizada.</a:t>
            </a:r>
            <a:endParaRPr lang="en-US" sz="950" dirty="0"/>
          </a:p>
        </p:txBody>
      </p:sp>
      <p:pic>
        <p:nvPicPr>
          <p:cNvPr id="8" name="Image 0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Y RETORNO TOTAL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Escenarios a cinco años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4980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508760"/>
                <a:gridCol w="150876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Conservador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Optimista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Valorización anual supuesta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2,0%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3,5%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5,0%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 estimado al año 5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375.387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403.813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433.936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Plusvalía estimada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35.387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63.813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93.936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IVA de la venta futura (1,5%)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5.631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6.057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6.509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Renta neta acumulada 5 años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149.170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155.473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165.400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Ganancia total estimada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178.926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213.229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252.826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TIR estimada a 5 años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10,2%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11,7%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13,5%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737360"/>
            <a:ext cx="3230575" cy="365760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0" y="2011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7797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TIR estimada, escenario base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918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 a USD 340.000, cinco años de renta neta creciente y venta al valor estimado del año 5.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Punto de partida: el precio equivale al 47% del costo de construir hoy la misma superficie, sin contar el terreno.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Escenarios hipotéticos: no constituyen garantía de plusvalía ni de rentabilidad. No incluyen gastos de adquisición ni comisión de venta. El valor futuro depende del mercado, del estado del edificio y de su ocupación al vender.</a:t>
            </a:r>
            <a:endParaRPr lang="en-US" sz="950" dirty="0"/>
          </a:p>
        </p:txBody>
      </p:sp>
      <p:pic>
        <p:nvPicPr>
          <p:cNvPr id="11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Y CONDICIONES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del edificio completo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754880" cy="420624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90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4400" y="3429000"/>
            <a:ext cx="402336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611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construido en 1990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023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en dólares estadounidenses. Alquileres cobrados en guaraníes.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5074920"/>
            <a:ext cx="402336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212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12,12% bruta  ·  8,25% neta final  ·  USD 2.336 netos por 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190195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17627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departamentos y 1 local comercial, más terraza. 1.109 m² construidos en 1990 sobre 340 m² de terreno.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283464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295351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OCUPACIÓN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322783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alquilado. Datos informados con verificación documental.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760720" y="388620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400507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427939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Gs 19.550.000 por mes  ·  USD 41.201 por año al tipo de cambio del día.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60720" y="493776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505663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 Y ENTREGA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533095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acordar en la negociación y el boleto de compraventa.</a:t>
            </a:r>
            <a:endParaRPr lang="en-US" sz="1300" dirty="0"/>
          </a:p>
        </p:txBody>
      </p:sp>
      <p:pic>
        <p:nvPicPr>
          <p:cNvPr id="24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PROCESO DE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avanzamos, paso 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Visita al edificio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de las unidades, el local y la terraza, con inspección técnica de estructura, instalaciones e impermeabilización.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5196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Oferta y reserva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precio y forma de pago; reserva con documentación de respaldo.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5528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Revisión notarial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Título, informe de condiciones de dominio e impuesto inmobiliario al día, a cargo del escribano.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 fiscal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 a nombre propio o por sociedad (S.A.), IVA e impuesto a la renta, con el contador.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5196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Boleto y escritura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Firma del boleto de compraventa y escritura pública ante el escribano.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528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Traspaso de los contratos vigentes y administración del edificio, si el inversor lo desea.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inversores del exterior acompañamos también la cédula de identidad paraguaya y la apertura de cuenta bancaria. Las tareas legales, notariales y contables las realizan el abogado, el escribano y el contador; Meridiano Capital coordina y acompaña.</a:t>
            </a:r>
            <a:endParaRPr lang="en-US" sz="1050" dirty="0"/>
          </a:p>
        </p:txBody>
      </p:sp>
      <p:pic>
        <p:nvPicPr>
          <p:cNvPr id="2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Riesgos a evaluar en un edificio de renta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Rotación de inquilinos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47672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vacancia de la zona es baja, pero no es cero: hay renovaciones, renegociaciones y meses de recambio.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551176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157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 de cambio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15768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alquileres se cobran en guaraníes y el precio está en dólares. En las últimas semanas el dólar bajó frente al guaraní; si la tendencia se revierte, la renta en USD baja.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83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Costos de operación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83864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de 1990 con 13 unidades requiere mantenimiento continuo; la inspección técnica define si conviene actualizar instalaciones o impermeabilización.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Impuestos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251960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impuesto a la renta depende de la estructura de compra y lo determina el contador.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55464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200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de reventa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020056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plusvalía presentada son escenarios: el valor futuro depende del mercado y del estado del activo.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 referencia, no garantizadas. Se recomienda evaluar la operación con asesoría propia.</a:t>
            </a:r>
            <a:endParaRPr lang="en-US" sz="1050" dirty="0"/>
          </a:p>
        </p:txBody>
      </p:sp>
      <p:pic>
        <p:nvPicPr>
          <p:cNvPr id="20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Juan José Castillo">    </p:cNvPr>
          <p:cNvPicPr>
            <a:picLocks noChangeAspect="1"/>
          </p:cNvPicPr>
          <p:nvPr/>
        </p:nvPicPr>
        <p:blipFill>
          <a:blip r:embed="rId1"/>
          <a:srcRect l="2170" r="217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194560" cy="7145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6459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Coordinemos su visita al edificio</a:t>
            </a:r>
            <a:endParaRPr lang="en-US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2004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3EDE3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presentamos los contratos, el detalle de ingresos y la documentación del inmueble, y lo acompañamos en cada paso de la compra.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4114800"/>
            <a:ext cx="6720840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26110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Lic. Juan José Castillo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1830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Broker Inmobiliario  |  Meridiano Capital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·  juancastillo@meridianocapital.net  ·  www.meridianocapital.net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046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comercial de referencia. Precio y condiciones sujetos a confirmación y disponibilidad; las condiciones definitivas se formalizan en el boleto de compraventa. No constituye una garantía de rentabilidad.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8B3323"/>
      </a:hlink>
      <a:folHlink>
        <a:srgbClr val="6B615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Meridiano Capital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Edificio Ciudad Nueva — Edificio de renta en venta</dc:title>
  <dc:subject>Presentación para inversores</dc:subject>
  <dc:creator>Meridiano Capital</dc:creator>
  <cp:lastModifiedBy>Meridiano Capital</cp:lastModifiedBy>
  <cp:revision>1</cp:revision>
  <dcterms:created xsi:type="dcterms:W3CDTF">2026-10-10T16:03:24Z</dcterms:created>
  <dcterms:modified xsi:type="dcterms:W3CDTF">2026-10-10T16:03:24Z</dcterms:modified>
</cp:coreProperties>
</file>