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4313A"/>
                </a:solidFill>
                <a:latin typeface="Poppins"/>
              </a:defRPr>
            </a:pPr>
            <a:r>
              <a:rPr sz="1100" b="0" i="0" u="none" strike="noStrike">
                <a:solidFill>
                  <a:srgbClr val="14313A"/>
                </a:solidFill>
                <a:latin typeface="Poppins"/>
              </a:rPr>
              <a:t>Alquiler mensual por nivel, miles de Gs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Alquiler mensual (miles de Gs)</c:v>
                </c:pt>
              </c:strCache>
            </c:strRef>
          </c:tx>
          <c:spPr>
            <a:solidFill>
              <a:srgbClr val="14313A"/>
            </a:solidFill>
            <a:effectLst/>
          </c:spPr>
          <c:invertIfNegative val="0"/>
          <c:dLbls>
            <c:numFmt formatCode="#\.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31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3.er piso</c:v>
                  </c:pt>
                  <c:pt idx="1">
                    <c:v>2.º piso</c:v>
                  </c:pt>
                  <c:pt idx="2">
                    <c:v>1.er piso</c:v>
                  </c:pt>
                  <c:pt idx="3">
                    <c:v>P. baja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5300</c:v>
                </c:pt>
                <c:pt idx="1">
                  <c:v>7350</c:v>
                </c:pt>
                <c:pt idx="2">
                  <c:v>2900</c:v>
                </c:pt>
                <c:pt idx="3">
                  <c:v>4000</c:v>
                </c:pt>
              </c:numCache>
            </c:numRef>
          </c:val>
        </c:ser>
        <c:dLbls>
          <c:numFmt formatCode="#\.##0" sourceLinked="0"/>
          <c:txPr>
            <a:bodyPr/>
            <a:lstStyle/>
            <a:p>
              <a:pPr>
                <a:defRPr b="0" i="0" strike="noStrike" sz="1000" u="none">
                  <a:solidFill>
                    <a:srgbClr val="14313A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154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Conservador</c:v>
                </c:pt>
              </c:strCache>
            </c:strRef>
          </c:tx>
          <c:spPr>
            <a:solidFill>
              <a:srgbClr val="6B6154"/>
            </a:solidFill>
            <a:ln w="31750" cap="flat">
              <a:solidFill>
                <a:srgbClr val="6B61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6B6154"/>
              </a:solidFill>
              <a:ln w="9525" cap="flat">
                <a:solidFill>
                  <a:srgbClr val="6B61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27147</c:v>
                </c:pt>
                <c:pt idx="1">
                  <c:v>27993</c:v>
                </c:pt>
                <c:pt idx="2">
                  <c:v>28866</c:v>
                </c:pt>
                <c:pt idx="3">
                  <c:v>29764</c:v>
                </c:pt>
                <c:pt idx="4">
                  <c:v>30689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14313A"/>
            </a:solidFill>
            <a:ln w="31750" cap="flat">
              <a:solidFill>
                <a:srgbClr val="1431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4313A"/>
              </a:solidFill>
              <a:ln w="9525" cap="flat">
                <a:solidFill>
                  <a:srgbClr val="1431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27147</c:v>
                </c:pt>
                <c:pt idx="1">
                  <c:v>28558</c:v>
                </c:pt>
                <c:pt idx="2">
                  <c:v>30040</c:v>
                </c:pt>
                <c:pt idx="3">
                  <c:v>31596</c:v>
                </c:pt>
                <c:pt idx="4">
                  <c:v>33230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Optimista</c:v>
                </c:pt>
              </c:strCache>
            </c:strRef>
          </c:tx>
          <c:spPr>
            <a:solidFill>
              <a:srgbClr val="8B3323"/>
            </a:solidFill>
            <a:ln w="31750" cap="flat">
              <a:solidFill>
                <a:srgbClr val="8B332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B3323"/>
              </a:solidFill>
              <a:ln w="9525" cap="flat">
                <a:solidFill>
                  <a:srgbClr val="8B332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27147</c:v>
                </c:pt>
                <c:pt idx="1">
                  <c:v>29405</c:v>
                </c:pt>
                <c:pt idx="2">
                  <c:v>31843</c:v>
                </c:pt>
                <c:pt idx="3">
                  <c:v>34477</c:v>
                </c:pt>
                <c:pt idx="4">
                  <c:v>37322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154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25000"/>
        </c:scaling>
        <c:delete val="0"/>
        <c:axPos val="l"/>
        <c:majorGridlines>
          <c:spPr>
            <a:ln w="6350" cap="flat">
              <a:solidFill>
                <a:srgbClr val="DAD2C0"/>
              </a:solidFill>
              <a:prstDash val="solid"/>
              <a:round/>
            </a:ln>
          </c:spPr>
        </c:majorGridlines>
        <c:numFmt formatCode="&quot;USD &quot;#\.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154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4313A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Foto: vista aérea del edificio (sin recorte; el contorno rojo es de la fuente). Fuentes: detalle de alquileres y planilla del propietario (verificados 03/10/2026); Tipo de cambio: Gs 5.873 por USD (BCP, cierre interbancario del 02/10/2026).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Neta final = después de IVA (5% dptos / 10% local y cocheras), vacancia 3%, administración 8%, mantenimiento 5%, gastos fijos USD 1.200 e IRE 10% estimado. Fuentes: detalle de alquileres y planilla del propietario (verificados 03/10/2026); Tipo de cambio: Gs 5.873 por USD (BCP, cierre interbancario del 02/10/2026).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Distancias calculadas con build_edificio_ciudad_nueva_ubicacion.py sobre Overture Maps release 2026-09-23.1 (OSM): Eusebio Ayala 86 m, Rodríguez de Francia / Próceres de Mayo 320 m, Silvio Pettirossi 365 m, punto 'Mercado 4 de Asuncion' 477 m. Punto de referencia: -25.299977, -57.61909. El círculo del mapa marca el punto de referencia del Mercado 4, no su perímetro.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Reseña para inversores extranjeros. Vacancia baja: criterio del founder (zona de alto tránsito y demanda), modelada al 3%. No se citan cifras de visitantes exactas por no tener una fuente primaria verificada.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Montos del detalle de alquileres; USD al TC del día (Gs 5.873, 02/10/2026).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Fotos del edificio sin edición. La fachada y el volumen se ven en la vista aérea de la portada.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de alquileres verificado (founder 03/10/2026). Sin datos de inquilinos. Tipo de cambio: Gs 5.873 por USD (BCP, cierre interbancario del 02/10/2026).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Método del motor de Meridiano (calculadora.py): cada concepto como % del bruto. IVA efectivo 5,49%. Gastos fijos USD 1.200 de la planilla verificada. Obras mayores (impermeabilización, fachada) no incluidas en el 5% de mantenimiento: se presupuestan tras la inspección técnica. Tipo de cambio: Gs 5.873 por USD (BCP, cierre interbancario del 02/10/2026).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Bruta 11.7487%; antes de IRE 8.8714%; neta final 7.9843%. Con el TC de la planilla original (Gs 6.100) la bruta era 11,31%: se reemplaza por el TC del día según la regla del founder.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 de alquileres en Gs: conservador 3% (bajo la inflación; IPC usado para el ajuste fiscal 2026: 4,1%), base 5%, optimista 8% (convergencia hacia avisos). Avisos: InfoCasas, consulta 03/10/2026, categoría C (avisos, no contratos; incluyen unidades más nuevas). Netos: Conservador 27147/27993/28866/29764/30689; Base 27147/28558/30040/31596/33230; Optimista 27147/29405/31843/34477/37322.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Valorización anual en USD: 2% / 3,5% / 5%. IVA de venta 1,5% efectivo (D-082/D-083). TIR con flujos: -precio en año 0, renta neta años 1-5 y venta neta de IVA en año 5. Ganancia total = plusvalía − IVA de venta + renta neta acumulada.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Tipo de cambio: Gs 5.873 por USD (BCP, cierre interbancario del 02/10/2026). Forma de pago y plazos: a acordar.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Proceso de acompañamiento de Meridiano (captar → estructurar → invertir → administrar). No se afirman situación registral ni estado estructural: se verifican en los pasos 1 y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Riesgos generales del tipo de operación.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Retrato aprobado de Juan José Castillo (D-099: siempre en el cierre). Firma según el pedido del founder. Contacto: 09-cierres-y-firmas.md.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ogle.com/maps/search/?api=1&amp;query=-25.299977,-57.61909" TargetMode="External"/><Relationship Id="rId1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image" Target="../media/image-3-3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5-1.png"/><Relationship Id="rId3" Type="http://schemas.openxmlformats.org/officeDocument/2006/relationships/image" Target="../media/image-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0-1.png"/><Relationship Id="rId3" Type="http://schemas.openxmlformats.org/officeDocument/2006/relationships/image" Target="../media/image-10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ta aérea del edificio con su contorno marcado en roj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712062"/>
            <a:ext cx="5150815" cy="3433877"/>
          </a:xfrm>
          <a:prstGeom prst="rect">
            <a:avLst/>
          </a:prstGeom>
        </p:spPr>
      </p:pic>
      <p:pic>
        <p:nvPicPr>
          <p:cNvPr id="3" name="Image 1" descr="Meridiano Capita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548640"/>
            <a:ext cx="2331720" cy="75917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EDIFICIO DE RENTA EN VENTA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487168"/>
            <a:ext cx="5486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Ciudad Nueva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de Marzo c/ Mayor Bullo  ·  Ciudad Nueva, Asunción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75488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340.000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6694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venta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3200400" y="475488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11,75%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3200400" y="526694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 bruta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3093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DE3">
                    <a:alpha val="6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Datos informados con verificación documental  ·  TC Gs 5.873 (BCP, 02/10/2026)  ·  WEB ID 143028006-118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RESUMEN DEL INMUEBLE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de renta con 13 departamentos y un local comercial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Activo en operación, 100% alquilado, a una cuadra de la Av. Eusebio Ayala y a pocos minutos a pie del Mercado 4, el principal polo comercial minorista del país.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496312"/>
            <a:ext cx="338328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606040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340.000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venta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51960" y="2496312"/>
            <a:ext cx="338328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51960" y="2606040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 · 6 · 1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4251960" y="3154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Dptos. de 1, 2 y 3 dormitorios + 1 local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955280" y="2496312"/>
            <a:ext cx="338328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55280" y="2606040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Gs 19.550.000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3154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 mensual  ·  USD 3.329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959352"/>
            <a:ext cx="338328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069080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11,75%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617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 bruta sobre precio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51960" y="3959352"/>
            <a:ext cx="338328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51960" y="4069080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7,98%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4251960" y="4617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 neta final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955280" y="3959352"/>
            <a:ext cx="338328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0" y="4069080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11,5%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4617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TIR estimada a 5 años (escenario base)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532120"/>
            <a:ext cx="11094415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AD2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5532120"/>
            <a:ext cx="10728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Ocupación: 100% alquilado  ·  Datos informados con verificación documental  ·  Tipo de cambio Gs 5.873 por USD (BCP, 02/10/2026)</a:t>
            </a:r>
            <a:endParaRPr lang="en-US" sz="1100" dirty="0"/>
          </a:p>
        </p:txBody>
      </p:sp>
      <p:pic>
        <p:nvPicPr>
          <p:cNvPr id="25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UBICACIÓN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Una cuadra de Eusebio Ayala, cerca del Mercado 4</a:t>
            </a:r>
            <a:endParaRPr lang="en-US" sz="3000" dirty="0"/>
          </a:p>
        </p:txBody>
      </p:sp>
      <p:pic>
        <p:nvPicPr>
          <p:cNvPr id="4" name="Image 0" descr="Mapa de ubicación del edificio (OpenStreetMap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172891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91640"/>
            <a:ext cx="5172891" cy="4526280"/>
          </a:xfrm>
          <a:prstGeom prst="rect">
            <a:avLst/>
          </a:prstGeom>
          <a:ln w="9525">
            <a:solidFill>
              <a:srgbClr val="DAD2C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33011" y="1783080"/>
            <a:ext cx="5510044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133011" y="1901952"/>
            <a:ext cx="55100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AV. EUSEBIO AYALA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133011" y="2176272"/>
            <a:ext cx="5510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 m por calle  ·  una cuadra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33011" y="2715768"/>
            <a:ext cx="5510044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33011" y="2834640"/>
            <a:ext cx="55100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AV. RODRÍGUEZ DE FRANCIA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133011" y="3108960"/>
            <a:ext cx="5510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320 m por calle  ·  unas tres cuadras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133011" y="3648456"/>
            <a:ext cx="5510044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133011" y="3767328"/>
            <a:ext cx="55100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MERCADO 4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133011" y="4041648"/>
            <a:ext cx="5510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480 m por calle hasta su punto de referencia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33011" y="4599432"/>
            <a:ext cx="5510044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33011" y="4709160"/>
            <a:ext cx="55100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Dirección: 9 de Marzo c/ Mayor Bullo, barrio Ciudad Nueva, Asunción.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133011" y="5230368"/>
            <a:ext cx="5510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Abrir en Google Maps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133011" y="5559552"/>
            <a:ext cx="55100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Distancias por la red de calles, medidas desde la intersección de 9 de Marzo y Mayor Bullo. Cartografía: © OpenStreetMap contributors · Overture Maps.</a:t>
            </a:r>
            <a:endParaRPr lang="en-US" sz="950" dirty="0"/>
          </a:p>
        </p:txBody>
      </p:sp>
      <p:pic>
        <p:nvPicPr>
          <p:cNvPr id="19" name="Image 1" descr="Isotipo Meridiano Capital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ZONA PARA EL INVERSOR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Mercado 4: el corazón comercial de Asunción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212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Mercado Municipal N.º 4 funciona desde 1942 y es el principal polo comercial minorista del Paraguay. Concentra miles de comercios de alimentos, indumentaria, tecnología y servicios, y recibe a diario a decenas de miles de compradores de toda el área metropolitana.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6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 alrededor se formó un barrio de trabajo intenso: comerciantes, empleados y proveedores que buscan vivir cerca para evitar traslados largos. La Av. Eusebio Ayala, a una cuadra del edificio, es uno de los grandes ejes de transporte público hacia el este del área metropolitana.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783080"/>
            <a:ext cx="5242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QUÉ IMPORTA LA CERCANÍA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24225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230428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040880" y="2340864"/>
            <a:ext cx="4602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Demanda constante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697480"/>
            <a:ext cx="4602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Unidades de 1 y 2 dormitorios buscadas por quienes trabajan en el comercio y los servicios de la zona.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3383280"/>
            <a:ext cx="524225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349300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3529584"/>
            <a:ext cx="4602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Vacancia muy baja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3886200"/>
            <a:ext cx="4602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alto tránsito y la demanda sostenida hacen que las unidades se vuelvan a alquilar rápido. El análisis usa una vacancia de solo 3%.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4572000"/>
            <a:ext cx="524225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468172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4718304"/>
            <a:ext cx="4602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del local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5074920"/>
            <a:ext cx="46021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flujo peatonal y vehicular de la zona sostiene la demanda de locales comerciales en planta baja.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Fuentes: Municipalidad de Asunción (Mercado Municipal N.º 4, 84 años como principal polo comercial minorista del país); prensa local para el flujo diario de compradores.</a:t>
            </a:r>
            <a:endParaRPr lang="en-US" sz="950" dirty="0"/>
          </a:p>
        </p:txBody>
      </p:sp>
      <p:pic>
        <p:nvPicPr>
          <p:cNvPr id="19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DISTRIBUCIÓN DE LAS UNIDADES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Cuatro niveles de departamentos más terraza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70866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834640"/>
                <a:gridCol w="1600200"/>
                <a:gridCol w="132588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Nivel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Composición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por mes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por mes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Tercer piso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× 2 dorm.  ·  2 × 1 dorm.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5.300.000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902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Segundo piso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 × 2 dorm.  ·  1 × 1 dorm.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7.350.000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1.251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Primer piso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× 1 dorm.  ·  1 × 3 dorm.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2.900.000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494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Planta baja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× 1 dorm.  ·  cochera  ·  cochera y depto.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4.000.000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681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Total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 departamentos, local y cocheras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19.550.000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3.329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8001000" y="1691640"/>
          <a:ext cx="3642055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20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Terraza amplia en el cuarto nivel, con vistas abiertas sobre la ciudad. Composición y montos según el detalle de alquileres verificado.</a:t>
            </a:r>
            <a:endParaRPr lang="en-US" sz="1100" dirty="0"/>
          </a:p>
        </p:txBody>
      </p:sp>
      <p:pic>
        <p:nvPicPr>
          <p:cNvPr id="7" name="Image 0" descr="Isotipo Meridiano Capita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RECORRIDO FOTOGRÁFICO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Circulación común y terraza</a:t>
            </a:r>
            <a:endParaRPr lang="en-US" sz="3000" dirty="0"/>
          </a:p>
        </p:txBody>
      </p:sp>
      <p:pic>
        <p:nvPicPr>
          <p:cNvPr id="4" name="Image 0" descr="Escalera y circulación comú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5394960" cy="3596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50773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Escalera y circulación común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800344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EDE3">
                    <a:alpha val="7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Escalera con baranda metálica y revestimiento en las áreas comunes.</a:t>
            </a:r>
            <a:endParaRPr lang="en-US" sz="1100" dirty="0"/>
          </a:p>
        </p:txBody>
      </p:sp>
      <p:pic>
        <p:nvPicPr>
          <p:cNvPr id="7" name="Image 1" descr="Terraza superio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783080"/>
            <a:ext cx="5394960" cy="35966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172200" y="550773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Terraza superior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172200" y="5800344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EDE3">
                    <a:alpha val="7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Terraza amplia con vistas abiertas hacia el skyline de Asunción.</a:t>
            </a:r>
            <a:endParaRPr lang="en-US" sz="1100" dirty="0"/>
          </a:p>
        </p:txBody>
      </p:sp>
      <p:pic>
        <p:nvPicPr>
          <p:cNvPr id="10" name="Image 2" descr="Isotipo Meridiano Capital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ALQUILERES VIGENTES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Ingreso mensual: Gs 19.550.000  ·  USD 3.329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3949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783080"/>
                <a:gridCol w="132588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Nivel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por mes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Tercer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1.500.000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255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Tercer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1.500.000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255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Tercer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1.200.000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204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Tercer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1.100.000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187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Segundo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1.600.000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272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Segundo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1.500.000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255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Segundo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1.500.000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255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Segundo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1.500.000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255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Segundo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1.250.000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213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737360"/>
          <a:ext cx="53949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783080"/>
                <a:gridCol w="132588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Nivel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por mes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Primer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1.300.000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221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Primer piso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1.600.000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272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Planta baja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1.200.000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204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Planta baja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900.000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153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Planta baja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Cochera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700.000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119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Planta baja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Cochera y departamento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1.200.000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204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Total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15 conceptos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B332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Gs 19.550.000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B332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3.329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172200" y="484632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Montos en guaraníes según los contratos vigentes; equivalente en dólares al tipo de cambio del día: Gs 5.873 por USD (BCP, cierre interbancario del 02/10/2026).</a:t>
            </a:r>
            <a:endParaRPr lang="en-US" sz="1050" dirty="0"/>
          </a:p>
        </p:txBody>
      </p:sp>
      <p:pic>
        <p:nvPicPr>
          <p:cNvPr id="7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INGRESOS Y EGRESOS ANUALES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ingreso bruto al resultado neto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8580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25880"/>
                <a:gridCol w="16916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% del bruto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por año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Ingreso bruto anual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100%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39.946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IVA (5% dptos. · 10% local y cocheras)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5,5%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2.191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Vacancia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3,0%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1.198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Administración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8,0%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3.196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Mantenimiento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5,0%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1.997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Gastos fijos del edificio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3,0%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1.200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Resultado antes de impuesto a la renta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75,5%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30.163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Impuesto a la renta estimado (IRE 10%)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7,6%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3.016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Resultado neto anual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68,0%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27.147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26680" y="1737360"/>
            <a:ext cx="3916375" cy="4297680"/>
          </a:xfrm>
          <a:prstGeom prst="rect">
            <a:avLst/>
          </a:prstGeom>
          <a:solidFill>
            <a:srgbClr val="F3EDE3"/>
          </a:solidFill>
          <a:ln w="9525">
            <a:solidFill>
              <a:srgbClr val="DAD2C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901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CRITERIOS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228600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IVA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2560320"/>
            <a:ext cx="3459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5% departamentos; 10% local y cocheras.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301752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Vacancia 3%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3291840"/>
            <a:ext cx="3459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Zona de alto tránsito y demanda: rotación rápida.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374904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Administración 8%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4023360"/>
            <a:ext cx="3459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Cobranza, contratos e inquilinos.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48056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Mantenimiento 5%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955280" y="4754880"/>
            <a:ext cx="3459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Reparaciones menores y recambios entre inquilinos.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21208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Impuesto a la renta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955280" y="5486400"/>
            <a:ext cx="3459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estimado si se compra por sociedad; el contador define la base real.</a:t>
            </a:r>
            <a:endParaRPr lang="en-US" sz="1000" dirty="0"/>
          </a:p>
        </p:txBody>
      </p:sp>
      <p:pic>
        <p:nvPicPr>
          <p:cNvPr id="17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Indicadores sobre el precio de venta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120640" cy="0"/>
          </a:xfrm>
          <a:prstGeom prst="line">
            <a:avLst/>
          </a:prstGeom>
          <a:noFill/>
          <a:ln w="9525">
            <a:solidFill>
              <a:srgbClr val="1D41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574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11,75%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08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 bruta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74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39.946 de ingreso bruto anual ÷ USD 340.000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874520"/>
            <a:ext cx="5120640" cy="0"/>
          </a:xfrm>
          <a:prstGeom prst="line">
            <a:avLst/>
          </a:prstGeom>
          <a:noFill/>
          <a:ln w="9525">
            <a:solidFill>
              <a:srgbClr val="1D41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72200" y="20574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7,98%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6172200" y="3108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Rentabilidad neta final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3474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27.147 de resultado neto ÷ USD 340.000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0624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8,87%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18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Neta antes de impuesto a la renta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420624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8,5 veces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4718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÷ ingreso bruto anual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4160520"/>
            <a:ext cx="5440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3EDE3">
                    <a:alpha val="9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Cómo leer estas cifras.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3EDE3">
                    <a:alpha val="9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neta final descuenta IVA, vacancia, administración, mantenimiento, gastos fijos e impuesto a la renta estimado. El denominador es el precio de venta, sin gastos de adquisición. Tipo de cambio: Gs 5.873 por USD (BCP, cierre interbancario del 02/10/2026). Cifras de referencia, no garantizadas.</a:t>
            </a:r>
            <a:endParaRPr lang="en-US" sz="1050" dirty="0"/>
          </a:p>
        </p:txBody>
      </p:sp>
      <p:pic>
        <p:nvPicPr>
          <p:cNvPr id="17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PROYECCIÓN DE ALQUILER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Resultado neto anual proyectado a cinco años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6751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783080"/>
          <a:ext cx="405353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71600"/>
                <a:gridCol w="126187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Escenario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Alquileres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Neto año 5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Conservador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+3,0% anual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30.689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Base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+5,0% anual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33.230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Optimista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+8,0% anual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37.322</a:t>
                      </a:r>
                      <a:endParaRPr lang="en-US" sz="11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589520" y="3703320"/>
            <a:ext cx="405353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de ajuste.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Hoy el promedio es Gs 1.158.333 en 1 dormitorio y Gs 1.516.667 en 2 dormitorios. Los avisos publicados en Ciudad Nueva van de Gs 2,5 a 3,0 millones (1 dorm.) y de Gs 2,1 a 4,2 millones (2 dorm.): hay espacio para ajustar en cada renovación, según el estado de cada unidad.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7607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Proyección ilustrativa en USD al tipo de cambio del día constante; no garantizada.</a:t>
            </a:r>
            <a:endParaRPr lang="en-US" sz="950" dirty="0"/>
          </a:p>
        </p:txBody>
      </p:sp>
      <p:pic>
        <p:nvPicPr>
          <p:cNvPr id="8" name="Image 0" descr="Isotipo Meridiano Capita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PLUSVALÍA Y RETORNO TOTAL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Escenarios a cinco años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74980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508760"/>
                <a:gridCol w="150876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Conservador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Optimista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Valorización anual supuesta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2,0%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3,5%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5,0%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 estimado al año 5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375.387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403.813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433.936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Plusvalía estimada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35.387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63.813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93.936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IVA de la venta futura (1,5%)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5.631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6.057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USD 6.509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Renta neta acumulada 5 años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144.459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150.570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160.194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Ganancia total estimada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174.215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208.326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247.621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TIR estimada a 5 años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9,9%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11,5%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13,2%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12480" y="1737360"/>
            <a:ext cx="3230575" cy="3657600"/>
          </a:xfrm>
          <a:prstGeom prst="rect">
            <a:avLst/>
          </a:prstGeom>
          <a:solidFill>
            <a:srgbClr val="14313A"/>
          </a:solidFill>
          <a:ln w="12700">
            <a:solidFill>
              <a:srgbClr val="1431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0" y="20116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11,5%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27797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TIR estimada, escenario base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686800" y="32918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 a USD 340.000, cinco años de renta neta creciente y venta al valor estimado del año 5.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532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Escenarios hipotéticos: no constituyen garantía de plusvalía ni de rentabilidad. No incluyen gastos de adquisición ni comisión de venta. El valor futuro depende del mercado, del estado del edificio y de su ocupación al vender.</a:t>
            </a:r>
            <a:endParaRPr lang="en-US" sz="950" dirty="0"/>
          </a:p>
        </p:txBody>
      </p:sp>
      <p:pic>
        <p:nvPicPr>
          <p:cNvPr id="10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Y CONDICIONES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del edificio completo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754880" cy="4206240"/>
          </a:xfrm>
          <a:prstGeom prst="rect">
            <a:avLst/>
          </a:prstGeom>
          <a:solidFill>
            <a:srgbClr val="14313A"/>
          </a:solidFill>
          <a:ln w="12700">
            <a:solidFill>
              <a:srgbClr val="1431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411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340.000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90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venta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4400" y="3429000"/>
            <a:ext cx="4023360" cy="0"/>
          </a:xfrm>
          <a:prstGeom prst="line">
            <a:avLst/>
          </a:prstGeom>
          <a:noFill/>
          <a:ln w="9525">
            <a:solidFill>
              <a:srgbClr val="1D41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611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WEB ID 143028006-118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0233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3EDE3">
                    <a:alpha val="8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en dólares estadounidenses. Alquileres cobrados en guaraníes.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5074920"/>
            <a:ext cx="4023360" cy="0"/>
          </a:xfrm>
          <a:prstGeom prst="line">
            <a:avLst/>
          </a:prstGeom>
          <a:noFill/>
          <a:ln w="9525">
            <a:solidFill>
              <a:srgbClr val="1D414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52120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11,75% bruta  ·  7,98% neta final  ·  USD 2.262 netos por mes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60720" y="1783080"/>
            <a:ext cx="588233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1901952"/>
            <a:ext cx="5882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2176272"/>
            <a:ext cx="5882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Edificio de renta: 13 departamentos y 1 local comercial, más terraza.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760720" y="2834640"/>
            <a:ext cx="588233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2953512"/>
            <a:ext cx="5882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OCUPACIÓN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0" y="3227832"/>
            <a:ext cx="5882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alquilado. Datos informados con verificación documental.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760720" y="3886200"/>
            <a:ext cx="588233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4005072"/>
            <a:ext cx="5882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4279392"/>
            <a:ext cx="5882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Gs 19.550.000 por mes  ·  USD 39.946 por año al tipo de cambio del día.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760720" y="4937760"/>
            <a:ext cx="588233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5056632"/>
            <a:ext cx="5882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FORMA DE PAGO Y ENTREGA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760720" y="5330952"/>
            <a:ext cx="5882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acordar en la negociación y el boleto de compraventa.</a:t>
            </a:r>
            <a:endParaRPr lang="en-US" sz="1300" dirty="0"/>
          </a:p>
        </p:txBody>
      </p:sp>
      <p:pic>
        <p:nvPicPr>
          <p:cNvPr id="24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PROCESO DE COMPRA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avanzamos, paso a paso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92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94767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Visita al edificio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Recorrido de las unidades, el local y la terraza, con inspección técnica de estructura, instalaciones e impermeabilización.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51960" y="178308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51960" y="1892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94767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Oferta y reserva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242316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Propuesta de precio y forma de pago; reserva con documentación de respaldo.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80" y="178308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55280" y="1892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194767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Revisión notarial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242316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Título, informe de condiciones de dominio e impuesto inmobiliario al día, a cargo del escribano.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767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221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y fiscal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9768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 a nombre propio o por sociedad (S.A.), IVA e impuesto a la renta, con el contador.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51960" y="365760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51960" y="3767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38221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Boleto y escritura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251960" y="429768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Firma del boleto de compraventa y escritura pública ante el escribano.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955280" y="365760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955280" y="3767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38221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Administración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955280" y="429768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Traspaso de los contratos vigentes y administración del edificio, si el inversor lo desea.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532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inversores del exterior acompañamos también la cédula de identidad paraguaya y la apertura de cuenta bancaria. Las tareas legales, notariales y contables las realizan el abogado, el escribano y el contador; Meridiano Capital coordina y acompaña.</a:t>
            </a:r>
            <a:endParaRPr lang="en-US" sz="1050" dirty="0"/>
          </a:p>
        </p:txBody>
      </p:sp>
      <p:pic>
        <p:nvPicPr>
          <p:cNvPr id="29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CONSIDERACIONES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Riesgos a evaluar en un edificio de renta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4767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Rotación de inquilinos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947672"/>
            <a:ext cx="7619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vacancia de la zona es baja, pero no es cero: hay renovaciones, renegociaciones y meses de recambio.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551176"/>
            <a:ext cx="110944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1576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Tipo de cambio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2715768"/>
            <a:ext cx="7619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 alquileres se cobran en guaraníes y el precio está en dólares: la rentabilidad en USD varía con la cotización.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10944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838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Costos de operación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3483864"/>
            <a:ext cx="7619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edificio de 13 unidades requiere mantenimiento continuo; obras mayores se presupuestan aparte.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110944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2519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Impuestos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4251960"/>
            <a:ext cx="7619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impuesto a la renta depende de la estructura de compra y lo determina el contador.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855464"/>
            <a:ext cx="110944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02005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de reventa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5020056"/>
            <a:ext cx="7619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plusvalía presentada son escenarios: el valor futuro depende del mercado y del estado del activo.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607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Cifras de referencia, no garantizadas. Se recomienda evaluar la operación con asesoría propia.</a:t>
            </a:r>
            <a:endParaRPr lang="en-US" sz="1050" dirty="0"/>
          </a:p>
        </p:txBody>
      </p:sp>
      <p:pic>
        <p:nvPicPr>
          <p:cNvPr id="20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60120" y="633679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Edificio Ciudad Nueva  ·  Venta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Juan José Castillo">    </p:cNvPr>
          <p:cNvPicPr>
            <a:picLocks noChangeAspect="1"/>
          </p:cNvPicPr>
          <p:nvPr/>
        </p:nvPicPr>
        <p:blipFill>
          <a:blip r:embed="rId1"/>
          <a:srcRect l="2170" r="2170" t="0" b="0"/>
          <a:stretch/>
        </p:blipFill>
        <p:spPr>
          <a:xfrm>
            <a:off x="7818120" y="0"/>
            <a:ext cx="4373575" cy="6858000"/>
          </a:xfrm>
          <a:prstGeom prst="rect">
            <a:avLst/>
          </a:prstGeom>
        </p:spPr>
      </p:pic>
      <p:pic>
        <p:nvPicPr>
          <p:cNvPr id="3" name="Image 1" descr="Meridiano Capita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548640"/>
            <a:ext cx="2194560" cy="7145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64592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Coordinemos su visita al edificio</a:t>
            </a:r>
            <a:endParaRPr lang="en-US" sz="38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320040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3EDE3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 presentamos los contratos, el detalle de ingresos y la documentación del inmueble, y lo acompañamos en cada paso de la compra.</a:t>
            </a:r>
            <a:endParaRPr lang="en-US" sz="1400" dirty="0"/>
          </a:p>
        </p:txBody>
      </p:sp>
      <p:sp>
        <p:nvSpPr>
          <p:cNvPr id="6" name="Shape 2"/>
          <p:cNvSpPr/>
          <p:nvPr/>
        </p:nvSpPr>
        <p:spPr>
          <a:xfrm>
            <a:off x="548640" y="4114800"/>
            <a:ext cx="6720840" cy="0"/>
          </a:xfrm>
          <a:prstGeom prst="line">
            <a:avLst/>
          </a:prstGeom>
          <a:noFill/>
          <a:ln w="9525">
            <a:solidFill>
              <a:srgbClr val="C9982E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426110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Lic. Juan José Castillo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71830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Broker Inmobiliario  |  Meridiano Capital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08406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  ·  juancastillo@meridianocapital.net  ·  www.meridianocapital.net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50468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F3EDE3">
                    <a:alpha val="7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comercial de referencia. Precio y condiciones sujetos a confirmación y disponibilidad; las condiciones definitivas se formalizan en el boleto de compraventa. No constituye una garantía de rentabilidad.  ·  WEB ID 143028006-118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8B3323"/>
      </a:hlink>
      <a:folHlink>
        <a:srgbClr val="6B615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Meridiano Capital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Edificio Ciudad Nueva — Edificio de renta en venta</dc:title>
  <dc:subject>Presentación para inversores</dc:subject>
  <dc:creator>Meridiano Capital</dc:creator>
  <cp:lastModifiedBy>Meridiano Capital</cp:lastModifiedBy>
  <cp:revision>1</cp:revision>
  <dcterms:created xsi:type="dcterms:W3CDTF">2026-10-03T19:46:06Z</dcterms:created>
  <dcterms:modified xsi:type="dcterms:W3CDTF">2026-10-03T19:46:06Z</dcterms:modified>
</cp:coreProperties>
</file>