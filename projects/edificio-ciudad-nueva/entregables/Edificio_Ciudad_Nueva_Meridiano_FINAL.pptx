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313A"/>
                </a:solidFill>
                <a:latin typeface="Poppins"/>
              </a:defRPr>
            </a:pPr>
            <a:r>
              <a:rPr sz="1100" b="0" i="0" u="none" strike="noStrike">
                <a:solidFill>
                  <a:srgbClr val="14313A"/>
                </a:solidFill>
                <a:latin typeface="Poppins"/>
              </a:rPr>
              <a:t>Alquiler mensual por nivel, miles de Gs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Alquiler mensual (miles de Gs)</c:v>
                </c:pt>
              </c:strCache>
            </c:strRef>
          </c:tx>
          <c:spPr>
            <a:solidFill>
              <a:srgbClr val="14313A"/>
            </a:solidFill>
            <a:effectLst/>
          </c:spPr>
          <c:invertIfNegative val="0"/>
          <c:dLbls>
            <c:numFmt formatCode="#\.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31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3.er piso</c:v>
                  </c:pt>
                  <c:pt idx="1">
                    <c:v>2.º piso</c:v>
                  </c:pt>
                  <c:pt idx="2">
                    <c:v>1.er piso</c:v>
                  </c:pt>
                  <c:pt idx="3">
                    <c:v>P. baja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5300</c:v>
                </c:pt>
                <c:pt idx="1">
                  <c:v>7350</c:v>
                </c:pt>
                <c:pt idx="2">
                  <c:v>2900</c:v>
                </c:pt>
                <c:pt idx="3">
                  <c:v>4000</c:v>
                </c:pt>
              </c:numCache>
            </c:numRef>
          </c:val>
        </c:ser>
        <c:dLbls>
          <c:numFmt formatCode="#\.##0" sourceLinked="0"/>
          <c:txPr>
            <a:bodyPr/>
            <a:lstStyle/>
            <a:p>
              <a:pPr>
                <a:defRPr b="0" i="0" strike="noStrike" sz="1000" u="none">
                  <a:solidFill>
                    <a:srgbClr val="1431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154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Foto: vista aérea recibida (5.jpg), sin recorte (modo panel). El contorno rojo viene de la fuente. Precio, dirección, composición y WEB ID: pedido del founder 2/10/2026. Fuentes: descripción comercial, detalle de alquileres y planilla de rentabilidad recibidos el 2/10/2026 (WEB ID 143028006-118).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 y ocupación: descripción comercial. Ingreso: suma verificada del detalle (Gs 19.550.000). Rentabilidades recalculadas: bruta 11.3115%, neta según gastos informados 10.1456% sobre el precio. Fuentes: descripción comercial, detalle de alquileres y planilla de rentabilidad recibidos el 2/10/2026 (WEB ID 143028006-118).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Dirección, Mercado 4, 'una cuadra de Eusebio Ayala' y terraza en el cuarto piso: datos recibidos, no verificados en campo. No se incluyen distancias ni tiempos de traslado. Mapa: enlace + QR a búsqueda de la intersección en Google Maps (https://www.google.com/maps/search/?api=1&amp;query=9+de+Marzo+y+Mayor+Bullo%2C+Asunci%C3%B3n%2C+Paraguay). No fue posible incrustar un mapa cartográfico: la red del entorno de producción bloqueó los servidores de mapas (ver control interno).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Composición por nivel transcrita del detalle de alquileres, en su orden original. 'Cochera y departamento' NO se interpreta como local ni como unidad adicional (pendiente). Gráfico nativo editable con los subtotales por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Fotos recibidas, sin edición ni recorte (proporción 3:2 en marco 3:2). No se atribuyen a un piso o unidad. La fachada se muestra en la vista aérea de la portada. No se recibieron fotos de interiores de las unidades ni del local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Transcripción literal del detalle (texto 'Cochera y dpto' desarrollado como 'Cochera y departamento'). Suma recalculada = Gs 19.550.000 = total indicado. Sin datos de inquilinos. Estado: transcrito, sin contratos ni comprobantes de cobro.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Recálculo con precisión completa: mensual 3204.9180 USD; bruto 38459.0164 USD; neto 34495.0164 USD. El impuesto equivale al 7.19% del bruto (no coincide con 5% ni 10%): composición a confirmar. El ingreso supone 12 meses de cobro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Planilla recibida: bruta 11,3% y neta 10,15%. Recalculado: bruta 11.3115%, neta según gastos informados 10.1456%. No es rentabilidad neta definitiva ni retorno sobre inversión total. No garantizada.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 y WEB ID: pedido del founder. Forma de pago, plazos, situación de los contratos ante la venta y gastos de transferencia: no informados.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de due diligence derivado de los vacíos de la auditoría (ver control interno). No se afirma la situación registral ni el estado estructural: no fueron informados.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Riesgos generales del tipo de operación (narrative_patterns: diapositiva de riesgos obligatoria en inversión). Sin riesgos específicos inventados del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Firma según el brief del founder (Lic. Juan José Castillo, Broker Inmobiliario | Meridiano Capital). Contacto: brand_tokens.json / 09-cierres-y-firmas.md. Retrato autorizado (jjc_retrato.jpg) no disponible en el repo: cierre sin foto. Aviso legal: 'venta' (D-098) + cláusula de no garantía de rentabilidad del aviso 'preventa_inversion'.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maps/search/?api=1&amp;query=9+de+Marzo+y+Mayor+Bullo%2C+Asunci%C3%B3n%2C+Paraguay" TargetMode="Externa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ta aérea del edificio con su contorno marcado en rojo (marca de la fuen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12062"/>
            <a:ext cx="5150815" cy="3433877"/>
          </a:xfrm>
          <a:prstGeom prst="rect">
            <a:avLst/>
          </a:prstGeom>
        </p:spPr>
      </p:pic>
      <p:pic>
        <p:nvPicPr>
          <p:cNvPr id="3" name="Image 1" descr="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548640"/>
            <a:ext cx="2331720" cy="7591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EDIFICIO DE RENTA EN VENTA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48716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Ciudad Nueva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de Marzo c/ Mayor Bullo  ·  Ciudad Nueva, Asunción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754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340.000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66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3200400" y="4754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 + 1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3200400" y="5266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Departamentos + local comercial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Versión preliminar  ·  Datos informados, sin verificación documental  ·  WEB ID 143028006-118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DEL INMUEBLE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 de renta con 13 departamentos y un local comercial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y ocupación según la información recibida del propietario. Las cifras de ingreso surgen del detalle de alquileres y de la planilla de rentabilidad entregados con la oferta.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96312"/>
            <a:ext cx="338328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340.000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2496312"/>
            <a:ext cx="338328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26060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 · 6 · 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Dptos. de 1, 2 y 3 dormitorios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2496312"/>
            <a:ext cx="338328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26060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comercial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338328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69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Gs 19.550.000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 mensual informado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1960" y="3959352"/>
            <a:ext cx="338328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51960" y="4069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11,31%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sobre precio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3959352"/>
            <a:ext cx="338328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4069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10,15%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Neta según gastos informados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441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2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532120"/>
            <a:ext cx="10728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 informada: todas las unidades y el local, alquilados. Ocupación verificada documentalmente: pendiente (contratos y cobros a revisar).</a:t>
            </a:r>
            <a:endParaRPr lang="en-US" sz="1100" dirty="0"/>
          </a:p>
        </p:txBody>
      </p:sp>
      <p:pic>
        <p:nvPicPr>
          <p:cNvPr id="25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UBICACIÓN Y ENTORNO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Ciudad Nueva, en el entorno comercial del Mercado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568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DIRECCIÓN INFORMADA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3113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de Marzo c/ Mayor Bullo, barrio Ciudad Nueva, Asunción.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60350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443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ENTORNO COMERCIAL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186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 al Mercado 4, según la descripción recibida.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60350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319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CONECTIVIDAD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Aproximadamente a una cuadra de la Av. Eusebio Ayala, según la descripción recibida.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91456"/>
            <a:ext cx="60350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194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TERRAZA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937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Terraza amplia en el cuarto nivel, con vistas abiertas sobre la ciudad.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1828800"/>
            <a:ext cx="4556455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UBICAR LA INTERSECCIÓN</a:t>
            </a:r>
            <a:endParaRPr lang="en-US" sz="1000" dirty="0"/>
          </a:p>
        </p:txBody>
      </p:sp>
      <p:pic>
        <p:nvPicPr>
          <p:cNvPr id="18" name="Image 0" descr="Código QR a Google Maps: 9 de Marzo y Mayor Bullo, Asun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468880"/>
            <a:ext cx="1920240" cy="19202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464040" y="2514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Escanear o hacer clic para abrir Google Maps en 9 de Marzo y Mayor Bullo.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4617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en Google Maps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4983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corresponde a la intersección informada, como referencia. La parcela exacta y las distancias al entorno se confirman en la visita.</a:t>
            </a:r>
            <a:endParaRPr lang="en-US" sz="1000" dirty="0"/>
          </a:p>
        </p:txBody>
      </p:sp>
      <p:pic>
        <p:nvPicPr>
          <p:cNvPr id="22" name="Image 1" descr="Isotipo Meridiano Capit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DISTRIBUCIÓN DE LAS UNIDADES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Cuatro niveles de departamentos más terraza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49040"/>
                <a:gridCol w="1783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Nivel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Composición según el detalle de alquileres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Alquiler mensual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Tercer piso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× 2 dorm.  ·  2 × 1 dorm.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5.300.000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Segundo piso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 × 2 dorm.  ·  1 × 1 dorm.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7.350.000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Primer piso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× 1 dorm.  ·  1 × 3 dorm.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2.900.000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Planta baja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× 1 dorm.  ·  cochera  ·  cochera y departamento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4.000.000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 conceptos del detalle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19.550.000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818120" y="1691640"/>
          <a:ext cx="3824935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92040"/>
            <a:ext cx="11094415" cy="1143000"/>
          </a:xfrm>
          <a:prstGeom prst="rect">
            <a:avLst/>
          </a:prstGeom>
          <a:solidFill>
            <a:srgbClr val="F7F4EE"/>
          </a:solidFill>
          <a:ln w="9525">
            <a:solidFill>
              <a:srgbClr val="DAD2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4892040"/>
            <a:ext cx="10728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conciliar antes de la compra.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13 filas de departamentos coinciden con el mix informado (6 de 1, 6 de 2 y 1 de 3 dormitorios). El detalle agrega una cochera y una fila “cochera y departamento”, y no identifica por separado el local comercial. Se presenta el total como ingreso informado, sin dar por conciliada su composición.</a:t>
            </a:r>
            <a:endParaRPr lang="en-US" sz="1100" dirty="0"/>
          </a:p>
        </p:txBody>
      </p:sp>
      <p:pic>
        <p:nvPicPr>
          <p:cNvPr id="8" name="Image 0" descr="Isotipo 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RECORRIDO FOTOGRÁFICO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Circulación común y terraza</a:t>
            </a:r>
            <a:endParaRPr lang="en-US" sz="3000" dirty="0"/>
          </a:p>
        </p:txBody>
      </p:sp>
      <p:pic>
        <p:nvPicPr>
          <p:cNvPr id="4" name="Image 0" descr="Escalera y circulación comú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394960" cy="3596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07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Escalera y circulación común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003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DE3">
                    <a:alpha val="7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Escalera con baranda metálica y revestimiento en las áreas comunes.</a:t>
            </a:r>
            <a:endParaRPr lang="en-US" sz="1100" dirty="0"/>
          </a:p>
        </p:txBody>
      </p:sp>
      <p:pic>
        <p:nvPicPr>
          <p:cNvPr id="7" name="Image 1" descr="Terraza superi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783080"/>
            <a:ext cx="5394960" cy="3596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72200" y="5507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Terraza superior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58003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EDE3">
                    <a:alpha val="7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Terraza amplia con vistas abiertas hacia el skyline de Asunción.</a:t>
            </a:r>
            <a:endParaRPr lang="en-US" sz="1100" dirty="0"/>
          </a:p>
        </p:txBody>
      </p:sp>
      <p:pic>
        <p:nvPicPr>
          <p:cNvPr id="10" name="Image 2" descr="Isotipo Meridiano Capit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ALQUILERES INFORMADOS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Ingreso mensual informado: Gs 19.550.000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691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Nivel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Concepto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Mensual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Tercer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1.500.000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Tercer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1.500.000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Tercer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1.200.000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Tercer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1.100.000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Segundo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1.600.000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Segundo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1.500.000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Segundo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1.500.000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Segundo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1.500.000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Segundo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1.250.000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691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Nivel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Concepto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Mensual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Primer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1.300.000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Primer piso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1.600.000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Planta baja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1.200.000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Planta baja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dorm.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900.000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Planta baja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Cochera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700.000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Planta baja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Cochera y departamento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1.200.000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Total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15 conceptos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332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19.550.000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172200" y="4846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Montos mensuales en guaraníes, transcritos del detalle recibido. Equivalente de referencia: USD 3.205 por mes al tipo de cambio de la planilla (Gs 6.100 por USD, fecha no informada; no es la cotización actual).</a:t>
            </a:r>
            <a:endParaRPr lang="en-US" sz="1050" dirty="0"/>
          </a:p>
        </p:txBody>
      </p:sp>
      <p:pic>
        <p:nvPicPr>
          <p:cNvPr id="7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Y EGRESOS INFORMADOS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 ingreso bruto al resultado según la planilla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965960"/>
                <a:gridCol w="1554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Concepto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Base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por año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Ingreso mensual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Gs 19.550.000 ÷ 6.100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3.205 / mes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Ingreso bruto anual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Ingreso mensual × 12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38.459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Impuesto anual informado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Planilla recibida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 USD 2.764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Gastos anuales informados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Planilla recibida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 USD 1.200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Resultado neto según gastos informados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Bruto – egresos informados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34.495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83080"/>
            <a:ext cx="4053535" cy="4206240"/>
          </a:xfrm>
          <a:prstGeom prst="rect">
            <a:avLst/>
          </a:prstGeom>
          <a:solidFill>
            <a:srgbClr val="F3EDE3"/>
          </a:solidFill>
          <a:ln w="9525">
            <a:solidFill>
              <a:srgbClr val="DAD2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INCLUIDOS EN LA PLANILLA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Mantenimiento y reparaciones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702052"/>
            <a:ext cx="36576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Administración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3040380"/>
            <a:ext cx="36576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3054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378708"/>
            <a:ext cx="36576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3392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Vacancia entre inquilinos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3717036"/>
            <a:ext cx="36576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18120" y="3730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Morosidad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18120" y="4055364"/>
            <a:ext cx="36576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Reservas para reposiciones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4526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Estos egresos no fueron informados: no se asumen en cero. El alcance de los USD 2.764 de impuesto y de los USD 1.200 de gastos está pendiente de confirmación.</a:t>
            </a:r>
            <a:endParaRPr lang="en-US" sz="1050" dirty="0"/>
          </a:p>
        </p:txBody>
      </p:sp>
      <p:pic>
        <p:nvPicPr>
          <p:cNvPr id="19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SEGÚN LA PLANILLA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Indicadores sobre el precio de venta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0"/>
          </a:xfrm>
          <a:prstGeom prst="line">
            <a:avLst/>
          </a:prstGeom>
          <a:noFill/>
          <a:ln w="9525">
            <a:solidFill>
              <a:srgbClr val="1D41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11,31%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sobre precio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38.459 de ingreso bruto anual ÷ USD 340.000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120640" cy="0"/>
          </a:xfrm>
          <a:prstGeom prst="line">
            <a:avLst/>
          </a:prstGeom>
          <a:noFill/>
          <a:ln w="9525">
            <a:solidFill>
              <a:srgbClr val="1D41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057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10,15%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Neta según gastos informados, sobre precio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34.495 de resultado neto ÷ USD 340.000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8,8 veces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725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÷ ingreso bruto anual informado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4114800"/>
            <a:ext cx="5440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3EDE3">
                    <a:alpha val="9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leer estas cifras.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3EDE3">
                    <a:alpha val="9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denominador es solo el precio de venta: no incluye gastos de adquisición. El neto descuenta únicamente impuesto y gastos informados. Tipo de cambio de la planilla: Gs 6.100 por USD. Los USD 34.500 y el 10,15% de la descripción del aviso corresponden al resultado neto según gastos informados, no al ingreso bruto ni a la rentabilidad bruta.</a:t>
            </a:r>
            <a:endParaRPr lang="en-US" sz="1050" dirty="0"/>
          </a:p>
        </p:txBody>
      </p:sp>
      <p:pic>
        <p:nvPicPr>
          <p:cNvPr id="15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Y CONDICIONES CONOCIDAS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del edificio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754880" cy="4206240"/>
          </a:xfrm>
          <a:prstGeom prst="rect">
            <a:avLst/>
          </a:prstGeom>
          <a:solidFill>
            <a:srgbClr val="14313A"/>
          </a:solidFill>
          <a:ln w="12700">
            <a:solidFill>
              <a:srgbClr val="1431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340.000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90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4023360" cy="0"/>
          </a:xfrm>
          <a:prstGeom prst="line">
            <a:avLst/>
          </a:prstGeom>
          <a:noFill/>
          <a:ln w="9525">
            <a:solidFill>
              <a:srgbClr val="1D41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 WEB ID 143028006-118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3EDE3">
                    <a:alpha val="8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Moneda de la oferta: dólares estadounidenses. Alquileres cobrados en guaraníes.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5074920"/>
            <a:ext cx="4023360" cy="0"/>
          </a:xfrm>
          <a:prstGeom prst="line">
            <a:avLst/>
          </a:prstGeom>
          <a:noFill/>
          <a:ln w="9525">
            <a:solidFill>
              <a:srgbClr val="1D41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212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11,31% bruta  ·  10,15% neta según gastos informados (sobre precio)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783080"/>
            <a:ext cx="5882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1911096"/>
            <a:ext cx="5882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185416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Edificio de renta: 13 departamentos y 1 local comercial, más terraza.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2834640"/>
            <a:ext cx="5882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2962656"/>
            <a:ext cx="5882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236976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Informada: 100% alquilado. Verificación documental pendiente.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3886200"/>
            <a:ext cx="5882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4014216"/>
            <a:ext cx="5882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 INFORMADO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4288536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Gs 19.550.000 por mes (USD 38.459 por año al TC de la planilla).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4937760"/>
            <a:ext cx="588233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5065776"/>
            <a:ext cx="5882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 DE PAGO Y ENTREGA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340096"/>
            <a:ext cx="5882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informadas en la oferta: a definir en la negociación y el boleto de compraventa.</a:t>
            </a:r>
            <a:endParaRPr lang="en-US" sz="1300" dirty="0"/>
          </a:p>
        </p:txBody>
      </p:sp>
      <p:pic>
        <p:nvPicPr>
          <p:cNvPr id="24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REVISIÓN ANTES DE DECIDIR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Información que debe revisar el inversor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47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Contratos de locación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Contratos vigentes de cada unidad, el local y las cocheras: plazos, montos, moneda, ajustes y vencimientos.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8928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47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cobrados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4231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Extractos o recibos de los últimos 12 meses y ocupación real, para pasar de ingreso informado a ingreso verificado.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8928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1947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Conciliación de unidades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4231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qué unidad corresponde “cochera y departamento”, dónde se incluye el local y si algún concepto agrupa o duplica ingresos.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67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Impuestos y gastos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cubren los USD 2.764 y los USD 1.200, y los egresos no informados: mantenimiento, administración, seguros, reservas.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65760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51960" y="3767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 del inmueble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42976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Título, informe de condiciones de dominio, planos aprobados, superficies e impuesto inmobiliario al día.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3657600"/>
            <a:ext cx="342900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3767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técnico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2976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Inspección de estructura, instalaciones e impermeabilización de la terraza antes de fijar la oferta.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revisión legal, notarial, contable e impositiva corresponde al abogado, escribano y contador; Meridiano Capital coordina y acompaña el proceso.</a:t>
            </a:r>
            <a:endParaRPr lang="en-US" sz="1050" dirty="0"/>
          </a:p>
        </p:txBody>
      </p:sp>
      <p:pic>
        <p:nvPicPr>
          <p:cNvPr id="29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CONSIDERACIONES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Riesgos a evaluar en un edificio de renta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Continuidad de la renta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947672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alquileres actuales no garantizan su continuidad: hay rotación, renegociación y meses de vacancia.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51176"/>
            <a:ext cx="110944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157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Cobro efectivo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715768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ingreso presentado es el informado; la morosidad y el cobro real deben verificarse con comprobantes.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10944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83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 de cambio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483864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alquileres se cobran en guaraníes y el precio está en dólares: la rentabilidad en USD varía con la cotización.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110944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Costos de operación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251960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Mantenimiento, administración y reposiciones de un edificio de 13 unidades reducen el resultado neto.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94415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200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Valor de reventa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5020056"/>
            <a:ext cx="7619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 presenta una proyección de plusvalía: el valor futuro depende del mercado y del estado del activo.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Cifras informadas por la parte vendedora, no garantizadas. Se recomienda evaluar la operación con asesoría propia.</a:t>
            </a:r>
            <a:endParaRPr lang="en-US" sz="1050" dirty="0"/>
          </a:p>
        </p:txBody>
      </p:sp>
      <p:pic>
        <p:nvPicPr>
          <p:cNvPr id="20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 ·  Edificio Ciudad Nueva  ·  Venta  ·  Versión preliminar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548640"/>
            <a:ext cx="2194560" cy="7145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Coordinemos la visita y la revisión documental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00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3EDE3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Solicite los contratos, el detalle de ingresos cobrados, los gastos y la documentación del inmueble para evaluar la compra con información verificada.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4114800"/>
            <a:ext cx="1028700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611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Lic. Juan José Castillo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183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Broker Inmobiliario  |  Meridiano Capital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8406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·  juancastillo@meridianocapital.net  ·  www.meridianocapital.net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046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3EDE3">
                    <a:alpha val="7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comercial de referencia. Precio y condiciones sujetos a confirmación y disponibilidad; las condiciones definitivas se formalizan en el boleto de compraventa. No constituye una garantía de rentabilidad.  ·  WEB ID 143028006-118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B3323"/>
      </a:hlink>
      <a:folHlink>
        <a:srgbClr val="6B615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Meridiano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Edificio Ciudad Nueva — Edificio de renta en venta</dc:title>
  <dc:subject>Presentación para inversores · versión preliminar</dc:subject>
  <dc:creator>Meridiano Capital</dc:creator>
  <cp:lastModifiedBy>Meridiano Capital</cp:lastModifiedBy>
  <cp:revision>1</cp:revision>
  <dcterms:created xsi:type="dcterms:W3CDTF">2026-10-02T22:21:30Z</dcterms:created>
  <dcterms:modified xsi:type="dcterms:W3CDTF">2026-10-02T22:21:30Z</dcterms:modified>
</cp:coreProperties>
</file>