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tel:+595982853111" TargetMode="External"/><Relationship Id="rId5" Type="http://schemas.openxmlformats.org/officeDocument/2006/relationships/hyperlink" Target="mailto:juancastillo@meridianocapital.net" TargetMode="External"/><Relationship Id="rId6" Type="http://schemas.openxmlformats.org/officeDocument/2006/relationships/hyperlink" Target="https://www.meridianocapital.net" TargetMode="External"/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alería techada con vista al jardín y la piscina">    </p:cNvPr>
          <p:cNvPicPr>
            <a:picLocks noChangeAspect="1"/>
          </p:cNvPicPr>
          <p:nvPr/>
        </p:nvPicPr>
        <p:blipFill>
          <a:blip r:embed="rId1"/>
          <a:srcRect l="15518" r="36209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pic>
        <p:nvPicPr>
          <p:cNvPr id="3" name="Image 1" descr="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548640"/>
            <a:ext cx="2331720" cy="7591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VENTA  ·  WEB ID 39903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48716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Casa familiar con piscina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 casa de huéspedes</a:t>
            </a:r>
            <a:endParaRPr lang="en-US" sz="3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Urbanización SADI III  ·  San Bernardino, Cordillera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54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179.000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66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3200400" y="47548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1.100 m²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3200400" y="52669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terreno en esquina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093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6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Presentación comercial  ·  Meridiano Capital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Un lugar pensado para reunir a la familia</a:t>
            </a:r>
            <a:endParaRPr lang="en-US" sz="3000" dirty="0"/>
          </a:p>
        </p:txBody>
      </p:sp>
      <p:pic>
        <p:nvPicPr>
          <p:cNvPr id="4" name="Image 0" descr="Deck junto a la piscina y jardín con palmeras">    </p:cNvPr>
          <p:cNvPicPr>
            <a:picLocks noChangeAspect="1"/>
          </p:cNvPicPr>
          <p:nvPr/>
        </p:nvPicPr>
        <p:blipFill>
          <a:blip r:embed="rId1"/>
          <a:srcRect l="0" r="0" t="17516" b="11677"/>
          <a:stretch/>
        </p:blipFill>
        <p:spPr>
          <a:xfrm>
            <a:off x="548640" y="1783080"/>
            <a:ext cx="320040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Deck de piscina y jardín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178308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Residencia principal, casa independiente para huéspedes y una amplia área exterior, en un terreno en esquina de 1.100 m².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06240" y="2834640"/>
            <a:ext cx="347472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Reuniones familiares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4015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Quincho con parrilla, galerías y jardín para recibir a familiares y amigos con comodidad.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0" y="2834640"/>
            <a:ext cx="347472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Fines de semana y vacaciones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40156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Piscina con deck, cancha y jardín concentran las actividades al aire libre sin salir de casa.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4389120"/>
            <a:ext cx="347472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Huéspedes con independencia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49560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segunda casa permite alojar a las visitas sin alterar la rutina de la residencia principal.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46720" y="4389120"/>
            <a:ext cx="347472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Familias numerosas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495604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dormitorios y catorce ambientes para organizar la vida diaria con amplitud.</a:t>
            </a:r>
            <a:endParaRPr lang="en-US" sz="1250" dirty="0"/>
          </a:p>
        </p:txBody>
      </p:sp>
      <p:pic>
        <p:nvPicPr>
          <p:cNvPr id="19" name="Image 1" descr="Isotipo 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Y SUPERFICIES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propiedad en cifras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1.100 m²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terreno en esquina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92024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5848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490 m²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construcción, aproximadamente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92024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750 m²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63056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jardín, aproximadamente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70264" y="192024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70264" y="2103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70264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dormitorios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55848" y="361188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55848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+ social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baños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63056" y="361188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63056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6163056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70264" y="3611880"/>
            <a:ext cx="256032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70264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8970264" y="4572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vehículos · 2 accesos vehiculares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9525">
            <a:solidFill>
              <a:srgbClr val="DAD2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Configuración: residencia principal y segunda casa para huéspedes. Superficies aproximadas, según la información comercial recibida.</a:t>
            </a:r>
            <a:endParaRPr lang="en-US" sz="1250" dirty="0"/>
          </a:p>
        </p:txBody>
      </p:sp>
      <p:pic>
        <p:nvPicPr>
          <p:cNvPr id="30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ESPACIOS INTERIORES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Ambientes cálidos, con ladrillo visto y madera</a:t>
            </a:r>
            <a:endParaRPr lang="en-US" sz="3000" dirty="0"/>
          </a:p>
        </p:txBody>
      </p:sp>
      <p:pic>
        <p:nvPicPr>
          <p:cNvPr id="4" name="Image 0" descr="Cocina con muebles Achon">    </p:cNvPr>
          <p:cNvPicPr>
            <a:picLocks noChangeAspect="1"/>
          </p:cNvPicPr>
          <p:nvPr/>
        </p:nvPicPr>
        <p:blipFill>
          <a:blip r:embed="rId1"/>
          <a:srcRect l="19016" r="15558" t="0" b="0"/>
          <a:stretch/>
        </p:blipFill>
        <p:spPr>
          <a:xfrm>
            <a:off x="548640" y="1783080"/>
            <a:ext cx="4572000" cy="3931920"/>
          </a:xfrm>
          <a:prstGeom prst="rect">
            <a:avLst/>
          </a:prstGeom>
        </p:spPr>
      </p:pic>
      <p:pic>
        <p:nvPicPr>
          <p:cNvPr id="5" name="Image 1" descr="Estar con salida al exterior">    </p:cNvPr>
          <p:cNvPicPr>
            <a:picLocks noChangeAspect="1"/>
          </p:cNvPicPr>
          <p:nvPr/>
        </p:nvPicPr>
        <p:blipFill>
          <a:blip r:embed="rId2"/>
          <a:srcRect l="23812" r="23812" t="0" b="0"/>
          <a:stretch/>
        </p:blipFill>
        <p:spPr>
          <a:xfrm>
            <a:off x="5303520" y="1783080"/>
            <a:ext cx="3657600" cy="3931920"/>
          </a:xfrm>
          <a:prstGeom prst="rect">
            <a:avLst/>
          </a:prstGeom>
        </p:spPr>
      </p:pic>
      <p:pic>
        <p:nvPicPr>
          <p:cNvPr id="6" name="Image 2" descr="Baño">    </p:cNvPr>
          <p:cNvPicPr>
            <a:picLocks noChangeAspect="1"/>
          </p:cNvPicPr>
          <p:nvPr/>
        </p:nvPicPr>
        <p:blipFill>
          <a:blip r:embed="rId3"/>
          <a:srcRect l="6119" r="9179" t="0" b="0"/>
          <a:stretch/>
        </p:blipFill>
        <p:spPr>
          <a:xfrm>
            <a:off x="9144000" y="1783080"/>
            <a:ext cx="2499055" cy="39319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5788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Cocina con muebles Achon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5303520" y="5788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Estar con salida al exterior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9144000" y="5788152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Baño</a:t>
            </a:r>
            <a:endParaRPr lang="en-US" sz="1050" dirty="0"/>
          </a:p>
        </p:txBody>
      </p:sp>
      <p:pic>
        <p:nvPicPr>
          <p:cNvPr id="10" name="Image 3" descr="Isotipo Meridiano Capital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DORMITORIOS Y HUÉSPEDES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Espacio para la familia y para las visitas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propiedad cuenta con 6 dormitorios y una segunda casa, independiente de la residencia principal, para alojar a familiares y amigos.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solución práctica para recibir visitas con privacidad durante fines de semana, vacaciones y estadías prolongadas.</a:t>
            </a:r>
            <a:endParaRPr lang="en-US" sz="1400" dirty="0"/>
          </a:p>
        </p:txBody>
      </p:sp>
      <p:pic>
        <p:nvPicPr>
          <p:cNvPr id="5" name="Image 0" descr="Dormitorio con dos camas">    </p:cNvPr>
          <p:cNvPicPr>
            <a:picLocks noChangeAspect="1"/>
          </p:cNvPicPr>
          <p:nvPr/>
        </p:nvPicPr>
        <p:blipFill>
          <a:blip r:embed="rId1"/>
          <a:srcRect l="13788" r="9192" t="0" b="0"/>
          <a:stretch/>
        </p:blipFill>
        <p:spPr>
          <a:xfrm>
            <a:off x="4023360" y="1783080"/>
            <a:ext cx="2423160" cy="3931920"/>
          </a:xfrm>
          <a:prstGeom prst="rect">
            <a:avLst/>
          </a:prstGeom>
        </p:spPr>
      </p:pic>
      <p:pic>
        <p:nvPicPr>
          <p:cNvPr id="6" name="Image 1" descr="Dormitorio, vista hacia la puerta">    </p:cNvPr>
          <p:cNvPicPr>
            <a:picLocks noChangeAspect="1"/>
          </p:cNvPicPr>
          <p:nvPr/>
        </p:nvPicPr>
        <p:blipFill>
          <a:blip r:embed="rId2"/>
          <a:srcRect l="8896" r="8896" t="0" b="0"/>
          <a:stretch/>
        </p:blipFill>
        <p:spPr>
          <a:xfrm>
            <a:off x="6629400" y="1783080"/>
            <a:ext cx="2423160" cy="3931920"/>
          </a:xfrm>
          <a:prstGeom prst="rect">
            <a:avLst/>
          </a:prstGeom>
        </p:spPr>
      </p:pic>
      <p:pic>
        <p:nvPicPr>
          <p:cNvPr id="7" name="Image 2" descr="Dormitorio con ladrillo visto">    </p:cNvPr>
          <p:cNvPicPr>
            <a:picLocks noChangeAspect="1"/>
          </p:cNvPicPr>
          <p:nvPr/>
        </p:nvPicPr>
        <p:blipFill>
          <a:blip r:embed="rId3"/>
          <a:srcRect l="26227" r="39341" t="0" b="0"/>
          <a:stretch/>
        </p:blipFill>
        <p:spPr>
          <a:xfrm>
            <a:off x="9235440" y="1783080"/>
            <a:ext cx="2407615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023360" y="5788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Dormitorio con dos camas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6629400" y="5788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Dormitorio, vista hacia la puerta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235440" y="5788152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Dormitorio con ladrillo visto</a:t>
            </a:r>
            <a:endParaRPr lang="en-US" sz="1050" dirty="0"/>
          </a:p>
        </p:txBody>
      </p:sp>
      <p:pic>
        <p:nvPicPr>
          <p:cNvPr id="11" name="Image 3" descr="Isotipo Meridiano Capital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JARDÍN Y RECREACIÓN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vida al aire libre, sin salir de casa</a:t>
            </a:r>
            <a:endParaRPr lang="en-US" sz="3000" dirty="0"/>
          </a:p>
        </p:txBody>
      </p:sp>
      <p:pic>
        <p:nvPicPr>
          <p:cNvPr id="4" name="Image 0" descr="Piscina con deck">    </p:cNvPr>
          <p:cNvPicPr>
            <a:picLocks noChangeAspect="1"/>
          </p:cNvPicPr>
          <p:nvPr/>
        </p:nvPicPr>
        <p:blipFill>
          <a:blip r:embed="rId1"/>
          <a:srcRect l="0" r="0" t="7222" b="5909"/>
          <a:stretch/>
        </p:blipFill>
        <p:spPr>
          <a:xfrm>
            <a:off x="548640" y="1783080"/>
            <a:ext cx="6035040" cy="3931920"/>
          </a:xfrm>
          <a:prstGeom prst="rect">
            <a:avLst/>
          </a:prstGeom>
        </p:spPr>
      </p:pic>
      <p:pic>
        <p:nvPicPr>
          <p:cNvPr id="5" name="Image 1" descr="Quincho con parrilla">    </p:cNvPr>
          <p:cNvPicPr>
            <a:picLocks noChangeAspect="1"/>
          </p:cNvPicPr>
          <p:nvPr/>
        </p:nvPicPr>
        <p:blipFill>
          <a:blip r:embed="rId2"/>
          <a:srcRect l="0" r="0" t="1449" b="1771"/>
          <a:stretch/>
        </p:blipFill>
        <p:spPr>
          <a:xfrm>
            <a:off x="6766560" y="1783080"/>
            <a:ext cx="2286000" cy="3931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7881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Piscina con deck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5788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Quincho con parrilla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9326880" y="1783080"/>
            <a:ext cx="2313432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326880" y="187452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Piscina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326880" y="2240280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deck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326880" y="2770632"/>
            <a:ext cx="2313432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326880" y="28620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Quincho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326880" y="322783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parrilla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326880" y="3758184"/>
            <a:ext cx="2313432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326880" y="384962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Cancha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4215384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fútbol y vóley, con iluminación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326880" y="4745736"/>
            <a:ext cx="2313432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326880" y="483717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Jardín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9326880" y="5202936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aprox. 750 m², empastado, con árboles y palmeras</a:t>
            </a:r>
            <a:endParaRPr lang="en-US" sz="1150" dirty="0"/>
          </a:p>
        </p:txBody>
      </p:sp>
      <p:pic>
        <p:nvPicPr>
          <p:cNvPr id="20" name="Image 2" descr="Isotipo Meridiano Capital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Urbanización SADI III, San Bernardino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Departamento de Cordillera, Paraguay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casa se encuentra en un terreno en esquina dentro de la Urbanización SADI III, en un entorno residencial con abundante vegetación, pensado para disfrutar de fines de semana y vacaciones.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82880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06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Esquina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terreno de 1.100 m²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4069080"/>
            <a:ext cx="182880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4206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accesos vehiculares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4069080"/>
            <a:ext cx="182880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4206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Norte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orientación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377440"/>
            <a:ext cx="4327855" cy="2834640"/>
          </a:xfrm>
          <a:prstGeom prst="rect">
            <a:avLst/>
          </a:prstGeom>
          <a:solidFill>
            <a:srgbClr val="1D414D"/>
          </a:solidFill>
          <a:ln w="9525">
            <a:solidFill>
              <a:srgbClr val="C998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UBICACIÓN REFERENCIAL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063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dirección exacta y la ubicación en el mapa se comparten al coordinar la visita.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343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Referencia: Urbanización SADI III · San Bernardino · Cordillera</a:t>
            </a:r>
            <a:endParaRPr lang="en-US" sz="1150" dirty="0"/>
          </a:p>
        </p:txBody>
      </p:sp>
      <p:pic>
        <p:nvPicPr>
          <p:cNvPr id="19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EDE3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FICHA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4313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Características principales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259775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Característica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EDE3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Detalle</a:t>
                      </a:r>
                      <a:endParaRPr lang="en-US" sz="11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13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Ubicación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Urbanización SADI III, San Bernardino, Cordillera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Terreno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1.100 m², en esquina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Construcción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Aproximadamente 490 m²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Jardín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Aproximadamente 750 m², empastado, con árboles y palmeras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Programa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6 dormitorios · 4 baños + baño social · 14 ambientes · 2 niveles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Configuración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Residencia principal y segunda casa para huéspedes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Exterior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Piscina con deck · quincho con parrilla · cancha de fútbol y vóley con iluminación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Cocina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Con muebles Achon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Estacionamiento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4 vehículos · 2 accesos vehiculares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Servicios y seguridad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Tanque de agua con motor · alarma · WiFi · TV cable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Orientación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Norte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Estado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13A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Excelente conservación, según la información recibida</a:t>
                      </a:r>
                      <a:endParaRPr lang="en-US" sz="12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Isotipo Meridiano Capit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6336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 ·  Urbanización SADI III, San Bernardino  ·  WEB ID 39903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0911535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incho con parrilla y galería">    </p:cNvPr>
          <p:cNvPicPr>
            <a:picLocks noChangeAspect="1"/>
          </p:cNvPicPr>
          <p:nvPr/>
        </p:nvPicPr>
        <p:blipFill>
          <a:blip r:embed="rId1"/>
          <a:srcRect l="33239" r="27195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DE VENTA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dirty="0">
                <a:solidFill>
                  <a:srgbClr val="8B332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179.000</a:t>
            </a:r>
            <a:endParaRPr lang="en-US" sz="5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Casa familiar con piscina, quincho, gran jardín y casa independiente para huéspedes, en Urbanización SADI III, San Bernardino.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611880"/>
            <a:ext cx="521208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CONFIRMAR ANTES DE FORMALIZAR UNA OFERTA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605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31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 de pago · impuestos y gastos de la operación · documentación · disponibilidad · elementos muebles incluidos.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Fotografía: quincho con parrilla y galería.</a:t>
            </a:r>
            <a:endParaRPr lang="en-US" sz="1050" dirty="0"/>
          </a:p>
        </p:txBody>
      </p:sp>
      <p:pic>
        <p:nvPicPr>
          <p:cNvPr id="10" name="Image 1" descr="Isotipo 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63367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0120" y="6336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ID 39903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63367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3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c. Juan José Castillo">    </p:cNvPr>
          <p:cNvPicPr>
            <a:picLocks noChangeAspect="1"/>
          </p:cNvPicPr>
          <p:nvPr/>
        </p:nvPicPr>
        <p:blipFill>
          <a:blip r:embed="rId1"/>
          <a:srcRect l="2170" r="2170" t="0" b="0"/>
          <a:stretch/>
        </p:blipFill>
        <p:spPr>
          <a:xfrm>
            <a:off x="7818120" y="0"/>
            <a:ext cx="4373575" cy="6858000"/>
          </a:xfrm>
          <a:prstGeom prst="rect">
            <a:avLst/>
          </a:prstGeom>
        </p:spPr>
      </p:pic>
      <p:pic>
        <p:nvPicPr>
          <p:cNvPr id="3" name="Image 1" descr="Meridiano Capital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" y="548640"/>
            <a:ext cx="2194560" cy="71451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600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Coordinemos una visita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Conocé personalmente la amplitud de la casa, la independencia de la casa de huéspedes y sus espacios exteriores.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48640" y="3611880"/>
            <a:ext cx="6492240" cy="0"/>
          </a:xfrm>
          <a:prstGeom prst="line">
            <a:avLst/>
          </a:prstGeom>
          <a:noFill/>
          <a:ln w="9525">
            <a:solidFill>
              <a:srgbClr val="C9982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7673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Lic. Juan José Castillo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245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Broker Inmobiliario | Meridiano Capital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663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u="sng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+595 982 853 111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u="sng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juancastillo@meridianocapital.net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u="sng" dirty="0">
                <a:solidFill>
                  <a:srgbClr val="F3EDE3"/>
                </a:solidFill>
                <a:latin typeface="Poppins" pitchFamily="34" charset="0"/>
                <a:ea typeface="Poppins" pitchFamily="34" charset="-122"/>
                <a:cs typeface="Poppi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www.meridianocapital.net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623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 ID 39903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989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F3EDE3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comercial de referencia. Precio y condiciones sujetos a confirmación y disponibilidad; las condiciones definitivas se formalizan en el boleto de compraventa. Datos de la propiedad según la información recibida.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B3323"/>
      </a:hlink>
      <a:folHlink>
        <a:srgbClr val="6B615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Meridiano Capital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Casa familiar con piscina y casa de huéspedes | San Bernardino</dc:title>
  <dc:subject>Presentación de venta · WEB ID 39903</dc:subject>
  <dc:creator>Meridiano Capital</dc:creator>
  <cp:lastModifiedBy>Meridiano Capital</cp:lastModifiedBy>
  <cp:revision>1</cp:revision>
  <dcterms:created xsi:type="dcterms:W3CDTF">2026-09-29T01:26:37Z</dcterms:created>
  <dcterms:modified xsi:type="dcterms:W3CDTF">2026-09-29T01:26:37Z</dcterms:modified>
</cp:coreProperties>
</file>