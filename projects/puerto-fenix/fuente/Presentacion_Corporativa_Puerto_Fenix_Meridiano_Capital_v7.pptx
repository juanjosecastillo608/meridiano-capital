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66"/>
    <p:restoredTop sz="94680"/>
  </p:normalViewPr>
  <p:slideViewPr>
    <p:cSldViewPr snapToGrid="0">
      <p:cViewPr varScale="1">
        <p:scale>
          <a:sx n="131" d="100"/>
          <a:sy n="131" d="100"/>
        </p:scale>
        <p:origin x="696" y="4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Fuente: Cotización Tinglado 1000 m2 Puerto Fénix MRA.pdf, páginas 2 a 5. Presentación comercial base para posterior adaptación a normas de Meridiano Capital.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Fuente: página 2 y mapa incorporado en el documento adjunto. No se agregaron tiempos de viaje ni distancias no informadas.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Las cuatro fotografías se presentan sin deformación, respetando la composición y proporción del documento fuente. La capacidad aproximada de 18.000 m² surge de las dimensiones del plano: 100,00 m por 179,80 m. Superficie mínima de contratación: 1.000 m².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 visual: D15 PLANO - Planta Arquitectónica Puerto Fénix planta libre.pdf. El plano rotula dimensiones generales de 100,00 m por 179,80 m, equivalentes a aproximadamente 17.980 m². La presentación redondea la capacidad por nave a 18.000 m². Superficie mínima de alquiler: 1.000 m².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Fuente: página 5. Los servicios adicionales están sujetos a cotización y disponibilidad, según el documento fuente.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 visual: página 6. La identificación definitiva del número de depósito está pendiente en el documento fuente.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Fuente: páginas 5 y 8. El documento indica que en el predio funciona una oficina de la Aduana Paraguaya y que pueden aplicarse variantes aduaneras.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 de alquiler: páginas 5 y 9. Expensas de USD 0,20 + IVA por m² informadas por el usuario. Para 2.000 m²: alquiler USD 11.000 + IVA, expensas USD 400 + IVA y total mensual USD 11.400 + IVA.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Fuente: página 7. Se conserva la unidad publicada en el documento fuente. El concepto de flete corto combina la expresión 'por viaje' con una tarifa por m², por lo que su facturación definitiva debe formalizarse en la cotización contractual.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Fuente: página 9. El paso de definición del módulo y la validación comercial organizan el proceso comercial sin alterar los requisitos documentales del PDF.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Imágenes adicionales aportadas por el usuario el 24.09.2026. Se presentan como referencia de configuración operativa y almacenamiento.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Cargo y correo actualizados por el usuario: Juan José Castillo, Broker Inmobiliario, juancastillo@meridianocapital.net. La fotografía proviene del documento original.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8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n 10"/>
          <p:cNvPicPr>
            <a:picLocks noChangeAspect="1"/>
          </p:cNvPicPr>
          <p:nvPr/>
        </p:nvPicPr>
        <p:blipFill>
          <a:blip r:embed="rId3"/>
          <a:srcRect l="10417" r="10417"/>
          <a:stretch>
            <a:fillRect/>
          </a:stretch>
        </p:blipFill>
        <p:spPr>
          <a:xfrm>
            <a:off x="4953000" y="0"/>
            <a:ext cx="7239000" cy="6858000"/>
          </a:xfrm>
          <a:prstGeom prst="rect">
            <a:avLst/>
          </a:prstGeom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E16E24E5-B5C6-44DF-93F0-7C7B039DDB8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5810250" cy="6858000"/>
          </a:xfrm>
          <a:prstGeom prst="rect">
            <a:avLst/>
          </a:prstGeom>
          <a:solidFill>
            <a:srgbClr val="10283B"/>
          </a:solidFill>
          <a:ln w="0">
            <a:noFill/>
          </a:ln>
        </p:spPr>
        <p:txBody>
          <a:bodyPr/>
          <a:lstStyle/>
          <a:p>
            <a:endParaRPr lang="es-AR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08BBCF22-4743-433F-B405-8863E50998ED}"/>
              </a:ext>
            </a:extLst>
          </p:cNvPr>
          <p:cNvSpPr>
            <a:spLocks noGrp="1"/>
          </p:cNvSpPr>
          <p:nvPr/>
        </p:nvSpPr>
        <p:spPr>
          <a:xfrm>
            <a:off x="4953000" y="0"/>
            <a:ext cx="1809750" cy="6858000"/>
          </a:xfrm>
          <a:prstGeom prst="rect">
            <a:avLst/>
          </a:prstGeom>
          <a:ln w="0">
            <a:noFill/>
          </a:ln>
        </p:spPr>
        <p:txBody>
          <a:bodyPr/>
          <a:lstStyle/>
          <a:p>
            <a:endParaRPr lang="es-AR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B0940E4C-1A7F-4046-833B-AB839B2D87D5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39052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833"/>
          </a:bodyPr>
          <a:lstStyle/>
          <a:p>
            <a:pPr algn="l">
              <a:defRPr sz="1200" b="1">
                <a:solidFill>
                  <a:srgbClr val="C47A45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C47A45"/>
                </a:solidFill>
                <a:latin typeface="DejaVu Sans"/>
                <a:ea typeface="DejaVu Sans"/>
                <a:cs typeface="DejaVu Sans"/>
              </a:rPr>
              <a:t>MERIDIANO CAPITAL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4C2387A-C16D-407A-B00F-1D21B39E54FD}"/>
              </a:ext>
            </a:extLst>
          </p:cNvPr>
          <p:cNvSpPr>
            <a:spLocks noGrp="1"/>
          </p:cNvSpPr>
          <p:nvPr/>
        </p:nvSpPr>
        <p:spPr>
          <a:xfrm>
            <a:off x="609600" y="1428750"/>
            <a:ext cx="4762500" cy="1428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703"/>
          </a:bodyPr>
          <a:lstStyle/>
          <a:p>
            <a:pPr algn="l">
              <a:defRPr sz="36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Naves industriales</a:t>
            </a:r>
          </a:p>
          <a:p>
            <a:pPr algn="l">
              <a:defRPr sz="36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en Puerto Fénix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C882F84C-82D3-48D6-8409-BD18A8139597}"/>
              </a:ext>
            </a:extLst>
          </p:cNvPr>
          <p:cNvSpPr>
            <a:spLocks noGrp="1"/>
          </p:cNvSpPr>
          <p:nvPr/>
        </p:nvSpPr>
        <p:spPr>
          <a:xfrm>
            <a:off x="609600" y="3076575"/>
            <a:ext cx="409575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650" b="0">
                <a:solidFill>
                  <a:srgbClr val="DDE5E9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DDE5E9"/>
                </a:solidFill>
                <a:latin typeface="DejaVu Sans"/>
                <a:ea typeface="DejaVu Sans"/>
                <a:cs typeface="DejaVu Sans"/>
              </a:rPr>
              <a:t>Propuesta corporativa de alquiler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15D3368F-3B2C-4600-B688-CD18F5895734}"/>
              </a:ext>
            </a:extLst>
          </p:cNvPr>
          <p:cNvSpPr>
            <a:spLocks noGrp="1"/>
          </p:cNvSpPr>
          <p:nvPr/>
        </p:nvSpPr>
        <p:spPr>
          <a:xfrm>
            <a:off x="609600" y="3714750"/>
            <a:ext cx="857250" cy="57150"/>
          </a:xfrm>
          <a:prstGeom prst="rect">
            <a:avLst/>
          </a:prstGeom>
          <a:solidFill>
            <a:srgbClr val="C47A45"/>
          </a:solidFill>
          <a:ln w="0">
            <a:noFill/>
          </a:ln>
        </p:spPr>
        <p:txBody>
          <a:bodyPr/>
          <a:lstStyle/>
          <a:p>
            <a:endParaRPr lang="es-AR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02092E55-7BF9-4382-A3DF-445C933AEB9E}"/>
              </a:ext>
            </a:extLst>
          </p:cNvPr>
          <p:cNvSpPr>
            <a:spLocks noGrp="1"/>
          </p:cNvSpPr>
          <p:nvPr/>
        </p:nvSpPr>
        <p:spPr>
          <a:xfrm>
            <a:off x="609600" y="4095750"/>
            <a:ext cx="40957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Mariano Roque Alonso · Paraguay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9E03DD76-46E8-4D09-A7DF-06B92EAA9626}"/>
              </a:ext>
            </a:extLst>
          </p:cNvPr>
          <p:cNvSpPr>
            <a:spLocks noGrp="1"/>
          </p:cNvSpPr>
          <p:nvPr/>
        </p:nvSpPr>
        <p:spPr>
          <a:xfrm>
            <a:off x="609600" y="4495800"/>
            <a:ext cx="4095750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0">
                <a:solidFill>
                  <a:srgbClr val="DDE5E9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DDE5E9"/>
                </a:solidFill>
                <a:latin typeface="DejaVu Sans"/>
                <a:ea typeface="DejaVu Sans"/>
                <a:cs typeface="DejaVu Sans"/>
              </a:rPr>
              <a:t>Módulos desde 1.000 m² · 18.000 m² por nave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E19C9754-396D-49B0-BE99-CB45C7F5588C}"/>
              </a:ext>
            </a:extLst>
          </p:cNvPr>
          <p:cNvSpPr>
            <a:spLocks noGrp="1"/>
          </p:cNvSpPr>
          <p:nvPr/>
        </p:nvSpPr>
        <p:spPr>
          <a:xfrm>
            <a:off x="609600" y="6115050"/>
            <a:ext cx="409575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111"/>
          </a:bodyPr>
          <a:lstStyle/>
          <a:p>
            <a:pPr algn="l">
              <a:defRPr sz="900" b="0">
                <a:solidFill>
                  <a:srgbClr val="AEBCC4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AEBCC4"/>
                </a:solidFill>
                <a:latin typeface="DejaVu Sans"/>
                <a:ea typeface="DejaVu Sans"/>
                <a:cs typeface="DejaVu Sans"/>
              </a:rPr>
              <a:t>Documento comercial base · 24.09.2026</a:t>
            </a:r>
          </a:p>
        </p:txBody>
      </p:sp>
    </p:spTree>
    <p:extLst>
      <p:ext uri="{BB962C8B-B14F-4D97-AF65-F5344CB8AC3E}">
        <p14:creationId xmlns:p14="http://schemas.microsoft.com/office/powerpoint/2010/main" val="17880367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ángulo 16">
            <a:extLst>
              <a:ext uri="{FF2B5EF4-FFF2-40B4-BE49-F238E27FC236}">
                <a16:creationId xmlns:a16="http://schemas.microsoft.com/office/drawing/2014/main" id="{5A566798-1B79-4D93-8133-01EC52C4E197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590550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7619"/>
          </a:bodyPr>
          <a:lstStyle/>
          <a:p>
            <a:pPr algn="l">
              <a:defRPr sz="1050" b="1">
                <a:solidFill>
                  <a:srgbClr val="C47A45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C47A45"/>
                </a:solidFill>
                <a:latin typeface="DejaVu Sans"/>
                <a:ea typeface="DejaVu Sans"/>
                <a:cs typeface="DejaVu Sans"/>
              </a:rPr>
              <a:t>ACCESO ESTRATÉGICO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681DA043-9EAA-4949-A470-B5D1CE40D552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550" b="1">
                <a:solidFill>
                  <a:srgbClr val="10283B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0283B"/>
                </a:solidFill>
                <a:latin typeface="DejaVu Sans"/>
                <a:ea typeface="DejaVu Sans"/>
                <a:cs typeface="DejaVu Sans"/>
              </a:rPr>
              <a:t>Ubicación en el corredor metropolitano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29FE2155-5A5F-454D-8E1B-E80F231E7C4D}"/>
              </a:ext>
            </a:extLst>
          </p:cNvPr>
          <p:cNvSpPr>
            <a:spLocks noGrp="1"/>
          </p:cNvSpPr>
          <p:nvPr/>
        </p:nvSpPr>
        <p:spPr>
          <a:xfrm>
            <a:off x="609600" y="1238250"/>
            <a:ext cx="685800" cy="47625"/>
          </a:xfrm>
          <a:prstGeom prst="rect">
            <a:avLst/>
          </a:prstGeom>
          <a:solidFill>
            <a:srgbClr val="C47A45"/>
          </a:solidFill>
          <a:ln w="0">
            <a:noFill/>
          </a:ln>
        </p:spPr>
        <p:txBody>
          <a:bodyPr/>
          <a:lstStyle/>
          <a:p>
            <a:endParaRPr lang="es-AR"/>
          </a:p>
        </p:txBody>
      </p:sp>
      <p:pic>
        <p:nvPicPr>
          <p:cNvPr id="20" name="Imagen 1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297590" y="1600200"/>
            <a:ext cx="5196270" cy="4095750"/>
          </a:xfrm>
          <a:prstGeom prst="rect">
            <a:avLst/>
          </a:prstGeom>
        </p:spPr>
      </p:pic>
      <p:sp>
        <p:nvSpPr>
          <p:cNvPr id="5" name="Rectángulo redondeado 4">
            <a:extLst>
              <a:ext uri="{FF2B5EF4-FFF2-40B4-BE49-F238E27FC236}">
                <a16:creationId xmlns:a16="http://schemas.microsoft.com/office/drawing/2014/main" id="{5E32E3CF-3DF1-43E7-9BE1-FF41FC4CE382}"/>
              </a:ext>
            </a:extLst>
          </p:cNvPr>
          <p:cNvSpPr>
            <a:spLocks noGrp="1"/>
          </p:cNvSpPr>
          <p:nvPr/>
        </p:nvSpPr>
        <p:spPr>
          <a:xfrm>
            <a:off x="7620000" y="1600200"/>
            <a:ext cx="3962400" cy="4095750"/>
          </a:xfrm>
          <a:prstGeom prst="roundRect">
            <a:avLst>
              <a:gd name="adj" fmla="val 4327"/>
            </a:avLst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es-AR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2454A691-21CE-4C00-A347-EAC5BC50BF27}"/>
              </a:ext>
            </a:extLst>
          </p:cNvPr>
          <p:cNvSpPr>
            <a:spLocks noGrp="1"/>
          </p:cNvSpPr>
          <p:nvPr/>
        </p:nvSpPr>
        <p:spPr>
          <a:xfrm>
            <a:off x="7962900" y="1905000"/>
            <a:ext cx="32385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875" b="1">
                <a:solidFill>
                  <a:srgbClr val="1028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0283B"/>
                </a:solidFill>
                <a:latin typeface="DejaVu Sans"/>
                <a:ea typeface="DejaVu Sans"/>
                <a:cs typeface="DejaVu Sans"/>
              </a:rPr>
              <a:t>Mariano Roque Alonso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A9CCB74D-0233-41DF-8FA0-1E99B23B7509}"/>
              </a:ext>
            </a:extLst>
          </p:cNvPr>
          <p:cNvSpPr>
            <a:spLocks noGrp="1"/>
          </p:cNvSpPr>
          <p:nvPr/>
        </p:nvSpPr>
        <p:spPr>
          <a:xfrm>
            <a:off x="7962900" y="2381250"/>
            <a:ext cx="3143250" cy="781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0">
                <a:solidFill>
                  <a:srgbClr val="14222C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4222C"/>
                </a:solidFill>
                <a:latin typeface="DejaVu Sans"/>
                <a:ea typeface="DejaVu Sans"/>
                <a:cs typeface="DejaVu Sans"/>
              </a:rPr>
              <a:t>Centro logístico y portuario con conexión al área metropolitana de Asunción.</a:t>
            </a: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4E3C6598-450C-49DE-82C7-B42205C4C4A3}"/>
              </a:ext>
            </a:extLst>
          </p:cNvPr>
          <p:cNvSpPr>
            <a:spLocks noGrp="1"/>
          </p:cNvSpPr>
          <p:nvPr/>
        </p:nvSpPr>
        <p:spPr>
          <a:xfrm>
            <a:off x="7962900" y="3495675"/>
            <a:ext cx="76200" cy="76200"/>
          </a:xfrm>
          <a:prstGeom prst="ellipse">
            <a:avLst/>
          </a:prstGeom>
          <a:solidFill>
            <a:srgbClr val="C47A45"/>
          </a:solidFill>
          <a:ln w="0">
            <a:noFill/>
          </a:ln>
        </p:spPr>
        <p:txBody>
          <a:bodyPr/>
          <a:lstStyle/>
          <a:p>
            <a:endParaRPr lang="es-AR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34643DBE-A320-4954-A407-0CAC9525C6DB}"/>
              </a:ext>
            </a:extLst>
          </p:cNvPr>
          <p:cNvSpPr>
            <a:spLocks noGrp="1"/>
          </p:cNvSpPr>
          <p:nvPr/>
        </p:nvSpPr>
        <p:spPr>
          <a:xfrm>
            <a:off x="8191500" y="3409950"/>
            <a:ext cx="291465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4314"/>
          </a:bodyPr>
          <a:lstStyle/>
          <a:p>
            <a:pPr algn="l">
              <a:defRPr sz="1275" b="0">
                <a:solidFill>
                  <a:srgbClr val="14222C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4222C"/>
                </a:solidFill>
                <a:latin typeface="DejaVu Sans"/>
                <a:ea typeface="DejaVu Sans"/>
                <a:cs typeface="DejaVu Sans"/>
              </a:rPr>
              <a:t>Operación dentro del complejo Puerto Fénix</a:t>
            </a:r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EEDCC96B-FB1C-42D3-8850-5D6CB700D87D}"/>
              </a:ext>
            </a:extLst>
          </p:cNvPr>
          <p:cNvSpPr>
            <a:spLocks noGrp="1"/>
          </p:cNvSpPr>
          <p:nvPr/>
        </p:nvSpPr>
        <p:spPr>
          <a:xfrm>
            <a:off x="7962900" y="4067175"/>
            <a:ext cx="76200" cy="76200"/>
          </a:xfrm>
          <a:prstGeom prst="ellipse">
            <a:avLst/>
          </a:prstGeom>
          <a:solidFill>
            <a:srgbClr val="C47A45"/>
          </a:solidFill>
          <a:ln w="0">
            <a:noFill/>
          </a:ln>
        </p:spPr>
        <p:txBody>
          <a:bodyPr/>
          <a:lstStyle/>
          <a:p>
            <a:endParaRPr lang="es-AR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D18221E9-4544-4D23-8F9A-3117A5D3B45F}"/>
              </a:ext>
            </a:extLst>
          </p:cNvPr>
          <p:cNvSpPr>
            <a:spLocks noGrp="1"/>
          </p:cNvSpPr>
          <p:nvPr/>
        </p:nvSpPr>
        <p:spPr>
          <a:xfrm>
            <a:off x="8191500" y="3981450"/>
            <a:ext cx="291465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4314"/>
          </a:bodyPr>
          <a:lstStyle/>
          <a:p>
            <a:pPr algn="l">
              <a:defRPr sz="1275" b="0">
                <a:solidFill>
                  <a:srgbClr val="14222C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4222C"/>
                </a:solidFill>
                <a:latin typeface="DejaVu Sans"/>
                <a:ea typeface="DejaVu Sans"/>
                <a:cs typeface="DejaVu Sans"/>
              </a:rPr>
              <a:t>Acceso funcional para transporte y distribución</a:t>
            </a:r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293AF7DC-E2D5-44E5-8E38-04394F944B31}"/>
              </a:ext>
            </a:extLst>
          </p:cNvPr>
          <p:cNvSpPr>
            <a:spLocks noGrp="1"/>
          </p:cNvSpPr>
          <p:nvPr/>
        </p:nvSpPr>
        <p:spPr>
          <a:xfrm>
            <a:off x="7962900" y="4638675"/>
            <a:ext cx="76200" cy="76200"/>
          </a:xfrm>
          <a:prstGeom prst="ellipse">
            <a:avLst/>
          </a:prstGeom>
          <a:solidFill>
            <a:srgbClr val="C47A45"/>
          </a:solidFill>
          <a:ln w="0">
            <a:noFill/>
          </a:ln>
        </p:spPr>
        <p:txBody>
          <a:bodyPr/>
          <a:lstStyle/>
          <a:p>
            <a:endParaRPr lang="es-AR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9E0C0E24-5F38-42FB-8A80-D482F902CC8E}"/>
              </a:ext>
            </a:extLst>
          </p:cNvPr>
          <p:cNvSpPr>
            <a:spLocks noGrp="1"/>
          </p:cNvSpPr>
          <p:nvPr/>
        </p:nvSpPr>
        <p:spPr>
          <a:xfrm>
            <a:off x="8191500" y="4552950"/>
            <a:ext cx="291465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6509"/>
          </a:bodyPr>
          <a:lstStyle/>
          <a:p>
            <a:pPr algn="l">
              <a:defRPr sz="1275" b="0">
                <a:solidFill>
                  <a:srgbClr val="14222C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4222C"/>
                </a:solidFill>
                <a:latin typeface="DejaVu Sans"/>
                <a:ea typeface="DejaVu Sans"/>
                <a:cs typeface="DejaVu Sans"/>
              </a:rPr>
              <a:t>Infraestructura vinculada al muelle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D68298A4-179F-44E6-8558-1499BC6EFC81}"/>
              </a:ext>
            </a:extLst>
          </p:cNvPr>
          <p:cNvSpPr>
            <a:spLocks noGrp="1"/>
          </p:cNvSpPr>
          <p:nvPr/>
        </p:nvSpPr>
        <p:spPr>
          <a:xfrm>
            <a:off x="7962900" y="5219700"/>
            <a:ext cx="314325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900" b="0">
                <a:solidFill>
                  <a:srgbClr val="64727C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64727C"/>
                </a:solidFill>
                <a:latin typeface="DejaVu Sans"/>
                <a:ea typeface="DejaVu Sans"/>
                <a:cs typeface="DejaVu Sans"/>
              </a:rPr>
              <a:t>La localización exacta debe conservar el enlace del documento fuente al adaptar la versión final.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B9081CDF-FE6F-4703-BAE2-7D1E88AAA073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238125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63636"/>
          </a:bodyPr>
          <a:lstStyle/>
          <a:p>
            <a:pPr algn="l">
              <a:defRPr sz="825" b="1">
                <a:solidFill>
                  <a:srgbClr val="64727C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64727C"/>
                </a:solidFill>
                <a:latin typeface="DejaVu Sans"/>
                <a:ea typeface="DejaVu Sans"/>
                <a:cs typeface="DejaVu Sans"/>
              </a:rPr>
              <a:t>MERIDIANO CAPITAL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F0B5B9D0-A037-4B4D-9CF6-0B7CCB469189}"/>
              </a:ext>
            </a:extLst>
          </p:cNvPr>
          <p:cNvSpPr>
            <a:spLocks noGrp="1"/>
          </p:cNvSpPr>
          <p:nvPr/>
        </p:nvSpPr>
        <p:spPr>
          <a:xfrm>
            <a:off x="11144250" y="6457950"/>
            <a:ext cx="43815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8788"/>
          </a:bodyPr>
          <a:lstStyle/>
          <a:p>
            <a:pPr algn="r">
              <a:defRPr sz="825" b="1">
                <a:solidFill>
                  <a:srgbClr val="64727C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64727C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598203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ángulo 19">
            <a:extLst>
              <a:ext uri="{FF2B5EF4-FFF2-40B4-BE49-F238E27FC236}">
                <a16:creationId xmlns:a16="http://schemas.microsoft.com/office/drawing/2014/main" id="{4905C7A9-E04D-4527-A890-F1813847866D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590550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7619"/>
          </a:bodyPr>
          <a:lstStyle/>
          <a:p>
            <a:pPr algn="l">
              <a:defRPr sz="1050" b="1">
                <a:solidFill>
                  <a:srgbClr val="C47A45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C47A45"/>
                </a:solidFill>
                <a:latin typeface="DejaVu Sans"/>
                <a:ea typeface="DejaVu Sans"/>
                <a:cs typeface="DejaVu Sans"/>
              </a:rPr>
              <a:t>PUERTO FÉNIX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D9F17C72-DA71-4878-8252-F147DC54026C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550" b="1">
                <a:solidFill>
                  <a:srgbClr val="10283B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0283B"/>
                </a:solidFill>
                <a:latin typeface="DejaVu Sans"/>
                <a:ea typeface="DejaVu Sans"/>
                <a:cs typeface="DejaVu Sans"/>
              </a:rPr>
              <a:t>Escala para operaciones industriales y logísticas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16773A1B-CADE-47A5-B047-645721AE06EA}"/>
              </a:ext>
            </a:extLst>
          </p:cNvPr>
          <p:cNvSpPr>
            <a:spLocks noGrp="1"/>
          </p:cNvSpPr>
          <p:nvPr/>
        </p:nvSpPr>
        <p:spPr>
          <a:xfrm>
            <a:off x="609600" y="1238250"/>
            <a:ext cx="685800" cy="47625"/>
          </a:xfrm>
          <a:prstGeom prst="rect">
            <a:avLst/>
          </a:prstGeom>
          <a:solidFill>
            <a:srgbClr val="C47A45"/>
          </a:solidFill>
          <a:ln w="0">
            <a:noFill/>
          </a:ln>
        </p:spPr>
        <p:txBody>
          <a:bodyPr/>
          <a:lstStyle/>
          <a:p>
            <a:endParaRPr lang="es-AR"/>
          </a:p>
        </p:txBody>
      </p:sp>
      <p:pic>
        <p:nvPicPr>
          <p:cNvPr id="23" name="Imagen 2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15553" y="1600200"/>
            <a:ext cx="5703094" cy="4286250"/>
          </a:xfrm>
          <a:prstGeom prst="rect">
            <a:avLst/>
          </a:prstGeom>
        </p:spPr>
      </p:pic>
      <p:sp>
        <p:nvSpPr>
          <p:cNvPr id="5" name="Rectángulo redondeado 4">
            <a:extLst>
              <a:ext uri="{FF2B5EF4-FFF2-40B4-BE49-F238E27FC236}">
                <a16:creationId xmlns:a16="http://schemas.microsoft.com/office/drawing/2014/main" id="{4F238B80-013F-42AB-B916-9F2AD709F9BB}"/>
              </a:ext>
            </a:extLst>
          </p:cNvPr>
          <p:cNvSpPr>
            <a:spLocks noGrp="1"/>
          </p:cNvSpPr>
          <p:nvPr/>
        </p:nvSpPr>
        <p:spPr>
          <a:xfrm>
            <a:off x="6667500" y="1600200"/>
            <a:ext cx="4914900" cy="4286250"/>
          </a:xfrm>
          <a:prstGeom prst="roundRect">
            <a:avLst>
              <a:gd name="adj" fmla="val 4000"/>
            </a:avLst>
          </a:prstGeom>
          <a:solidFill>
            <a:srgbClr val="10283B"/>
          </a:solidFill>
          <a:ln w="0">
            <a:noFill/>
          </a:ln>
        </p:spPr>
        <p:txBody>
          <a:bodyPr/>
          <a:lstStyle/>
          <a:p>
            <a:endParaRPr lang="es-AR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E965FA65-3E53-4F77-AB13-3B563A3414DA}"/>
              </a:ext>
            </a:extLst>
          </p:cNvPr>
          <p:cNvSpPr>
            <a:spLocks noGrp="1"/>
          </p:cNvSpPr>
          <p:nvPr/>
        </p:nvSpPr>
        <p:spPr>
          <a:xfrm>
            <a:off x="7048500" y="1885950"/>
            <a:ext cx="40005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3518"/>
          </a:bodyPr>
          <a:lstStyle/>
          <a:p>
            <a:pPr algn="l">
              <a:defRPr sz="27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18.000 m²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22AF39F4-95DF-4E8F-BE25-514EB61989AB}"/>
              </a:ext>
            </a:extLst>
          </p:cNvPr>
          <p:cNvSpPr>
            <a:spLocks noGrp="1"/>
          </p:cNvSpPr>
          <p:nvPr/>
        </p:nvSpPr>
        <p:spPr>
          <a:xfrm>
            <a:off x="7048500" y="2381250"/>
            <a:ext cx="40005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0">
                <a:solidFill>
                  <a:srgbClr val="DCE6EA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6EA"/>
                </a:solidFill>
                <a:latin typeface="DejaVu Sans"/>
                <a:ea typeface="DejaVu Sans"/>
                <a:cs typeface="DejaVu Sans"/>
              </a:rPr>
              <a:t>Capacidad aproximada por nave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B36E876F-8136-4656-96B5-8265855C988B}"/>
              </a:ext>
            </a:extLst>
          </p:cNvPr>
          <p:cNvSpPr>
            <a:spLocks noGrp="1"/>
          </p:cNvSpPr>
          <p:nvPr/>
        </p:nvSpPr>
        <p:spPr>
          <a:xfrm>
            <a:off x="7048500" y="2952750"/>
            <a:ext cx="666750" cy="47625"/>
          </a:xfrm>
          <a:prstGeom prst="rect">
            <a:avLst/>
          </a:prstGeom>
          <a:solidFill>
            <a:srgbClr val="C47A45"/>
          </a:solidFill>
          <a:ln w="0">
            <a:noFill/>
          </a:ln>
        </p:spPr>
        <p:txBody>
          <a:bodyPr/>
          <a:lstStyle/>
          <a:p>
            <a:endParaRPr lang="es-AR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E5B5102B-0129-4B3E-AF57-BD664CCAE5AD}"/>
              </a:ext>
            </a:extLst>
          </p:cNvPr>
          <p:cNvSpPr>
            <a:spLocks noGrp="1"/>
          </p:cNvSpPr>
          <p:nvPr/>
        </p:nvSpPr>
        <p:spPr>
          <a:xfrm>
            <a:off x="7048500" y="3219450"/>
            <a:ext cx="180975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0476"/>
          </a:bodyPr>
          <a:lstStyle/>
          <a:p>
            <a:pPr algn="l">
              <a:defRPr sz="2100" b="1">
                <a:solidFill>
                  <a:srgbClr val="C47A45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C47A45"/>
                </a:solidFill>
                <a:latin typeface="DejaVu Sans"/>
                <a:ea typeface="DejaVu Sans"/>
                <a:cs typeface="DejaVu Sans"/>
              </a:rPr>
              <a:t>1.000 m²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9F3B2C6D-DBCD-4A3A-A701-C9747A45C4F8}"/>
              </a:ext>
            </a:extLst>
          </p:cNvPr>
          <p:cNvSpPr>
            <a:spLocks noGrp="1"/>
          </p:cNvSpPr>
          <p:nvPr/>
        </p:nvSpPr>
        <p:spPr>
          <a:xfrm>
            <a:off x="7048500" y="3638550"/>
            <a:ext cx="18097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125" b="0">
                <a:solidFill>
                  <a:srgbClr val="DCE6E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DCE6EA"/>
                </a:solidFill>
                <a:latin typeface="DejaVu Sans"/>
                <a:ea typeface="DejaVu Sans"/>
                <a:cs typeface="DejaVu Sans"/>
              </a:rPr>
              <a:t>Módulo mínimo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36200147-1B87-4293-96A4-4797FE5169A9}"/>
              </a:ext>
            </a:extLst>
          </p:cNvPr>
          <p:cNvSpPr>
            <a:spLocks noGrp="1"/>
          </p:cNvSpPr>
          <p:nvPr/>
        </p:nvSpPr>
        <p:spPr>
          <a:xfrm>
            <a:off x="9286875" y="3219450"/>
            <a:ext cx="17145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0476"/>
          </a:bodyPr>
          <a:lstStyle/>
          <a:p>
            <a:pPr algn="l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80 ha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244C593A-935E-4226-963A-E0A3F5D3035E}"/>
              </a:ext>
            </a:extLst>
          </p:cNvPr>
          <p:cNvSpPr>
            <a:spLocks noGrp="1"/>
          </p:cNvSpPr>
          <p:nvPr/>
        </p:nvSpPr>
        <p:spPr>
          <a:xfrm>
            <a:off x="9286875" y="3638550"/>
            <a:ext cx="18097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125" b="0">
                <a:solidFill>
                  <a:srgbClr val="DCE6E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DCE6EA"/>
                </a:solidFill>
                <a:latin typeface="DejaVu Sans"/>
                <a:ea typeface="DejaVu Sans"/>
                <a:cs typeface="DejaVu Sans"/>
              </a:rPr>
              <a:t>Superficie del puerto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B935DBDA-43EE-4A36-8743-147C331BE377}"/>
              </a:ext>
            </a:extLst>
          </p:cNvPr>
          <p:cNvSpPr>
            <a:spLocks noGrp="1"/>
          </p:cNvSpPr>
          <p:nvPr/>
        </p:nvSpPr>
        <p:spPr>
          <a:xfrm>
            <a:off x="7048500" y="4210050"/>
            <a:ext cx="180975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0476"/>
          </a:bodyPr>
          <a:lstStyle/>
          <a:p>
            <a:pPr algn="l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3.000 m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C0CC21A7-A33E-4C2D-958A-C070369ED5BC}"/>
              </a:ext>
            </a:extLst>
          </p:cNvPr>
          <p:cNvSpPr>
            <a:spLocks noGrp="1"/>
          </p:cNvSpPr>
          <p:nvPr/>
        </p:nvSpPr>
        <p:spPr>
          <a:xfrm>
            <a:off x="7048500" y="4629150"/>
            <a:ext cx="18097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125" b="0">
                <a:solidFill>
                  <a:srgbClr val="DCE6E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DCE6EA"/>
                </a:solidFill>
                <a:latin typeface="DejaVu Sans"/>
                <a:ea typeface="DejaVu Sans"/>
                <a:cs typeface="DejaVu Sans"/>
              </a:rPr>
              <a:t>Extensión de muelle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7E5355D2-7228-4F49-971E-A1A8E511BBED}"/>
              </a:ext>
            </a:extLst>
          </p:cNvPr>
          <p:cNvSpPr>
            <a:spLocks noGrp="1"/>
          </p:cNvSpPr>
          <p:nvPr/>
        </p:nvSpPr>
        <p:spPr>
          <a:xfrm>
            <a:off x="9286875" y="4210050"/>
            <a:ext cx="17145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0476"/>
          </a:bodyPr>
          <a:lstStyle/>
          <a:p>
            <a:pPr algn="l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10 m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75CB6909-2020-45B9-B341-6ACB1007C066}"/>
              </a:ext>
            </a:extLst>
          </p:cNvPr>
          <p:cNvSpPr>
            <a:spLocks noGrp="1"/>
          </p:cNvSpPr>
          <p:nvPr/>
        </p:nvSpPr>
        <p:spPr>
          <a:xfrm>
            <a:off x="9286875" y="4629150"/>
            <a:ext cx="18097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125" b="0">
                <a:solidFill>
                  <a:srgbClr val="DCE6E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DCE6EA"/>
                </a:solidFill>
                <a:latin typeface="DejaVu Sans"/>
                <a:ea typeface="DejaVu Sans"/>
                <a:cs typeface="DejaVu Sans"/>
              </a:rPr>
              <a:t>Altura mínima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9E3B476E-0704-4DA4-8740-A20CECAA111D}"/>
              </a:ext>
            </a:extLst>
          </p:cNvPr>
          <p:cNvSpPr>
            <a:spLocks noGrp="1"/>
          </p:cNvSpPr>
          <p:nvPr/>
        </p:nvSpPr>
        <p:spPr>
          <a:xfrm>
            <a:off x="7048500" y="5276850"/>
            <a:ext cx="40005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9338"/>
          </a:bodyPr>
          <a:lstStyle/>
          <a:p>
            <a:pPr algn="l">
              <a:def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Planta divisible según la operación del cliente.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F8036170-E247-46F0-8096-EAEF6C0CA16B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238125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63636"/>
          </a:bodyPr>
          <a:lstStyle/>
          <a:p>
            <a:pPr algn="l">
              <a:defRPr sz="825" b="1">
                <a:solidFill>
                  <a:srgbClr val="64727C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64727C"/>
                </a:solidFill>
                <a:latin typeface="DejaVu Sans"/>
                <a:ea typeface="DejaVu Sans"/>
                <a:cs typeface="DejaVu Sans"/>
              </a:rPr>
              <a:t>MERIDIANO CAPITAL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5C17C9AA-4A2E-4282-98DE-59791DEB7023}"/>
              </a:ext>
            </a:extLst>
          </p:cNvPr>
          <p:cNvSpPr>
            <a:spLocks noGrp="1"/>
          </p:cNvSpPr>
          <p:nvPr/>
        </p:nvSpPr>
        <p:spPr>
          <a:xfrm>
            <a:off x="11144250" y="6457950"/>
            <a:ext cx="43815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8788"/>
          </a:bodyPr>
          <a:lstStyle/>
          <a:p>
            <a:pPr algn="r">
              <a:defRPr sz="825" b="1">
                <a:solidFill>
                  <a:srgbClr val="64727C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64727C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6342894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ángulo 13">
            <a:extLst>
              <a:ext uri="{FF2B5EF4-FFF2-40B4-BE49-F238E27FC236}">
                <a16:creationId xmlns:a16="http://schemas.microsoft.com/office/drawing/2014/main" id="{B1CC5C33-6F1B-4E06-B544-32F43C9EA214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590550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7619"/>
          </a:bodyPr>
          <a:lstStyle/>
          <a:p>
            <a:pPr algn="l">
              <a:defRPr sz="1050" b="1">
                <a:solidFill>
                  <a:srgbClr val="C47A45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C47A45"/>
                </a:solidFill>
                <a:latin typeface="DejaVu Sans"/>
                <a:ea typeface="DejaVu Sans"/>
                <a:cs typeface="DejaVu Sans"/>
              </a:rPr>
              <a:t>CONFIGURACIÓN ARQUITECTÓNICA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94B01CA6-DF66-41B5-BE59-BA1B190CFBE7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550" b="1">
                <a:solidFill>
                  <a:srgbClr val="10283B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0283B"/>
                </a:solidFill>
                <a:latin typeface="DejaVu Sans"/>
                <a:ea typeface="DejaVu Sans"/>
                <a:cs typeface="DejaVu Sans"/>
              </a:rPr>
              <a:t>Planta libre y subdivisión por demanda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E4928025-E573-48FD-B2CB-EE47938DEBFF}"/>
              </a:ext>
            </a:extLst>
          </p:cNvPr>
          <p:cNvSpPr>
            <a:spLocks noGrp="1"/>
          </p:cNvSpPr>
          <p:nvPr/>
        </p:nvSpPr>
        <p:spPr>
          <a:xfrm>
            <a:off x="609600" y="1238250"/>
            <a:ext cx="685800" cy="47625"/>
          </a:xfrm>
          <a:prstGeom prst="rect">
            <a:avLst/>
          </a:prstGeom>
          <a:solidFill>
            <a:srgbClr val="C47A45"/>
          </a:solidFill>
          <a:ln w="0">
            <a:noFill/>
          </a:ln>
        </p:spPr>
        <p:txBody>
          <a:bodyPr/>
          <a:lstStyle/>
          <a:p>
            <a:endParaRPr lang="es-AR"/>
          </a:p>
        </p:txBody>
      </p:sp>
      <p:pic>
        <p:nvPicPr>
          <p:cNvPr id="17" name="Imagen 1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503183" y="1504950"/>
            <a:ext cx="6309083" cy="4457700"/>
          </a:xfrm>
          <a:prstGeom prst="rect">
            <a:avLst/>
          </a:prstGeom>
        </p:spPr>
      </p:pic>
      <p:sp>
        <p:nvSpPr>
          <p:cNvPr id="5" name="Rectángulo redondeado 4">
            <a:extLst>
              <a:ext uri="{FF2B5EF4-FFF2-40B4-BE49-F238E27FC236}">
                <a16:creationId xmlns:a16="http://schemas.microsoft.com/office/drawing/2014/main" id="{4B404A50-BB33-4FAC-AC7C-B9271DAA5EEF}"/>
              </a:ext>
            </a:extLst>
          </p:cNvPr>
          <p:cNvSpPr>
            <a:spLocks noGrp="1"/>
          </p:cNvSpPr>
          <p:nvPr/>
        </p:nvSpPr>
        <p:spPr>
          <a:xfrm>
            <a:off x="8991600" y="1504950"/>
            <a:ext cx="2590800" cy="4457700"/>
          </a:xfrm>
          <a:prstGeom prst="roundRect">
            <a:avLst>
              <a:gd name="adj" fmla="val 6618"/>
            </a:avLst>
          </a:prstGeom>
          <a:solidFill>
            <a:srgbClr val="10283B"/>
          </a:solidFill>
          <a:ln w="0">
            <a:noFill/>
          </a:ln>
        </p:spPr>
        <p:txBody>
          <a:bodyPr/>
          <a:lstStyle/>
          <a:p>
            <a:endParaRPr lang="es-AR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B48312B0-5A2E-4AEB-B87F-5C3C271A00BA}"/>
              </a:ext>
            </a:extLst>
          </p:cNvPr>
          <p:cNvSpPr>
            <a:spLocks noGrp="1"/>
          </p:cNvSpPr>
          <p:nvPr/>
        </p:nvSpPr>
        <p:spPr>
          <a:xfrm>
            <a:off x="9315450" y="1885950"/>
            <a:ext cx="20002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118"/>
          </a:bodyPr>
          <a:lstStyle/>
          <a:p>
            <a:pPr algn="l"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18.000 m²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7E5C0B4-3041-4E44-BB8E-3A7EDC421CC6}"/>
              </a:ext>
            </a:extLst>
          </p:cNvPr>
          <p:cNvSpPr>
            <a:spLocks noGrp="1"/>
          </p:cNvSpPr>
          <p:nvPr/>
        </p:nvSpPr>
        <p:spPr>
          <a:xfrm>
            <a:off x="9315450" y="2362200"/>
            <a:ext cx="1952625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0">
                <a:solidFill>
                  <a:srgbClr val="DCE6EA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DCE6EA"/>
                </a:solidFill>
                <a:latin typeface="DejaVu Sans"/>
                <a:ea typeface="DejaVu Sans"/>
                <a:cs typeface="DejaVu Sans"/>
              </a:rPr>
              <a:t>Capacidad aproximada por nave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3F08FB88-59A5-4909-9F3D-EE9D2059C29F}"/>
              </a:ext>
            </a:extLst>
          </p:cNvPr>
          <p:cNvSpPr>
            <a:spLocks noGrp="1"/>
          </p:cNvSpPr>
          <p:nvPr/>
        </p:nvSpPr>
        <p:spPr>
          <a:xfrm>
            <a:off x="9315450" y="3105150"/>
            <a:ext cx="666750" cy="47625"/>
          </a:xfrm>
          <a:prstGeom prst="rect">
            <a:avLst/>
          </a:prstGeom>
          <a:solidFill>
            <a:srgbClr val="C47A45"/>
          </a:solidFill>
          <a:ln w="0">
            <a:noFill/>
          </a:ln>
        </p:spPr>
        <p:txBody>
          <a:bodyPr/>
          <a:lstStyle/>
          <a:p>
            <a:endParaRPr lang="es-AR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77C5AEA7-0D99-475D-BF3B-02DCE49AA151}"/>
              </a:ext>
            </a:extLst>
          </p:cNvPr>
          <p:cNvSpPr>
            <a:spLocks noGrp="1"/>
          </p:cNvSpPr>
          <p:nvPr/>
        </p:nvSpPr>
        <p:spPr>
          <a:xfrm>
            <a:off x="9315450" y="3371850"/>
            <a:ext cx="20002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6428"/>
          </a:bodyPr>
          <a:lstStyle/>
          <a:p>
            <a:pPr algn="l">
              <a:defRPr sz="2100" b="1">
                <a:solidFill>
                  <a:srgbClr val="C47A45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C47A45"/>
                </a:solidFill>
                <a:latin typeface="DejaVu Sans"/>
                <a:ea typeface="DejaVu Sans"/>
                <a:cs typeface="DejaVu Sans"/>
              </a:rPr>
              <a:t>1.000 m²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0B5A988D-23DA-44C6-A0E7-B546AA52A2E5}"/>
              </a:ext>
            </a:extLst>
          </p:cNvPr>
          <p:cNvSpPr>
            <a:spLocks noGrp="1"/>
          </p:cNvSpPr>
          <p:nvPr/>
        </p:nvSpPr>
        <p:spPr>
          <a:xfrm>
            <a:off x="9315450" y="3790950"/>
            <a:ext cx="1952625" cy="533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0">
                <a:solidFill>
                  <a:srgbClr val="DCE6EA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DCE6EA"/>
                </a:solidFill>
                <a:latin typeface="DejaVu Sans"/>
                <a:ea typeface="DejaVu Sans"/>
                <a:cs typeface="DejaVu Sans"/>
              </a:rPr>
              <a:t>Superficie mínima de alquiler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E90E99D4-17B3-437A-99E5-C57DAED387F4}"/>
              </a:ext>
            </a:extLst>
          </p:cNvPr>
          <p:cNvSpPr>
            <a:spLocks noGrp="1"/>
          </p:cNvSpPr>
          <p:nvPr/>
        </p:nvSpPr>
        <p:spPr>
          <a:xfrm>
            <a:off x="9315450" y="4648200"/>
            <a:ext cx="1952625" cy="990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8333"/>
          </a:bodyPr>
          <a:lstStyle/>
          <a:p>
            <a:pPr algn="l">
              <a:defRPr sz="12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La planta libre permite definir módulos según almacenamiento, circulación y operación del cliente.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52810F37-516A-426F-A5CF-D382516D3BB1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238125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63636"/>
          </a:bodyPr>
          <a:lstStyle/>
          <a:p>
            <a:pPr algn="l">
              <a:defRPr sz="825" b="1">
                <a:solidFill>
                  <a:srgbClr val="64727C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64727C"/>
                </a:solidFill>
                <a:latin typeface="DejaVu Sans"/>
                <a:ea typeface="DejaVu Sans"/>
                <a:cs typeface="DejaVu Sans"/>
              </a:rPr>
              <a:t>MERIDIANO CAPITAL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1F423531-6965-40A4-A42E-BFE82F399555}"/>
              </a:ext>
            </a:extLst>
          </p:cNvPr>
          <p:cNvSpPr>
            <a:spLocks noGrp="1"/>
          </p:cNvSpPr>
          <p:nvPr/>
        </p:nvSpPr>
        <p:spPr>
          <a:xfrm>
            <a:off x="11144250" y="6457950"/>
            <a:ext cx="43815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8788"/>
          </a:bodyPr>
          <a:lstStyle/>
          <a:p>
            <a:pPr algn="r">
              <a:defRPr sz="825" b="1">
                <a:solidFill>
                  <a:srgbClr val="64727C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64727C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352998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ángulo 35">
            <a:extLst>
              <a:ext uri="{FF2B5EF4-FFF2-40B4-BE49-F238E27FC236}">
                <a16:creationId xmlns:a16="http://schemas.microsoft.com/office/drawing/2014/main" id="{0D386C1E-F8D5-4CA4-9BAC-C82266EC6916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590550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7619"/>
          </a:bodyPr>
          <a:lstStyle/>
          <a:p>
            <a:pPr algn="l">
              <a:defRPr sz="1050" b="1">
                <a:solidFill>
                  <a:srgbClr val="C47A45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C47A45"/>
                </a:solidFill>
                <a:latin typeface="DejaVu Sans"/>
                <a:ea typeface="DejaVu Sans"/>
                <a:cs typeface="DejaVu Sans"/>
              </a:rPr>
              <a:t>CAPACIDAD OPERATIVA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8B86278E-2D39-461B-A372-F154538805FA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550" b="1">
                <a:solidFill>
                  <a:srgbClr val="10283B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0283B"/>
                </a:solidFill>
                <a:latin typeface="DejaVu Sans"/>
                <a:ea typeface="DejaVu Sans"/>
                <a:cs typeface="DejaVu Sans"/>
              </a:rPr>
              <a:t>Infraestructura incluida en el complejo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0724ACF1-2A64-45E7-9CB1-4FB5EA5A8229}"/>
              </a:ext>
            </a:extLst>
          </p:cNvPr>
          <p:cNvSpPr>
            <a:spLocks noGrp="1"/>
          </p:cNvSpPr>
          <p:nvPr/>
        </p:nvSpPr>
        <p:spPr>
          <a:xfrm>
            <a:off x="609600" y="1238250"/>
            <a:ext cx="685800" cy="47625"/>
          </a:xfrm>
          <a:prstGeom prst="rect">
            <a:avLst/>
          </a:prstGeom>
          <a:solidFill>
            <a:srgbClr val="C47A45"/>
          </a:solidFill>
          <a:ln w="0">
            <a:noFill/>
          </a:ln>
        </p:spPr>
        <p:txBody>
          <a:bodyPr/>
          <a:lstStyle/>
          <a:p>
            <a:endParaRPr lang="es-AR"/>
          </a:p>
        </p:txBody>
      </p:sp>
      <p:sp>
        <p:nvSpPr>
          <p:cNvPr id="4" name="Rectángulo redondeado 3">
            <a:extLst>
              <a:ext uri="{FF2B5EF4-FFF2-40B4-BE49-F238E27FC236}">
                <a16:creationId xmlns:a16="http://schemas.microsoft.com/office/drawing/2014/main" id="{2D0E9B4B-7CC8-40EA-92EE-397C1697258E}"/>
              </a:ext>
            </a:extLst>
          </p:cNvPr>
          <p:cNvSpPr>
            <a:spLocks noGrp="1"/>
          </p:cNvSpPr>
          <p:nvPr/>
        </p:nvSpPr>
        <p:spPr>
          <a:xfrm>
            <a:off x="609600" y="1600200"/>
            <a:ext cx="5238750" cy="1123950"/>
          </a:xfrm>
          <a:prstGeom prst="roundRect">
            <a:avLst>
              <a:gd name="adj" fmla="val 11864"/>
            </a:avLst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es-AR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9849E07A-D7C9-490F-B368-ABAC23F827D0}"/>
              </a:ext>
            </a:extLst>
          </p:cNvPr>
          <p:cNvSpPr>
            <a:spLocks noGrp="1"/>
          </p:cNvSpPr>
          <p:nvPr/>
        </p:nvSpPr>
        <p:spPr>
          <a:xfrm>
            <a:off x="609600" y="1600200"/>
            <a:ext cx="76200" cy="1123950"/>
          </a:xfrm>
          <a:prstGeom prst="rect">
            <a:avLst/>
          </a:prstGeom>
          <a:solidFill>
            <a:srgbClr val="C47A45"/>
          </a:solidFill>
          <a:ln w="0">
            <a:noFill/>
          </a:ln>
        </p:spPr>
        <p:txBody>
          <a:bodyPr/>
          <a:lstStyle/>
          <a:p>
            <a:endParaRPr lang="es-AR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DB9C14C6-11AC-45A8-B70D-50888380AB57}"/>
              </a:ext>
            </a:extLst>
          </p:cNvPr>
          <p:cNvSpPr>
            <a:spLocks noGrp="1"/>
          </p:cNvSpPr>
          <p:nvPr/>
        </p:nvSpPr>
        <p:spPr>
          <a:xfrm>
            <a:off x="857250" y="1771650"/>
            <a:ext cx="4381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1">
                <a:solidFill>
                  <a:srgbClr val="C47A45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C47A45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537202FE-C979-4A3C-9C19-BE8EE2E7D52F}"/>
              </a:ext>
            </a:extLst>
          </p:cNvPr>
          <p:cNvSpPr>
            <a:spLocks noGrp="1"/>
          </p:cNvSpPr>
          <p:nvPr/>
        </p:nvSpPr>
        <p:spPr>
          <a:xfrm>
            <a:off x="1390650" y="1733550"/>
            <a:ext cx="40957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000"/>
          </a:bodyPr>
          <a:lstStyle/>
          <a:p>
            <a:pPr algn="l">
              <a:defRPr sz="1500" b="1">
                <a:solidFill>
                  <a:srgbClr val="10283B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10283B"/>
                </a:solidFill>
                <a:latin typeface="DejaVu Sans"/>
                <a:ea typeface="DejaVu Sans"/>
                <a:cs typeface="DejaVu Sans"/>
              </a:rPr>
              <a:t>Energía y servicios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AEB46678-173C-492B-BE08-DCB4DBFB1E15}"/>
              </a:ext>
            </a:extLst>
          </p:cNvPr>
          <p:cNvSpPr>
            <a:spLocks noGrp="1"/>
          </p:cNvSpPr>
          <p:nvPr/>
        </p:nvSpPr>
        <p:spPr>
          <a:xfrm>
            <a:off x="1390650" y="2047875"/>
            <a:ext cx="409575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125" b="0">
                <a:solidFill>
                  <a:srgbClr val="14222C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14222C"/>
                </a:solidFill>
                <a:latin typeface="DejaVu Sans"/>
                <a:ea typeface="DejaVu Sans"/>
                <a:cs typeface="DejaVu Sans"/>
              </a:rPr>
              <a:t>Agua, energía eléctrica en media tensión y medidor independiente.</a:t>
            </a:r>
          </a:p>
        </p:txBody>
      </p:sp>
      <p:sp>
        <p:nvSpPr>
          <p:cNvPr id="9" name="Rectángulo redondeado 8">
            <a:extLst>
              <a:ext uri="{FF2B5EF4-FFF2-40B4-BE49-F238E27FC236}">
                <a16:creationId xmlns:a16="http://schemas.microsoft.com/office/drawing/2014/main" id="{59A863C9-25D6-47E6-B02A-75833966FFE3}"/>
              </a:ext>
            </a:extLst>
          </p:cNvPr>
          <p:cNvSpPr>
            <a:spLocks noGrp="1"/>
          </p:cNvSpPr>
          <p:nvPr/>
        </p:nvSpPr>
        <p:spPr>
          <a:xfrm>
            <a:off x="6191250" y="1600200"/>
            <a:ext cx="5238750" cy="1123950"/>
          </a:xfrm>
          <a:prstGeom prst="roundRect">
            <a:avLst>
              <a:gd name="adj" fmla="val 11864"/>
            </a:avLst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es-AR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DD23A663-D16A-40A1-A54D-00C04885EA65}"/>
              </a:ext>
            </a:extLst>
          </p:cNvPr>
          <p:cNvSpPr>
            <a:spLocks noGrp="1"/>
          </p:cNvSpPr>
          <p:nvPr/>
        </p:nvSpPr>
        <p:spPr>
          <a:xfrm>
            <a:off x="6191250" y="1600200"/>
            <a:ext cx="76200" cy="1123950"/>
          </a:xfrm>
          <a:prstGeom prst="rect">
            <a:avLst/>
          </a:prstGeom>
          <a:solidFill>
            <a:srgbClr val="166B58"/>
          </a:solidFill>
          <a:ln w="0">
            <a:noFill/>
          </a:ln>
        </p:spPr>
        <p:txBody>
          <a:bodyPr/>
          <a:lstStyle/>
          <a:p>
            <a:endParaRPr lang="es-AR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16073E97-C90B-4CF3-B507-E614BD64C3B2}"/>
              </a:ext>
            </a:extLst>
          </p:cNvPr>
          <p:cNvSpPr>
            <a:spLocks noGrp="1"/>
          </p:cNvSpPr>
          <p:nvPr/>
        </p:nvSpPr>
        <p:spPr>
          <a:xfrm>
            <a:off x="6438900" y="1771650"/>
            <a:ext cx="4381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1">
                <a:solidFill>
                  <a:srgbClr val="C47A45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C47A45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BB809A02-0E33-4F5A-AA1C-3AB0FD33D7DC}"/>
              </a:ext>
            </a:extLst>
          </p:cNvPr>
          <p:cNvSpPr>
            <a:spLocks noGrp="1"/>
          </p:cNvSpPr>
          <p:nvPr/>
        </p:nvSpPr>
        <p:spPr>
          <a:xfrm>
            <a:off x="6972300" y="1733550"/>
            <a:ext cx="40957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000"/>
          </a:bodyPr>
          <a:lstStyle/>
          <a:p>
            <a:pPr algn="l">
              <a:defRPr sz="1500" b="1">
                <a:solidFill>
                  <a:srgbClr val="10283B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10283B"/>
                </a:solidFill>
                <a:latin typeface="DejaVu Sans"/>
                <a:ea typeface="DejaVu Sans"/>
                <a:cs typeface="DejaVu Sans"/>
              </a:rPr>
              <a:t>Seguridad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DDF42786-4B77-42C6-B0FA-C9C7614132E3}"/>
              </a:ext>
            </a:extLst>
          </p:cNvPr>
          <p:cNvSpPr>
            <a:spLocks noGrp="1"/>
          </p:cNvSpPr>
          <p:nvPr/>
        </p:nvSpPr>
        <p:spPr>
          <a:xfrm>
            <a:off x="6972300" y="2047875"/>
            <a:ext cx="409575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125" b="0">
                <a:solidFill>
                  <a:srgbClr val="14222C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14222C"/>
                </a:solidFill>
                <a:latin typeface="DejaVu Sans"/>
                <a:ea typeface="DejaVu Sans"/>
                <a:cs typeface="DejaVu Sans"/>
              </a:rPr>
              <a:t>Seguridad integral, CCTV y control de entrada y salida.</a:t>
            </a:r>
          </a:p>
        </p:txBody>
      </p:sp>
      <p:sp>
        <p:nvSpPr>
          <p:cNvPr id="14" name="Rectángulo redondeado 13">
            <a:extLst>
              <a:ext uri="{FF2B5EF4-FFF2-40B4-BE49-F238E27FC236}">
                <a16:creationId xmlns:a16="http://schemas.microsoft.com/office/drawing/2014/main" id="{2CCC6F6B-B3E8-4557-B98F-2B0C9D8C5128}"/>
              </a:ext>
            </a:extLst>
          </p:cNvPr>
          <p:cNvSpPr>
            <a:spLocks noGrp="1"/>
          </p:cNvSpPr>
          <p:nvPr/>
        </p:nvSpPr>
        <p:spPr>
          <a:xfrm>
            <a:off x="609600" y="2990850"/>
            <a:ext cx="5238750" cy="1123950"/>
          </a:xfrm>
          <a:prstGeom prst="roundRect">
            <a:avLst>
              <a:gd name="adj" fmla="val 11864"/>
            </a:avLst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es-AR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331D3A65-0700-4778-92B0-D5993E498413}"/>
              </a:ext>
            </a:extLst>
          </p:cNvPr>
          <p:cNvSpPr>
            <a:spLocks noGrp="1"/>
          </p:cNvSpPr>
          <p:nvPr/>
        </p:nvSpPr>
        <p:spPr>
          <a:xfrm>
            <a:off x="609600" y="2990850"/>
            <a:ext cx="76200" cy="1123950"/>
          </a:xfrm>
          <a:prstGeom prst="rect">
            <a:avLst/>
          </a:prstGeom>
          <a:solidFill>
            <a:srgbClr val="C47A45"/>
          </a:solidFill>
          <a:ln w="0">
            <a:noFill/>
          </a:ln>
        </p:spPr>
        <p:txBody>
          <a:bodyPr/>
          <a:lstStyle/>
          <a:p>
            <a:endParaRPr lang="es-AR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9824B4F8-8E06-4DE0-A2E9-FF17F5637EE0}"/>
              </a:ext>
            </a:extLst>
          </p:cNvPr>
          <p:cNvSpPr>
            <a:spLocks noGrp="1"/>
          </p:cNvSpPr>
          <p:nvPr/>
        </p:nvSpPr>
        <p:spPr>
          <a:xfrm>
            <a:off x="857250" y="3162300"/>
            <a:ext cx="4381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1">
                <a:solidFill>
                  <a:srgbClr val="C47A45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C47A45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80F98F9E-DA7C-40AD-B1DF-CA64A71DFDFF}"/>
              </a:ext>
            </a:extLst>
          </p:cNvPr>
          <p:cNvSpPr>
            <a:spLocks noGrp="1"/>
          </p:cNvSpPr>
          <p:nvPr/>
        </p:nvSpPr>
        <p:spPr>
          <a:xfrm>
            <a:off x="1390650" y="3124200"/>
            <a:ext cx="40957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000"/>
          </a:bodyPr>
          <a:lstStyle/>
          <a:p>
            <a:pPr algn="l">
              <a:defRPr sz="1500" b="1">
                <a:solidFill>
                  <a:srgbClr val="10283B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10283B"/>
                </a:solidFill>
                <a:latin typeface="DejaVu Sans"/>
                <a:ea typeface="DejaVu Sans"/>
                <a:cs typeface="DejaVu Sans"/>
              </a:rPr>
              <a:t>Protección contra incendios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8E1396FE-7DC7-4A97-97C8-EDF9C2F974D7}"/>
              </a:ext>
            </a:extLst>
          </p:cNvPr>
          <p:cNvSpPr>
            <a:spLocks noGrp="1"/>
          </p:cNvSpPr>
          <p:nvPr/>
        </p:nvSpPr>
        <p:spPr>
          <a:xfrm>
            <a:off x="1390650" y="3438525"/>
            <a:ext cx="409575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125" b="0">
                <a:solidFill>
                  <a:srgbClr val="14222C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14222C"/>
                </a:solidFill>
                <a:latin typeface="DejaVu Sans"/>
                <a:ea typeface="DejaVu Sans"/>
                <a:cs typeface="DejaVu Sans"/>
              </a:rPr>
              <a:t>Sistema de prevención y combate de incendios.</a:t>
            </a:r>
          </a:p>
        </p:txBody>
      </p:sp>
      <p:sp>
        <p:nvSpPr>
          <p:cNvPr id="19" name="Rectángulo redondeado 18">
            <a:extLst>
              <a:ext uri="{FF2B5EF4-FFF2-40B4-BE49-F238E27FC236}">
                <a16:creationId xmlns:a16="http://schemas.microsoft.com/office/drawing/2014/main" id="{D72CB0AD-F519-470D-B273-F51C7D33B00B}"/>
              </a:ext>
            </a:extLst>
          </p:cNvPr>
          <p:cNvSpPr>
            <a:spLocks noGrp="1"/>
          </p:cNvSpPr>
          <p:nvPr/>
        </p:nvSpPr>
        <p:spPr>
          <a:xfrm>
            <a:off x="6191250" y="2990850"/>
            <a:ext cx="5238750" cy="1123950"/>
          </a:xfrm>
          <a:prstGeom prst="roundRect">
            <a:avLst>
              <a:gd name="adj" fmla="val 11864"/>
            </a:avLst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es-AR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5CEA7EC2-7B1C-493B-8591-F7D9C27A1FD1}"/>
              </a:ext>
            </a:extLst>
          </p:cNvPr>
          <p:cNvSpPr>
            <a:spLocks noGrp="1"/>
          </p:cNvSpPr>
          <p:nvPr/>
        </p:nvSpPr>
        <p:spPr>
          <a:xfrm>
            <a:off x="6191250" y="2990850"/>
            <a:ext cx="76200" cy="1123950"/>
          </a:xfrm>
          <a:prstGeom prst="rect">
            <a:avLst/>
          </a:prstGeom>
          <a:solidFill>
            <a:srgbClr val="166B58"/>
          </a:solidFill>
          <a:ln w="0">
            <a:noFill/>
          </a:ln>
        </p:spPr>
        <p:txBody>
          <a:bodyPr/>
          <a:lstStyle/>
          <a:p>
            <a:endParaRPr lang="es-AR"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7906F649-667E-4185-B196-8A65E5A744C7}"/>
              </a:ext>
            </a:extLst>
          </p:cNvPr>
          <p:cNvSpPr>
            <a:spLocks noGrp="1"/>
          </p:cNvSpPr>
          <p:nvPr/>
        </p:nvSpPr>
        <p:spPr>
          <a:xfrm>
            <a:off x="6438900" y="3162300"/>
            <a:ext cx="4381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1">
                <a:solidFill>
                  <a:srgbClr val="C47A45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C47A45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FE5A714A-62AE-42C5-AFDE-D0E34DA2023C}"/>
              </a:ext>
            </a:extLst>
          </p:cNvPr>
          <p:cNvSpPr>
            <a:spLocks noGrp="1"/>
          </p:cNvSpPr>
          <p:nvPr/>
        </p:nvSpPr>
        <p:spPr>
          <a:xfrm>
            <a:off x="6972300" y="3124200"/>
            <a:ext cx="40957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000"/>
          </a:bodyPr>
          <a:lstStyle/>
          <a:p>
            <a:pPr algn="l">
              <a:defRPr sz="1500" b="1">
                <a:solidFill>
                  <a:srgbClr val="10283B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10283B"/>
                </a:solidFill>
                <a:latin typeface="DejaVu Sans"/>
                <a:ea typeface="DejaVu Sans"/>
                <a:cs typeface="DejaVu Sans"/>
              </a:rPr>
              <a:t>Movimiento de cargas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066996AD-2B1F-407F-A7CD-14C82F6C055F}"/>
              </a:ext>
            </a:extLst>
          </p:cNvPr>
          <p:cNvSpPr>
            <a:spLocks noGrp="1"/>
          </p:cNvSpPr>
          <p:nvPr/>
        </p:nvSpPr>
        <p:spPr>
          <a:xfrm>
            <a:off x="6972300" y="3438525"/>
            <a:ext cx="409575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125" b="0">
                <a:solidFill>
                  <a:srgbClr val="14222C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14222C"/>
                </a:solidFill>
                <a:latin typeface="DejaVu Sans"/>
                <a:ea typeface="DejaVu Sans"/>
                <a:cs typeface="DejaVu Sans"/>
              </a:rPr>
              <a:t>Playa de maniobra para camiones y soporte logístico según pedido.</a:t>
            </a:r>
          </a:p>
        </p:txBody>
      </p:sp>
      <p:sp>
        <p:nvSpPr>
          <p:cNvPr id="24" name="Rectángulo redondeado 23">
            <a:extLst>
              <a:ext uri="{FF2B5EF4-FFF2-40B4-BE49-F238E27FC236}">
                <a16:creationId xmlns:a16="http://schemas.microsoft.com/office/drawing/2014/main" id="{F228FA36-98CC-43B5-B05A-E4FD41CC3884}"/>
              </a:ext>
            </a:extLst>
          </p:cNvPr>
          <p:cNvSpPr>
            <a:spLocks noGrp="1"/>
          </p:cNvSpPr>
          <p:nvPr/>
        </p:nvSpPr>
        <p:spPr>
          <a:xfrm>
            <a:off x="609600" y="4381500"/>
            <a:ext cx="5238750" cy="1123950"/>
          </a:xfrm>
          <a:prstGeom prst="roundRect">
            <a:avLst>
              <a:gd name="adj" fmla="val 11864"/>
            </a:avLst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es-AR"/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68B91760-55B1-4703-AF31-D92E4E89F30B}"/>
              </a:ext>
            </a:extLst>
          </p:cNvPr>
          <p:cNvSpPr>
            <a:spLocks noGrp="1"/>
          </p:cNvSpPr>
          <p:nvPr/>
        </p:nvSpPr>
        <p:spPr>
          <a:xfrm>
            <a:off x="609600" y="4381500"/>
            <a:ext cx="76200" cy="1123950"/>
          </a:xfrm>
          <a:prstGeom prst="rect">
            <a:avLst/>
          </a:prstGeom>
          <a:solidFill>
            <a:srgbClr val="C47A45"/>
          </a:solidFill>
          <a:ln w="0">
            <a:noFill/>
          </a:ln>
        </p:spPr>
        <p:txBody>
          <a:bodyPr/>
          <a:lstStyle/>
          <a:p>
            <a:endParaRPr lang="es-AR"/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0FD70A77-440A-4BE2-A16C-BAA966C6F909}"/>
              </a:ext>
            </a:extLst>
          </p:cNvPr>
          <p:cNvSpPr>
            <a:spLocks noGrp="1"/>
          </p:cNvSpPr>
          <p:nvPr/>
        </p:nvSpPr>
        <p:spPr>
          <a:xfrm>
            <a:off x="857250" y="4552950"/>
            <a:ext cx="4381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1">
                <a:solidFill>
                  <a:srgbClr val="C47A45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C47A45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62409F7C-CA3F-49B7-B151-AEA6F4A1EB63}"/>
              </a:ext>
            </a:extLst>
          </p:cNvPr>
          <p:cNvSpPr>
            <a:spLocks noGrp="1"/>
          </p:cNvSpPr>
          <p:nvPr/>
        </p:nvSpPr>
        <p:spPr>
          <a:xfrm>
            <a:off x="1390650" y="4514850"/>
            <a:ext cx="40957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000"/>
          </a:bodyPr>
          <a:lstStyle/>
          <a:p>
            <a:pPr algn="l">
              <a:defRPr sz="1500" b="1">
                <a:solidFill>
                  <a:srgbClr val="10283B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10283B"/>
                </a:solidFill>
                <a:latin typeface="DejaVu Sans"/>
                <a:ea typeface="DejaVu Sans"/>
                <a:cs typeface="DejaVu Sans"/>
              </a:rPr>
              <a:t>Equipos adicionales</a:t>
            </a: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936779D8-EABD-4AD9-8538-D62349359843}"/>
              </a:ext>
            </a:extLst>
          </p:cNvPr>
          <p:cNvSpPr>
            <a:spLocks noGrp="1"/>
          </p:cNvSpPr>
          <p:nvPr/>
        </p:nvSpPr>
        <p:spPr>
          <a:xfrm>
            <a:off x="1390650" y="4829175"/>
            <a:ext cx="409575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125" b="0">
                <a:solidFill>
                  <a:srgbClr val="14222C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14222C"/>
                </a:solidFill>
                <a:latin typeface="DejaVu Sans"/>
                <a:ea typeface="DejaVu Sans"/>
                <a:cs typeface="DejaVu Sans"/>
              </a:rPr>
              <a:t>Montacargas y grúas de distintas capacidades como servicios opcionales.</a:t>
            </a:r>
          </a:p>
        </p:txBody>
      </p:sp>
      <p:sp>
        <p:nvSpPr>
          <p:cNvPr id="29" name="Rectángulo redondeado 28">
            <a:extLst>
              <a:ext uri="{FF2B5EF4-FFF2-40B4-BE49-F238E27FC236}">
                <a16:creationId xmlns:a16="http://schemas.microsoft.com/office/drawing/2014/main" id="{0C0124BF-5C4C-4668-9DC4-7C7F8D922088}"/>
              </a:ext>
            </a:extLst>
          </p:cNvPr>
          <p:cNvSpPr>
            <a:spLocks noGrp="1"/>
          </p:cNvSpPr>
          <p:nvPr/>
        </p:nvSpPr>
        <p:spPr>
          <a:xfrm>
            <a:off x="6191250" y="4381500"/>
            <a:ext cx="5238750" cy="1123950"/>
          </a:xfrm>
          <a:prstGeom prst="roundRect">
            <a:avLst>
              <a:gd name="adj" fmla="val 11864"/>
            </a:avLst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es-AR"/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62DC00C5-090E-4615-A097-AC82F4217352}"/>
              </a:ext>
            </a:extLst>
          </p:cNvPr>
          <p:cNvSpPr>
            <a:spLocks noGrp="1"/>
          </p:cNvSpPr>
          <p:nvPr/>
        </p:nvSpPr>
        <p:spPr>
          <a:xfrm>
            <a:off x="6191250" y="4381500"/>
            <a:ext cx="76200" cy="1123950"/>
          </a:xfrm>
          <a:prstGeom prst="rect">
            <a:avLst/>
          </a:prstGeom>
          <a:solidFill>
            <a:srgbClr val="166B58"/>
          </a:solidFill>
          <a:ln w="0">
            <a:noFill/>
          </a:ln>
        </p:spPr>
        <p:txBody>
          <a:bodyPr/>
          <a:lstStyle/>
          <a:p>
            <a:endParaRPr lang="es-AR"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DDEE0A45-954D-46A8-B6CF-8E0BE0580EDE}"/>
              </a:ext>
            </a:extLst>
          </p:cNvPr>
          <p:cNvSpPr>
            <a:spLocks noGrp="1"/>
          </p:cNvSpPr>
          <p:nvPr/>
        </p:nvSpPr>
        <p:spPr>
          <a:xfrm>
            <a:off x="6438900" y="4552950"/>
            <a:ext cx="4381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1">
                <a:solidFill>
                  <a:srgbClr val="C47A45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C47A45"/>
                </a:solidFill>
                <a:latin typeface="DejaVu Sans"/>
                <a:ea typeface="DejaVu Sans"/>
                <a:cs typeface="DejaVu Sans"/>
              </a:rPr>
              <a:t>06</a:t>
            </a:r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9B9C1F7D-9A03-4F8C-BD35-246BE4E1ED15}"/>
              </a:ext>
            </a:extLst>
          </p:cNvPr>
          <p:cNvSpPr>
            <a:spLocks noGrp="1"/>
          </p:cNvSpPr>
          <p:nvPr/>
        </p:nvSpPr>
        <p:spPr>
          <a:xfrm>
            <a:off x="6972300" y="4514850"/>
            <a:ext cx="40957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000"/>
          </a:bodyPr>
          <a:lstStyle/>
          <a:p>
            <a:pPr algn="l">
              <a:defRPr sz="1500" b="1">
                <a:solidFill>
                  <a:srgbClr val="10283B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10283B"/>
                </a:solidFill>
                <a:latin typeface="DejaVu Sans"/>
                <a:ea typeface="DejaVu Sans"/>
                <a:cs typeface="DejaVu Sans"/>
              </a:rPr>
              <a:t>Operación aduanera</a:t>
            </a:r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E8785B08-A64C-4D76-8498-8DD4BD78FC00}"/>
              </a:ext>
            </a:extLst>
          </p:cNvPr>
          <p:cNvSpPr>
            <a:spLocks noGrp="1"/>
          </p:cNvSpPr>
          <p:nvPr/>
        </p:nvSpPr>
        <p:spPr>
          <a:xfrm>
            <a:off x="6972300" y="4829175"/>
            <a:ext cx="409575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125" b="0">
                <a:solidFill>
                  <a:srgbClr val="14222C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14222C"/>
                </a:solidFill>
                <a:latin typeface="DejaVu Sans"/>
                <a:ea typeface="DejaVu Sans"/>
                <a:cs typeface="DejaVu Sans"/>
              </a:rPr>
              <a:t>Oficina de la Aduana Paraguaya habilitada dentro del predio.</a:t>
            </a:r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C2C7B0E3-A9EE-4E89-A3CB-0B583526386C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238125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63636"/>
          </a:bodyPr>
          <a:lstStyle/>
          <a:p>
            <a:pPr algn="l">
              <a:defRPr sz="825" b="1">
                <a:solidFill>
                  <a:srgbClr val="64727C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64727C"/>
                </a:solidFill>
                <a:latin typeface="DejaVu Sans"/>
                <a:ea typeface="DejaVu Sans"/>
                <a:cs typeface="DejaVu Sans"/>
              </a:rPr>
              <a:t>MERIDIANO CAPITAL</a:t>
            </a:r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A752957A-435A-4F93-98B7-D074982099BE}"/>
              </a:ext>
            </a:extLst>
          </p:cNvPr>
          <p:cNvSpPr>
            <a:spLocks noGrp="1"/>
          </p:cNvSpPr>
          <p:nvPr/>
        </p:nvSpPr>
        <p:spPr>
          <a:xfrm>
            <a:off x="11144250" y="6457950"/>
            <a:ext cx="43815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8788"/>
          </a:bodyPr>
          <a:lstStyle/>
          <a:p>
            <a:pPr algn="r">
              <a:defRPr sz="825" b="1">
                <a:solidFill>
                  <a:srgbClr val="64727C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64727C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4591359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8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>
            <a:extLst>
              <a:ext uri="{FF2B5EF4-FFF2-40B4-BE49-F238E27FC236}">
                <a16:creationId xmlns:a16="http://schemas.microsoft.com/office/drawing/2014/main" id="{664A5126-2FF0-4EC3-AF8F-2AEA10FD32F0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8572500" cy="533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7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Espacios listos para configurar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B218D498-EFB5-420E-B37A-2D8A95AB2F4B}"/>
              </a:ext>
            </a:extLst>
          </p:cNvPr>
          <p:cNvSpPr>
            <a:spLocks noGrp="1"/>
          </p:cNvSpPr>
          <p:nvPr/>
        </p:nvSpPr>
        <p:spPr>
          <a:xfrm>
            <a:off x="609600" y="228600"/>
            <a:ext cx="38100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9487"/>
          </a:bodyPr>
          <a:lstStyle/>
          <a:p>
            <a:pPr algn="l">
              <a:defRPr sz="975" b="1">
                <a:solidFill>
                  <a:srgbClr val="C47A45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C47A45"/>
                </a:solidFill>
                <a:latin typeface="DejaVu Sans"/>
                <a:ea typeface="DejaVu Sans"/>
                <a:cs typeface="DejaVu Sans"/>
              </a:rPr>
              <a:t>DEPÓSITOS INDUSTRIALES</a:t>
            </a:r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3"/>
          <a:srcRect l="8494" r="8494"/>
          <a:stretch>
            <a:fillRect/>
          </a:stretch>
        </p:blipFill>
        <p:spPr>
          <a:xfrm>
            <a:off x="609600" y="1257300"/>
            <a:ext cx="6381750" cy="4324350"/>
          </a:xfrm>
          <a:prstGeom prst="rect">
            <a:avLst/>
          </a:prstGeom>
        </p:spPr>
      </p:pic>
      <p:pic>
        <p:nvPicPr>
          <p:cNvPr id="12" name="Imagen 11"/>
          <p:cNvPicPr>
            <a:picLocks noChangeAspect="1"/>
          </p:cNvPicPr>
          <p:nvPr/>
        </p:nvPicPr>
        <p:blipFill>
          <a:blip r:embed="rId4"/>
          <a:srcRect l="21751" r="21751"/>
          <a:stretch>
            <a:fillRect/>
          </a:stretch>
        </p:blipFill>
        <p:spPr>
          <a:xfrm>
            <a:off x="7239000" y="1257300"/>
            <a:ext cx="4343400" cy="4324350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8CFEFD14-8323-47DD-9A12-BC006C2AC1B7}"/>
              </a:ext>
            </a:extLst>
          </p:cNvPr>
          <p:cNvSpPr>
            <a:spLocks noGrp="1"/>
          </p:cNvSpPr>
          <p:nvPr/>
        </p:nvSpPr>
        <p:spPr>
          <a:xfrm>
            <a:off x="781050" y="5762625"/>
            <a:ext cx="24765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Accesos amplios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FAF08330-44A6-4206-BA74-9CD50B622448}"/>
              </a:ext>
            </a:extLst>
          </p:cNvPr>
          <p:cNvSpPr>
            <a:spLocks noGrp="1"/>
          </p:cNvSpPr>
          <p:nvPr/>
        </p:nvSpPr>
        <p:spPr>
          <a:xfrm>
            <a:off x="7410450" y="5762625"/>
            <a:ext cx="34290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Planta libre y altura operativa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7666D3D5-E950-431E-8D02-8055A96FC736}"/>
              </a:ext>
            </a:extLst>
          </p:cNvPr>
          <p:cNvSpPr>
            <a:spLocks noGrp="1"/>
          </p:cNvSpPr>
          <p:nvPr/>
        </p:nvSpPr>
        <p:spPr>
          <a:xfrm>
            <a:off x="609600" y="6381750"/>
            <a:ext cx="76200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63636"/>
          </a:bodyPr>
          <a:lstStyle/>
          <a:p>
            <a:pPr algn="l">
              <a:defRPr sz="825" b="0">
                <a:solidFill>
                  <a:srgbClr val="AEBCC4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AEBCC4"/>
                </a:solidFill>
                <a:latin typeface="DejaVu Sans"/>
                <a:ea typeface="DejaVu Sans"/>
                <a:cs typeface="DejaVu Sans"/>
              </a:rPr>
              <a:t>Imágenes del depósito incorporadas en la cotización adjunta.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7176F42E-D3D2-44E4-9C3D-DC409A6C7DE1}"/>
              </a:ext>
            </a:extLst>
          </p:cNvPr>
          <p:cNvSpPr>
            <a:spLocks noGrp="1"/>
          </p:cNvSpPr>
          <p:nvPr/>
        </p:nvSpPr>
        <p:spPr>
          <a:xfrm>
            <a:off x="11144250" y="6381750"/>
            <a:ext cx="43815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63636"/>
          </a:bodyPr>
          <a:lstStyle/>
          <a:p>
            <a:pPr algn="r">
              <a:defRPr sz="825" b="1">
                <a:solidFill>
                  <a:srgbClr val="AEBCC4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AEBCC4"/>
                </a:solidFill>
                <a:latin typeface="DejaVu Sans"/>
                <a:ea typeface="DejaVu Sans"/>
                <a:cs typeface="DejaVu San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4632139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 10">
            <a:extLst>
              <a:ext uri="{FF2B5EF4-FFF2-40B4-BE49-F238E27FC236}">
                <a16:creationId xmlns:a16="http://schemas.microsoft.com/office/drawing/2014/main" id="{38B978B1-431A-4C9F-8905-CE894156F848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590550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7619"/>
          </a:bodyPr>
          <a:lstStyle/>
          <a:p>
            <a:pPr algn="l">
              <a:defRPr sz="1050" b="1">
                <a:solidFill>
                  <a:srgbClr val="C47A45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C47A45"/>
                </a:solidFill>
                <a:latin typeface="DejaVu Sans"/>
                <a:ea typeface="DejaVu Sans"/>
                <a:cs typeface="DejaVu Sans"/>
              </a:rPr>
              <a:t>VENTAJA OPERATIVA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32E1842F-5B55-407F-8CCD-7D8DA1F931B4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550" b="1">
                <a:solidFill>
                  <a:srgbClr val="10283B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0283B"/>
                </a:solidFill>
                <a:latin typeface="DejaVu Sans"/>
                <a:ea typeface="DejaVu Sans"/>
                <a:cs typeface="DejaVu Sans"/>
              </a:rPr>
              <a:t>Integración portuaria y aduanera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ABF2A26B-0150-4771-B276-1D49C706D126}"/>
              </a:ext>
            </a:extLst>
          </p:cNvPr>
          <p:cNvSpPr>
            <a:spLocks noGrp="1"/>
          </p:cNvSpPr>
          <p:nvPr/>
        </p:nvSpPr>
        <p:spPr>
          <a:xfrm>
            <a:off x="609600" y="1238250"/>
            <a:ext cx="685800" cy="47625"/>
          </a:xfrm>
          <a:prstGeom prst="rect">
            <a:avLst/>
          </a:prstGeom>
          <a:solidFill>
            <a:srgbClr val="C47A45"/>
          </a:solidFill>
          <a:ln w="0">
            <a:noFill/>
          </a:ln>
        </p:spPr>
        <p:txBody>
          <a:bodyPr/>
          <a:lstStyle/>
          <a:p>
            <a:endParaRPr lang="es-AR"/>
          </a:p>
        </p:txBody>
      </p:sp>
      <p:pic>
        <p:nvPicPr>
          <p:cNvPr id="14" name="Imagen 13"/>
          <p:cNvPicPr>
            <a:picLocks noChangeAspect="1"/>
          </p:cNvPicPr>
          <p:nvPr/>
        </p:nvPicPr>
        <p:blipFill>
          <a:blip r:embed="rId3"/>
          <a:srcRect t="5199" b="5199"/>
          <a:stretch>
            <a:fillRect/>
          </a:stretch>
        </p:blipFill>
        <p:spPr>
          <a:xfrm>
            <a:off x="609600" y="1600200"/>
            <a:ext cx="3190875" cy="3810000"/>
          </a:xfrm>
          <a:prstGeom prst="rect">
            <a:avLst/>
          </a:prstGeom>
        </p:spPr>
      </p:pic>
      <p:pic>
        <p:nvPicPr>
          <p:cNvPr id="15" name="Imagen 14"/>
          <p:cNvPicPr>
            <a:picLocks noChangeAspect="1"/>
          </p:cNvPicPr>
          <p:nvPr/>
        </p:nvPicPr>
        <p:blipFill>
          <a:blip r:embed="rId4"/>
          <a:srcRect t="5215" b="5215"/>
          <a:stretch>
            <a:fillRect/>
          </a:stretch>
        </p:blipFill>
        <p:spPr>
          <a:xfrm>
            <a:off x="4029075" y="1600200"/>
            <a:ext cx="3190875" cy="3810000"/>
          </a:xfrm>
          <a:prstGeom prst="rect">
            <a:avLst/>
          </a:prstGeom>
        </p:spPr>
      </p:pic>
      <p:pic>
        <p:nvPicPr>
          <p:cNvPr id="16" name="Imagen 15"/>
          <p:cNvPicPr>
            <a:picLocks noChangeAspect="1"/>
          </p:cNvPicPr>
          <p:nvPr/>
        </p:nvPicPr>
        <p:blipFill>
          <a:blip r:embed="rId5"/>
          <a:srcRect t="15419" b="15419"/>
          <a:stretch>
            <a:fillRect/>
          </a:stretch>
        </p:blipFill>
        <p:spPr>
          <a:xfrm>
            <a:off x="7448550" y="1600200"/>
            <a:ext cx="4133850" cy="3810000"/>
          </a:xfrm>
          <a:prstGeom prst="rect">
            <a:avLst/>
          </a:prstGeom>
        </p:spPr>
      </p:pic>
      <p:sp>
        <p:nvSpPr>
          <p:cNvPr id="7" name="Rectángulo redondeado 6">
            <a:extLst>
              <a:ext uri="{FF2B5EF4-FFF2-40B4-BE49-F238E27FC236}">
                <a16:creationId xmlns:a16="http://schemas.microsoft.com/office/drawing/2014/main" id="{60196E83-1A6B-4BA3-A85E-1D6757C03B8E}"/>
              </a:ext>
            </a:extLst>
          </p:cNvPr>
          <p:cNvSpPr>
            <a:spLocks noGrp="1"/>
          </p:cNvSpPr>
          <p:nvPr/>
        </p:nvSpPr>
        <p:spPr>
          <a:xfrm>
            <a:off x="609600" y="5600700"/>
            <a:ext cx="10972800" cy="609600"/>
          </a:xfrm>
          <a:prstGeom prst="roundRect">
            <a:avLst>
              <a:gd name="adj" fmla="val 18750"/>
            </a:avLst>
          </a:prstGeom>
          <a:solidFill>
            <a:srgbClr val="10283B"/>
          </a:solidFill>
          <a:ln w="0">
            <a:noFill/>
          </a:ln>
        </p:spPr>
        <p:txBody>
          <a:bodyPr/>
          <a:lstStyle/>
          <a:p>
            <a:endParaRPr lang="es-AR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163A662F-2A55-4AEE-94AD-A60C5D521DDA}"/>
              </a:ext>
            </a:extLst>
          </p:cNvPr>
          <p:cNvSpPr>
            <a:spLocks noGrp="1"/>
          </p:cNvSpPr>
          <p:nvPr/>
        </p:nvSpPr>
        <p:spPr>
          <a:xfrm>
            <a:off x="876300" y="5715000"/>
            <a:ext cx="104394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4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Posibilidad de aplicar variantes aduaneras y coordinar logística según el requerimiento del cliente.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DAFB7377-6FDD-4689-B49E-FE5BF17A9541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238125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63636"/>
          </a:bodyPr>
          <a:lstStyle/>
          <a:p>
            <a:pPr algn="l">
              <a:defRPr sz="825" b="1">
                <a:solidFill>
                  <a:srgbClr val="64727C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64727C"/>
                </a:solidFill>
                <a:latin typeface="DejaVu Sans"/>
                <a:ea typeface="DejaVu Sans"/>
                <a:cs typeface="DejaVu Sans"/>
              </a:rPr>
              <a:t>MERIDIANO CAPITAL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39F5135E-DA6D-4EDB-BF7D-220307587C3B}"/>
              </a:ext>
            </a:extLst>
          </p:cNvPr>
          <p:cNvSpPr>
            <a:spLocks noGrp="1"/>
          </p:cNvSpPr>
          <p:nvPr/>
        </p:nvSpPr>
        <p:spPr>
          <a:xfrm>
            <a:off x="11144250" y="6457950"/>
            <a:ext cx="43815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8788"/>
          </a:bodyPr>
          <a:lstStyle/>
          <a:p>
            <a:pPr algn="r">
              <a:defRPr sz="825" b="1">
                <a:solidFill>
                  <a:srgbClr val="64727C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64727C"/>
                </a:solidFill>
                <a:latin typeface="DejaVu Sans"/>
                <a:ea typeface="DejaVu Sans"/>
                <a:cs typeface="DejaVu San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3646436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ángulo 25">
            <a:extLst>
              <a:ext uri="{FF2B5EF4-FFF2-40B4-BE49-F238E27FC236}">
                <a16:creationId xmlns:a16="http://schemas.microsoft.com/office/drawing/2014/main" id="{FC9F2053-4764-45C7-A55E-476BFCAF91B5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590550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7619"/>
          </a:bodyPr>
          <a:lstStyle/>
          <a:p>
            <a:pPr algn="l">
              <a:defRPr sz="1050" b="1">
                <a:solidFill>
                  <a:srgbClr val="C47A45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C47A45"/>
                </a:solidFill>
                <a:latin typeface="DejaVu Sans"/>
                <a:ea typeface="DejaVu Sans"/>
                <a:cs typeface="DejaVu Sans"/>
              </a:rPr>
              <a:t>PROPUESTA COMERCIAL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4EB423D3-662B-4605-8366-790FE5A940FE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550" b="1">
                <a:solidFill>
                  <a:srgbClr val="10283B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0283B"/>
                </a:solidFill>
                <a:latin typeface="DejaVu Sans"/>
                <a:ea typeface="DejaVu Sans"/>
                <a:cs typeface="DejaVu Sans"/>
              </a:rPr>
              <a:t>Condiciones económicas de alquiler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4B045C25-C983-497D-A5ED-07D977B003ED}"/>
              </a:ext>
            </a:extLst>
          </p:cNvPr>
          <p:cNvSpPr>
            <a:spLocks noGrp="1"/>
          </p:cNvSpPr>
          <p:nvPr/>
        </p:nvSpPr>
        <p:spPr>
          <a:xfrm>
            <a:off x="609600" y="1238250"/>
            <a:ext cx="685800" cy="47625"/>
          </a:xfrm>
          <a:prstGeom prst="rect">
            <a:avLst/>
          </a:prstGeom>
          <a:solidFill>
            <a:srgbClr val="C47A45"/>
          </a:solidFill>
          <a:ln w="0">
            <a:noFill/>
          </a:ln>
        </p:spPr>
        <p:txBody>
          <a:bodyPr/>
          <a:lstStyle/>
          <a:p>
            <a:endParaRPr lang="es-AR"/>
          </a:p>
        </p:txBody>
      </p:sp>
      <p:sp>
        <p:nvSpPr>
          <p:cNvPr id="4" name="Rectángulo redondeado 3">
            <a:extLst>
              <a:ext uri="{FF2B5EF4-FFF2-40B4-BE49-F238E27FC236}">
                <a16:creationId xmlns:a16="http://schemas.microsoft.com/office/drawing/2014/main" id="{9DA2666B-7617-4DC1-8841-F29F6DCBCCBA}"/>
              </a:ext>
            </a:extLst>
          </p:cNvPr>
          <p:cNvSpPr>
            <a:spLocks noGrp="1"/>
          </p:cNvSpPr>
          <p:nvPr/>
        </p:nvSpPr>
        <p:spPr>
          <a:xfrm>
            <a:off x="609600" y="1676400"/>
            <a:ext cx="6191250" cy="3429000"/>
          </a:xfrm>
          <a:prstGeom prst="roundRect">
            <a:avLst>
              <a:gd name="adj" fmla="val 5556"/>
            </a:avLst>
          </a:prstGeom>
          <a:solidFill>
            <a:srgbClr val="10283B"/>
          </a:solidFill>
          <a:ln w="0">
            <a:noFill/>
          </a:ln>
        </p:spPr>
        <p:txBody>
          <a:bodyPr/>
          <a:lstStyle/>
          <a:p>
            <a:endParaRPr lang="es-AR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D9AFCA6D-14BA-4885-A8DB-0CC60D7B3B23}"/>
              </a:ext>
            </a:extLst>
          </p:cNvPr>
          <p:cNvSpPr>
            <a:spLocks noGrp="1"/>
          </p:cNvSpPr>
          <p:nvPr/>
        </p:nvSpPr>
        <p:spPr>
          <a:xfrm>
            <a:off x="990600" y="2019300"/>
            <a:ext cx="504825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7619"/>
          </a:bodyPr>
          <a:lstStyle/>
          <a:p>
            <a:pPr algn="l">
              <a:defRPr sz="1050" b="1">
                <a:solidFill>
                  <a:srgbClr val="C47A45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C47A45"/>
                </a:solidFill>
                <a:latin typeface="DejaVu Sans"/>
                <a:ea typeface="DejaVu Sans"/>
                <a:cs typeface="DejaVu Sans"/>
              </a:rPr>
              <a:t>TARIFA DE REFERENCIA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2EC88C61-DC29-4A7D-AE96-2793940FF5E5}"/>
              </a:ext>
            </a:extLst>
          </p:cNvPr>
          <p:cNvSpPr>
            <a:spLocks noGrp="1"/>
          </p:cNvSpPr>
          <p:nvPr/>
        </p:nvSpPr>
        <p:spPr>
          <a:xfrm>
            <a:off x="990600" y="2495550"/>
            <a:ext cx="4000500" cy="704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37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7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USD 5,50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12447498-1397-4FE6-A9AC-82779E95B8F2}"/>
              </a:ext>
            </a:extLst>
          </p:cNvPr>
          <p:cNvSpPr>
            <a:spLocks noGrp="1"/>
          </p:cNvSpPr>
          <p:nvPr/>
        </p:nvSpPr>
        <p:spPr>
          <a:xfrm>
            <a:off x="990600" y="3219450"/>
            <a:ext cx="40005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725" b="0">
                <a:solidFill>
                  <a:srgbClr val="DCE6EA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DCE6EA"/>
                </a:solidFill>
                <a:latin typeface="DejaVu Sans"/>
                <a:ea typeface="DejaVu Sans"/>
                <a:cs typeface="DejaVu Sans"/>
              </a:rPr>
              <a:t>por m² + IVA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77FA32F1-F6BD-453D-97F1-9849F9207E4C}"/>
              </a:ext>
            </a:extLst>
          </p:cNvPr>
          <p:cNvSpPr>
            <a:spLocks noGrp="1"/>
          </p:cNvSpPr>
          <p:nvPr/>
        </p:nvSpPr>
        <p:spPr>
          <a:xfrm>
            <a:off x="990600" y="3905250"/>
            <a:ext cx="819150" cy="47625"/>
          </a:xfrm>
          <a:prstGeom prst="rect">
            <a:avLst/>
          </a:prstGeom>
          <a:solidFill>
            <a:srgbClr val="C47A45"/>
          </a:solidFill>
          <a:ln w="0">
            <a:noFill/>
          </a:ln>
        </p:spPr>
        <p:txBody>
          <a:bodyPr/>
          <a:lstStyle/>
          <a:p>
            <a:endParaRPr lang="es-AR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915F3C77-DE1E-43A6-8E37-B2083BB9CB38}"/>
              </a:ext>
            </a:extLst>
          </p:cNvPr>
          <p:cNvSpPr>
            <a:spLocks noGrp="1"/>
          </p:cNvSpPr>
          <p:nvPr/>
        </p:nvSpPr>
        <p:spPr>
          <a:xfrm>
            <a:off x="990600" y="4057650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833"/>
          </a:bodyPr>
          <a:lstStyle/>
          <a:p>
            <a:pPr algn="l">
              <a:def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Ejemplo para 2.000 m²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484DCF77-B2A7-445A-A2E4-03B5FB94DF89}"/>
              </a:ext>
            </a:extLst>
          </p:cNvPr>
          <p:cNvSpPr>
            <a:spLocks noGrp="1"/>
          </p:cNvSpPr>
          <p:nvPr/>
        </p:nvSpPr>
        <p:spPr>
          <a:xfrm>
            <a:off x="990600" y="4400550"/>
            <a:ext cx="44767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4848"/>
          </a:bodyPr>
          <a:lstStyle/>
          <a:p>
            <a:pPr algn="l">
              <a:defRPr sz="16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Alquiler: USD 11.000 + IVA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BCA4C942-01AA-4512-8D05-C32A83045E32}"/>
              </a:ext>
            </a:extLst>
          </p:cNvPr>
          <p:cNvSpPr>
            <a:spLocks noGrp="1"/>
          </p:cNvSpPr>
          <p:nvPr/>
        </p:nvSpPr>
        <p:spPr>
          <a:xfrm>
            <a:off x="990600" y="4762500"/>
            <a:ext cx="44767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9474"/>
          </a:bodyPr>
          <a:lstStyle/>
          <a:p>
            <a:pPr algn="l">
              <a:defRPr sz="1425" b="1">
                <a:solidFill>
                  <a:srgbClr val="C47A45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C47A45"/>
                </a:solidFill>
                <a:latin typeface="DejaVu Sans"/>
                <a:ea typeface="DejaVu Sans"/>
                <a:cs typeface="DejaVu Sans"/>
              </a:rPr>
              <a:t>Expensas: USD 400 + IVA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A834F9BA-AB3B-4AD7-B53E-76FA77723BDF}"/>
              </a:ext>
            </a:extLst>
          </p:cNvPr>
          <p:cNvSpPr>
            <a:spLocks noGrp="1"/>
          </p:cNvSpPr>
          <p:nvPr/>
        </p:nvSpPr>
        <p:spPr>
          <a:xfrm>
            <a:off x="990600" y="5105400"/>
            <a:ext cx="46672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000"/>
          </a:bodyPr>
          <a:lstStyle/>
          <a:p>
            <a:pPr algn="l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Total mensual: USD 11.400 + IVA</a:t>
            </a:r>
          </a:p>
        </p:txBody>
      </p:sp>
      <p:sp>
        <p:nvSpPr>
          <p:cNvPr id="13" name="Rectángulo redondeado 12">
            <a:extLst>
              <a:ext uri="{FF2B5EF4-FFF2-40B4-BE49-F238E27FC236}">
                <a16:creationId xmlns:a16="http://schemas.microsoft.com/office/drawing/2014/main" id="{FB9FC74B-7219-4A3E-85E8-AB331BD08889}"/>
              </a:ext>
            </a:extLst>
          </p:cNvPr>
          <p:cNvSpPr>
            <a:spLocks noGrp="1"/>
          </p:cNvSpPr>
          <p:nvPr/>
        </p:nvSpPr>
        <p:spPr>
          <a:xfrm>
            <a:off x="7239000" y="1676400"/>
            <a:ext cx="4343400" cy="34290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es-AR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5B30B0ED-A3FD-4270-B945-F85D1A0B8E54}"/>
              </a:ext>
            </a:extLst>
          </p:cNvPr>
          <p:cNvSpPr>
            <a:spLocks noGrp="1"/>
          </p:cNvSpPr>
          <p:nvPr/>
        </p:nvSpPr>
        <p:spPr>
          <a:xfrm>
            <a:off x="7620000" y="2019300"/>
            <a:ext cx="32385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1667"/>
          </a:bodyPr>
          <a:lstStyle/>
          <a:p>
            <a:pPr algn="l">
              <a:defRPr sz="1800" b="1">
                <a:solidFill>
                  <a:srgbClr val="10283B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0283B"/>
                </a:solidFill>
                <a:latin typeface="DejaVu Sans"/>
                <a:ea typeface="DejaVu Sans"/>
                <a:cs typeface="DejaVu Sans"/>
              </a:rPr>
              <a:t>Condiciones de ingreso</a:t>
            </a:r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048440CF-249D-42D6-B6A3-6891DFA311DA}"/>
              </a:ext>
            </a:extLst>
          </p:cNvPr>
          <p:cNvSpPr>
            <a:spLocks noGrp="1"/>
          </p:cNvSpPr>
          <p:nvPr/>
        </p:nvSpPr>
        <p:spPr>
          <a:xfrm>
            <a:off x="7620000" y="2771775"/>
            <a:ext cx="76200" cy="76200"/>
          </a:xfrm>
          <a:prstGeom prst="ellipse">
            <a:avLst/>
          </a:prstGeom>
          <a:solidFill>
            <a:srgbClr val="C47A45"/>
          </a:solidFill>
          <a:ln w="0">
            <a:noFill/>
          </a:ln>
        </p:spPr>
        <p:txBody>
          <a:bodyPr/>
          <a:lstStyle/>
          <a:p>
            <a:endParaRPr lang="es-AR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54F2CB1C-15F0-483D-8E51-813B7D517CB7}"/>
              </a:ext>
            </a:extLst>
          </p:cNvPr>
          <p:cNvSpPr>
            <a:spLocks noGrp="1"/>
          </p:cNvSpPr>
          <p:nvPr/>
        </p:nvSpPr>
        <p:spPr>
          <a:xfrm>
            <a:off x="7848600" y="2686050"/>
            <a:ext cx="320040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0">
                <a:solidFill>
                  <a:srgbClr val="14222C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4222C"/>
                </a:solidFill>
                <a:latin typeface="DejaVu Sans"/>
                <a:ea typeface="DejaVu Sans"/>
                <a:cs typeface="DejaVu Sans"/>
              </a:rPr>
              <a:t>Un mes de alquiler</a:t>
            </a:r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5214439E-BBA2-415B-91AD-D2D3F9E672D1}"/>
              </a:ext>
            </a:extLst>
          </p:cNvPr>
          <p:cNvSpPr>
            <a:spLocks noGrp="1"/>
          </p:cNvSpPr>
          <p:nvPr/>
        </p:nvSpPr>
        <p:spPr>
          <a:xfrm>
            <a:off x="7620000" y="3343275"/>
            <a:ext cx="76200" cy="76200"/>
          </a:xfrm>
          <a:prstGeom prst="ellipse">
            <a:avLst/>
          </a:prstGeom>
          <a:solidFill>
            <a:srgbClr val="C47A45"/>
          </a:solidFill>
          <a:ln w="0">
            <a:noFill/>
          </a:ln>
        </p:spPr>
        <p:txBody>
          <a:bodyPr/>
          <a:lstStyle/>
          <a:p>
            <a:endParaRPr lang="es-AR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28A0EE1C-767E-4D0E-99B8-93D38540977D}"/>
              </a:ext>
            </a:extLst>
          </p:cNvPr>
          <p:cNvSpPr>
            <a:spLocks noGrp="1"/>
          </p:cNvSpPr>
          <p:nvPr/>
        </p:nvSpPr>
        <p:spPr>
          <a:xfrm>
            <a:off x="7848600" y="3257550"/>
            <a:ext cx="320040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0">
                <a:solidFill>
                  <a:srgbClr val="14222C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4222C"/>
                </a:solidFill>
                <a:latin typeface="DejaVu Sans"/>
                <a:ea typeface="DejaVu Sans"/>
                <a:cs typeface="DejaVu Sans"/>
              </a:rPr>
              <a:t>Un mes en concepto de garantía</a:t>
            </a:r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C52C3D60-AABF-4152-A8F5-BCA540478FEF}"/>
              </a:ext>
            </a:extLst>
          </p:cNvPr>
          <p:cNvSpPr>
            <a:spLocks noGrp="1"/>
          </p:cNvSpPr>
          <p:nvPr/>
        </p:nvSpPr>
        <p:spPr>
          <a:xfrm>
            <a:off x="7620000" y="3914775"/>
            <a:ext cx="76200" cy="76200"/>
          </a:xfrm>
          <a:prstGeom prst="ellipse">
            <a:avLst/>
          </a:prstGeom>
          <a:solidFill>
            <a:srgbClr val="C47A45"/>
          </a:solidFill>
          <a:ln w="0">
            <a:noFill/>
          </a:ln>
        </p:spPr>
        <p:txBody>
          <a:bodyPr/>
          <a:lstStyle/>
          <a:p>
            <a:endParaRPr lang="es-AR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56286580-565E-4EB4-995D-4487B406B30F}"/>
              </a:ext>
            </a:extLst>
          </p:cNvPr>
          <p:cNvSpPr>
            <a:spLocks noGrp="1"/>
          </p:cNvSpPr>
          <p:nvPr/>
        </p:nvSpPr>
        <p:spPr>
          <a:xfrm>
            <a:off x="7848600" y="3829050"/>
            <a:ext cx="320040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132"/>
          </a:bodyPr>
          <a:lstStyle/>
          <a:p>
            <a:pPr algn="l">
              <a:defRPr sz="1275" b="0">
                <a:solidFill>
                  <a:srgbClr val="14222C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4222C"/>
                </a:solidFill>
                <a:latin typeface="DejaVu Sans"/>
                <a:ea typeface="DejaVu Sans"/>
                <a:cs typeface="DejaVu Sans"/>
              </a:rPr>
              <a:t>Honorarios: 50% de un mes de alquiler</a:t>
            </a:r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F94B010A-0D49-488F-B64B-38B1D44C0CEE}"/>
              </a:ext>
            </a:extLst>
          </p:cNvPr>
          <p:cNvSpPr>
            <a:spLocks noGrp="1"/>
          </p:cNvSpPr>
          <p:nvPr/>
        </p:nvSpPr>
        <p:spPr>
          <a:xfrm>
            <a:off x="7620000" y="4486275"/>
            <a:ext cx="76200" cy="76200"/>
          </a:xfrm>
          <a:prstGeom prst="ellipse">
            <a:avLst/>
          </a:prstGeom>
          <a:solidFill>
            <a:srgbClr val="C47A45"/>
          </a:solidFill>
          <a:ln w="0">
            <a:noFill/>
          </a:ln>
        </p:spPr>
        <p:txBody>
          <a:bodyPr/>
          <a:lstStyle/>
          <a:p>
            <a:endParaRPr lang="es-AR"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8C5EE888-29FB-462A-9C46-3C5C48A30063}"/>
              </a:ext>
            </a:extLst>
          </p:cNvPr>
          <p:cNvSpPr>
            <a:spLocks noGrp="1"/>
          </p:cNvSpPr>
          <p:nvPr/>
        </p:nvSpPr>
        <p:spPr>
          <a:xfrm>
            <a:off x="7848600" y="4400550"/>
            <a:ext cx="320040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0">
                <a:solidFill>
                  <a:srgbClr val="14222C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4222C"/>
                </a:solidFill>
                <a:latin typeface="DejaVu Sans"/>
                <a:ea typeface="DejaVu Sans"/>
                <a:cs typeface="DejaVu Sans"/>
              </a:rPr>
              <a:t>Oferta válida por 5 días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9B3C2331-9D05-4E73-8ABC-0B98A55A9A85}"/>
              </a:ext>
            </a:extLst>
          </p:cNvPr>
          <p:cNvSpPr>
            <a:spLocks noGrp="1"/>
          </p:cNvSpPr>
          <p:nvPr/>
        </p:nvSpPr>
        <p:spPr>
          <a:xfrm>
            <a:off x="609600" y="5562600"/>
            <a:ext cx="1097280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050" b="1">
                <a:solidFill>
                  <a:srgbClr val="10283B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10283B"/>
                </a:solidFill>
                <a:latin typeface="DejaVu Sans"/>
                <a:ea typeface="DejaVu Sans"/>
                <a:cs typeface="DejaVu Sans"/>
              </a:rPr>
              <a:t>Cálculo del ejemplo: 2.000 m² × USD 5,50 de alquiler + 2.000 m² × USD 0,20 de expensas.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12A17F19-D14C-42D4-8CA2-5EE86845E22B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238125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63636"/>
          </a:bodyPr>
          <a:lstStyle/>
          <a:p>
            <a:pPr algn="l">
              <a:defRPr sz="825" b="1">
                <a:solidFill>
                  <a:srgbClr val="64727C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64727C"/>
                </a:solidFill>
                <a:latin typeface="DejaVu Sans"/>
                <a:ea typeface="DejaVu Sans"/>
                <a:cs typeface="DejaVu Sans"/>
              </a:rPr>
              <a:t>MERIDIANO CAPITAL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0E5ED49F-FA4F-4202-9BD6-B7C529E1EB09}"/>
              </a:ext>
            </a:extLst>
          </p:cNvPr>
          <p:cNvSpPr>
            <a:spLocks noGrp="1"/>
          </p:cNvSpPr>
          <p:nvPr/>
        </p:nvSpPr>
        <p:spPr>
          <a:xfrm>
            <a:off x="11144250" y="6457950"/>
            <a:ext cx="43815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8788"/>
          </a:bodyPr>
          <a:lstStyle/>
          <a:p>
            <a:pPr algn="r">
              <a:defRPr sz="825" b="1">
                <a:solidFill>
                  <a:srgbClr val="64727C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64727C"/>
                </a:solidFill>
                <a:latin typeface="DejaVu Sans"/>
                <a:ea typeface="DejaVu Sans"/>
                <a:cs typeface="DejaVu San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1680190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ángulo 18">
            <a:extLst>
              <a:ext uri="{FF2B5EF4-FFF2-40B4-BE49-F238E27FC236}">
                <a16:creationId xmlns:a16="http://schemas.microsoft.com/office/drawing/2014/main" id="{D35BB2C5-C0C4-4B50-BA74-0F395BAC4A1B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590550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7619"/>
          </a:bodyPr>
          <a:lstStyle/>
          <a:p>
            <a:pPr algn="l">
              <a:defRPr sz="1050" b="1">
                <a:solidFill>
                  <a:srgbClr val="C47A45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C47A45"/>
                </a:solidFill>
                <a:latin typeface="DejaVu Sans"/>
                <a:ea typeface="DejaVu Sans"/>
                <a:cs typeface="DejaVu Sans"/>
              </a:rPr>
              <a:t>COTIZACIÓN ADICIONAL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32738577-91A0-4AED-BF18-028E8C3C4C0C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550" b="1">
                <a:solidFill>
                  <a:srgbClr val="10283B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0283B"/>
                </a:solidFill>
                <a:latin typeface="DejaVu Sans"/>
                <a:ea typeface="DejaVu Sans"/>
                <a:cs typeface="DejaVu Sans"/>
              </a:rPr>
              <a:t>Servicios logísticos opcionales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BE58D17B-F969-4278-986E-97646D713ABB}"/>
              </a:ext>
            </a:extLst>
          </p:cNvPr>
          <p:cNvSpPr>
            <a:spLocks noGrp="1"/>
          </p:cNvSpPr>
          <p:nvPr/>
        </p:nvSpPr>
        <p:spPr>
          <a:xfrm>
            <a:off x="609600" y="1238250"/>
            <a:ext cx="685800" cy="47625"/>
          </a:xfrm>
          <a:prstGeom prst="rect">
            <a:avLst/>
          </a:prstGeom>
          <a:solidFill>
            <a:srgbClr val="C47A45"/>
          </a:solidFill>
          <a:ln w="0">
            <a:noFill/>
          </a:ln>
        </p:spPr>
        <p:txBody>
          <a:bodyPr/>
          <a:lstStyle/>
          <a:p>
            <a:endParaRPr lang="es-AR"/>
          </a:p>
        </p:txBody>
      </p:sp>
      <p:sp>
        <p:nvSpPr>
          <p:cNvPr id="4" name="Rectángulo redondeado 3">
            <a:extLst>
              <a:ext uri="{FF2B5EF4-FFF2-40B4-BE49-F238E27FC236}">
                <a16:creationId xmlns:a16="http://schemas.microsoft.com/office/drawing/2014/main" id="{6F8EFEA3-0393-4ACE-98A9-2AAC93175ACA}"/>
              </a:ext>
            </a:extLst>
          </p:cNvPr>
          <p:cNvSpPr>
            <a:spLocks noGrp="1"/>
          </p:cNvSpPr>
          <p:nvPr/>
        </p:nvSpPr>
        <p:spPr>
          <a:xfrm>
            <a:off x="609600" y="1676400"/>
            <a:ext cx="5238750" cy="3105150"/>
          </a:xfrm>
          <a:prstGeom prst="roundRect">
            <a:avLst>
              <a:gd name="adj" fmla="val 5521"/>
            </a:avLst>
          </a:prstGeom>
          <a:solidFill>
            <a:srgbClr val="F4F1EA"/>
          </a:solidFill>
          <a:ln w="0">
            <a:noFill/>
          </a:ln>
        </p:spPr>
        <p:txBody>
          <a:bodyPr/>
          <a:lstStyle/>
          <a:p>
            <a:endParaRPr lang="es-AR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B5939145-DD7B-4AD0-B33D-5F7CDE38112E}"/>
              </a:ext>
            </a:extLst>
          </p:cNvPr>
          <p:cNvSpPr>
            <a:spLocks noGrp="1"/>
          </p:cNvSpPr>
          <p:nvPr/>
        </p:nvSpPr>
        <p:spPr>
          <a:xfrm>
            <a:off x="990600" y="2076450"/>
            <a:ext cx="40005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8205"/>
          </a:bodyPr>
          <a:lstStyle/>
          <a:p>
            <a:pPr algn="l">
              <a:defRPr sz="1950" b="1">
                <a:solidFill>
                  <a:srgbClr val="1028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0283B"/>
                </a:solidFill>
                <a:latin typeface="DejaVu Sans"/>
                <a:ea typeface="DejaVu Sans"/>
                <a:cs typeface="DejaVu Sans"/>
              </a:rPr>
              <a:t>Flete corto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E40A9EC5-51AA-4242-86BA-272A3B4A7CAB}"/>
              </a:ext>
            </a:extLst>
          </p:cNvPr>
          <p:cNvSpPr>
            <a:spLocks noGrp="1"/>
          </p:cNvSpPr>
          <p:nvPr/>
        </p:nvSpPr>
        <p:spPr>
          <a:xfrm>
            <a:off x="990600" y="2524125"/>
            <a:ext cx="409575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0">
                <a:solidFill>
                  <a:srgbClr val="64727C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64727C"/>
                </a:solidFill>
                <a:latin typeface="DejaVu Sans"/>
                <a:ea typeface="DejaVu Sans"/>
                <a:cs typeface="DejaVu Sans"/>
              </a:rPr>
              <a:t>Desde el depósito del cliente hasta el muelle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8FFAA1E1-1A53-4590-91E7-E17DBB9C84AB}"/>
              </a:ext>
            </a:extLst>
          </p:cNvPr>
          <p:cNvSpPr>
            <a:spLocks noGrp="1"/>
          </p:cNvSpPr>
          <p:nvPr/>
        </p:nvSpPr>
        <p:spPr>
          <a:xfrm>
            <a:off x="990600" y="3381375"/>
            <a:ext cx="40957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325" b="1">
                <a:solidFill>
                  <a:srgbClr val="C47A45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C47A45"/>
                </a:solidFill>
                <a:latin typeface="DejaVu Sans"/>
                <a:ea typeface="DejaVu Sans"/>
                <a:cs typeface="DejaVu Sans"/>
              </a:rPr>
              <a:t>USD 20 × m² + IVA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09650BCE-BDBB-4F37-B63F-3582E16C0E6D}"/>
              </a:ext>
            </a:extLst>
          </p:cNvPr>
          <p:cNvSpPr>
            <a:spLocks noGrp="1"/>
          </p:cNvSpPr>
          <p:nvPr/>
        </p:nvSpPr>
        <p:spPr>
          <a:xfrm>
            <a:off x="990600" y="3962400"/>
            <a:ext cx="40957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975" b="0">
                <a:solidFill>
                  <a:srgbClr val="64727C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64727C"/>
                </a:solidFill>
                <a:latin typeface="DejaVu Sans"/>
                <a:ea typeface="DejaVu Sans"/>
                <a:cs typeface="DejaVu Sans"/>
              </a:rPr>
              <a:t>Por viaje, según redacción del documento fuente</a:t>
            </a:r>
          </a:p>
        </p:txBody>
      </p:sp>
      <p:sp>
        <p:nvSpPr>
          <p:cNvPr id="9" name="Rectángulo redondeado 8">
            <a:extLst>
              <a:ext uri="{FF2B5EF4-FFF2-40B4-BE49-F238E27FC236}">
                <a16:creationId xmlns:a16="http://schemas.microsoft.com/office/drawing/2014/main" id="{2EB17461-12BF-4F61-8C65-3A366643C249}"/>
              </a:ext>
            </a:extLst>
          </p:cNvPr>
          <p:cNvSpPr>
            <a:spLocks noGrp="1"/>
          </p:cNvSpPr>
          <p:nvPr/>
        </p:nvSpPr>
        <p:spPr>
          <a:xfrm>
            <a:off x="6343650" y="1676400"/>
            <a:ext cx="5238750" cy="3105150"/>
          </a:xfrm>
          <a:prstGeom prst="roundRect">
            <a:avLst>
              <a:gd name="adj" fmla="val 5521"/>
            </a:avLst>
          </a:prstGeom>
          <a:solidFill>
            <a:srgbClr val="10283B"/>
          </a:solidFill>
          <a:ln w="0">
            <a:noFill/>
          </a:ln>
        </p:spPr>
        <p:txBody>
          <a:bodyPr/>
          <a:lstStyle/>
          <a:p>
            <a:endParaRPr lang="es-AR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C004ABBD-5C95-4D9A-B9AB-74531C994E74}"/>
              </a:ext>
            </a:extLst>
          </p:cNvPr>
          <p:cNvSpPr>
            <a:spLocks noGrp="1"/>
          </p:cNvSpPr>
          <p:nvPr/>
        </p:nvSpPr>
        <p:spPr>
          <a:xfrm>
            <a:off x="6724650" y="2076450"/>
            <a:ext cx="40957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8205"/>
          </a:bodyPr>
          <a:lstStyle/>
          <a:p>
            <a:pPr algn="l">
              <a:defRPr sz="19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Movimiento de carga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D2E18AF7-5BAB-418B-80B6-560070DAFCBB}"/>
              </a:ext>
            </a:extLst>
          </p:cNvPr>
          <p:cNvSpPr>
            <a:spLocks noGrp="1"/>
          </p:cNvSpPr>
          <p:nvPr/>
        </p:nvSpPr>
        <p:spPr>
          <a:xfrm>
            <a:off x="6724650" y="2524125"/>
            <a:ext cx="409575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0">
                <a:solidFill>
                  <a:srgbClr val="DCE6EA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6EA"/>
                </a:solidFill>
                <a:latin typeface="DejaVu Sans"/>
                <a:ea typeface="DejaVu Sans"/>
                <a:cs typeface="DejaVu Sans"/>
              </a:rPr>
              <a:t>Desde el muelle hasta la barcaza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B1E21AE4-41B7-4580-A7EC-37DB019CB996}"/>
              </a:ext>
            </a:extLst>
          </p:cNvPr>
          <p:cNvSpPr>
            <a:spLocks noGrp="1"/>
          </p:cNvSpPr>
          <p:nvPr/>
        </p:nvSpPr>
        <p:spPr>
          <a:xfrm>
            <a:off x="6724650" y="3381375"/>
            <a:ext cx="40957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325" b="1">
                <a:solidFill>
                  <a:srgbClr val="C47A45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C47A45"/>
                </a:solidFill>
                <a:latin typeface="DejaVu Sans"/>
                <a:ea typeface="DejaVu Sans"/>
                <a:cs typeface="DejaVu Sans"/>
              </a:rPr>
              <a:t>USD 32 × m² + IVA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AB502136-FEB2-4479-A670-99015DDF426A}"/>
              </a:ext>
            </a:extLst>
          </p:cNvPr>
          <p:cNvSpPr>
            <a:spLocks noGrp="1"/>
          </p:cNvSpPr>
          <p:nvPr/>
        </p:nvSpPr>
        <p:spPr>
          <a:xfrm>
            <a:off x="6724650" y="3962400"/>
            <a:ext cx="40957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975" b="0">
                <a:solidFill>
                  <a:srgbClr val="B8C7CE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B8C7CE"/>
                </a:solidFill>
                <a:latin typeface="DejaVu Sans"/>
                <a:ea typeface="DejaVu Sans"/>
                <a:cs typeface="DejaVu Sans"/>
              </a:rPr>
              <a:t>Según redacción del documento fuente</a:t>
            </a:r>
          </a:p>
        </p:txBody>
      </p:sp>
      <p:sp>
        <p:nvSpPr>
          <p:cNvPr id="14" name="Rectángulo redondeado 13">
            <a:extLst>
              <a:ext uri="{FF2B5EF4-FFF2-40B4-BE49-F238E27FC236}">
                <a16:creationId xmlns:a16="http://schemas.microsoft.com/office/drawing/2014/main" id="{2792A9BF-D965-4157-874A-7E7B8D712C8F}"/>
              </a:ext>
            </a:extLst>
          </p:cNvPr>
          <p:cNvSpPr>
            <a:spLocks noGrp="1"/>
          </p:cNvSpPr>
          <p:nvPr/>
        </p:nvSpPr>
        <p:spPr>
          <a:xfrm>
            <a:off x="609600" y="5124450"/>
            <a:ext cx="10972800" cy="857250"/>
          </a:xfrm>
          <a:prstGeom prst="roundRect">
            <a:avLst>
              <a:gd name="adj" fmla="val 15556"/>
            </a:avLst>
          </a:prstGeom>
          <a:solidFill>
            <a:srgbClr val="FFF4E8"/>
          </a:solidFill>
          <a:ln w="0">
            <a:noFill/>
          </a:ln>
        </p:spPr>
        <p:txBody>
          <a:bodyPr/>
          <a:lstStyle/>
          <a:p>
            <a:endParaRPr lang="es-AR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8C109411-B7D9-44E8-A919-36BFDCB1A522}"/>
              </a:ext>
            </a:extLst>
          </p:cNvPr>
          <p:cNvSpPr>
            <a:spLocks noGrp="1"/>
          </p:cNvSpPr>
          <p:nvPr/>
        </p:nvSpPr>
        <p:spPr>
          <a:xfrm>
            <a:off x="876300" y="5238750"/>
            <a:ext cx="247650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417"/>
          </a:bodyPr>
          <a:lstStyle/>
          <a:p>
            <a:pPr algn="l">
              <a:defRPr sz="1200" b="1">
                <a:solidFill>
                  <a:srgbClr val="8A4B2D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8A4B2D"/>
                </a:solidFill>
                <a:latin typeface="DejaVu Sans"/>
                <a:ea typeface="DejaVu Sans"/>
                <a:cs typeface="DejaVu Sans"/>
              </a:rPr>
              <a:t>Referencia comercial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8DA00AA3-180D-4F60-9B6B-C4C8F1268FEF}"/>
              </a:ext>
            </a:extLst>
          </p:cNvPr>
          <p:cNvSpPr>
            <a:spLocks noGrp="1"/>
          </p:cNvSpPr>
          <p:nvPr/>
        </p:nvSpPr>
        <p:spPr>
          <a:xfrm>
            <a:off x="876300" y="5505450"/>
            <a:ext cx="102870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125" b="0">
                <a:solidFill>
                  <a:srgbClr val="14222C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14222C"/>
                </a:solidFill>
                <a:latin typeface="DejaVu Sans"/>
                <a:ea typeface="DejaVu Sans"/>
                <a:cs typeface="DejaVu Sans"/>
              </a:rPr>
              <a:t>Los valores del documento fuente corresponden al ejemplo solicitado de 2.000 m² y mantienen una validez de 5 días.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C35D85CE-E486-42D5-A5D0-CEDD425085D8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238125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63636"/>
          </a:bodyPr>
          <a:lstStyle/>
          <a:p>
            <a:pPr algn="l">
              <a:defRPr sz="825" b="1">
                <a:solidFill>
                  <a:srgbClr val="64727C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64727C"/>
                </a:solidFill>
                <a:latin typeface="DejaVu Sans"/>
                <a:ea typeface="DejaVu Sans"/>
                <a:cs typeface="DejaVu Sans"/>
              </a:rPr>
              <a:t>MERIDIANO CAPITAL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3FBA6DB1-FB96-4347-BB8E-56C1C5FD8769}"/>
              </a:ext>
            </a:extLst>
          </p:cNvPr>
          <p:cNvSpPr>
            <a:spLocks noGrp="1"/>
          </p:cNvSpPr>
          <p:nvPr/>
        </p:nvSpPr>
        <p:spPr>
          <a:xfrm>
            <a:off x="11144250" y="6457950"/>
            <a:ext cx="43815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8788"/>
          </a:bodyPr>
          <a:lstStyle/>
          <a:p>
            <a:pPr algn="r">
              <a:defRPr sz="825" b="1">
                <a:solidFill>
                  <a:srgbClr val="64727C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64727C"/>
                </a:solidFill>
                <a:latin typeface="DejaVu Sans"/>
                <a:ea typeface="DejaVu Sans"/>
                <a:cs typeface="DejaVu San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9658594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ángulo 22">
            <a:extLst>
              <a:ext uri="{FF2B5EF4-FFF2-40B4-BE49-F238E27FC236}">
                <a16:creationId xmlns:a16="http://schemas.microsoft.com/office/drawing/2014/main" id="{AD603714-535E-4C67-A83B-D40E383E965F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590550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7619"/>
          </a:bodyPr>
          <a:lstStyle/>
          <a:p>
            <a:pPr algn="l">
              <a:defRPr sz="1050" b="1">
                <a:solidFill>
                  <a:srgbClr val="C47A45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C47A45"/>
                </a:solidFill>
                <a:latin typeface="DejaVu Sans"/>
                <a:ea typeface="DejaVu Sans"/>
                <a:cs typeface="DejaVu Sans"/>
              </a:rPr>
              <a:t>INGRESO CORPORATIVO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900174B8-4115-4890-8CC9-0F3E59FD0411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550" b="1">
                <a:solidFill>
                  <a:srgbClr val="10283B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0283B"/>
                </a:solidFill>
                <a:latin typeface="DejaVu Sans"/>
                <a:ea typeface="DejaVu Sans"/>
                <a:cs typeface="DejaVu Sans"/>
              </a:rPr>
              <a:t>Proceso de contratación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61EBF0B1-907F-4F24-AB4E-625BF9716B34}"/>
              </a:ext>
            </a:extLst>
          </p:cNvPr>
          <p:cNvSpPr>
            <a:spLocks noGrp="1"/>
          </p:cNvSpPr>
          <p:nvPr/>
        </p:nvSpPr>
        <p:spPr>
          <a:xfrm>
            <a:off x="609600" y="1238250"/>
            <a:ext cx="685800" cy="47625"/>
          </a:xfrm>
          <a:prstGeom prst="rect">
            <a:avLst/>
          </a:prstGeom>
          <a:solidFill>
            <a:srgbClr val="C47A45"/>
          </a:solidFill>
          <a:ln w="0">
            <a:noFill/>
          </a:ln>
        </p:spPr>
        <p:txBody>
          <a:bodyPr/>
          <a:lstStyle/>
          <a:p>
            <a:endParaRPr lang="es-AR"/>
          </a:p>
        </p:txBody>
      </p:sp>
      <p:sp>
        <p:nvSpPr>
          <p:cNvPr id="4" name="Rectángulo redondeado 3">
            <a:extLst>
              <a:ext uri="{FF2B5EF4-FFF2-40B4-BE49-F238E27FC236}">
                <a16:creationId xmlns:a16="http://schemas.microsoft.com/office/drawing/2014/main" id="{98959D7E-0A6D-407A-849C-BD91E3D335F2}"/>
              </a:ext>
            </a:extLst>
          </p:cNvPr>
          <p:cNvSpPr>
            <a:spLocks noGrp="1"/>
          </p:cNvSpPr>
          <p:nvPr/>
        </p:nvSpPr>
        <p:spPr>
          <a:xfrm>
            <a:off x="609600" y="1790700"/>
            <a:ext cx="2438400" cy="3238500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es-AR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B7316747-0012-42E1-A39F-B7A5EDE0A3E1}"/>
              </a:ext>
            </a:extLst>
          </p:cNvPr>
          <p:cNvSpPr>
            <a:spLocks noGrp="1"/>
          </p:cNvSpPr>
          <p:nvPr/>
        </p:nvSpPr>
        <p:spPr>
          <a:xfrm>
            <a:off x="876300" y="2038350"/>
            <a:ext cx="66675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950" b="1">
                <a:solidFill>
                  <a:srgbClr val="C47A45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C47A45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2AF3A206-7CB6-4F0E-BED1-B773E2161C5E}"/>
              </a:ext>
            </a:extLst>
          </p:cNvPr>
          <p:cNvSpPr>
            <a:spLocks noGrp="1"/>
          </p:cNvSpPr>
          <p:nvPr/>
        </p:nvSpPr>
        <p:spPr>
          <a:xfrm>
            <a:off x="876300" y="2647950"/>
            <a:ext cx="1905000" cy="647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1">
                <a:solidFill>
                  <a:srgbClr val="10283B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0283B"/>
                </a:solidFill>
                <a:latin typeface="DejaVu Sans"/>
                <a:ea typeface="DejaVu Sans"/>
                <a:cs typeface="DejaVu Sans"/>
              </a:rPr>
              <a:t>Definición del módulo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8AA7A73C-9A21-4676-B8AA-EA021B522602}"/>
              </a:ext>
            </a:extLst>
          </p:cNvPr>
          <p:cNvSpPr>
            <a:spLocks noGrp="1"/>
          </p:cNvSpPr>
          <p:nvPr/>
        </p:nvSpPr>
        <p:spPr>
          <a:xfrm>
            <a:off x="876300" y="3429000"/>
            <a:ext cx="1905000" cy="1143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125" b="0">
                <a:solidFill>
                  <a:srgbClr val="14222C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14222C"/>
                </a:solidFill>
                <a:latin typeface="DejaVu Sans"/>
                <a:ea typeface="DejaVu Sans"/>
                <a:cs typeface="DejaVu Sans"/>
              </a:rPr>
              <a:t>Superficie, disponibilidad, uso previsto y requerimientos logísticos.</a:t>
            </a:r>
          </a:p>
        </p:txBody>
      </p:sp>
      <p:sp>
        <p:nvSpPr>
          <p:cNvPr id="8" name="Rectángulo redondeado 7">
            <a:extLst>
              <a:ext uri="{FF2B5EF4-FFF2-40B4-BE49-F238E27FC236}">
                <a16:creationId xmlns:a16="http://schemas.microsoft.com/office/drawing/2014/main" id="{57258A68-FC97-476B-87C0-E5FA7E64B060}"/>
              </a:ext>
            </a:extLst>
          </p:cNvPr>
          <p:cNvSpPr>
            <a:spLocks noGrp="1"/>
          </p:cNvSpPr>
          <p:nvPr/>
        </p:nvSpPr>
        <p:spPr>
          <a:xfrm>
            <a:off x="3352800" y="1790700"/>
            <a:ext cx="2438400" cy="3238500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es-AR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90F409C8-CCF9-42C5-9911-7010BFA8FCCA}"/>
              </a:ext>
            </a:extLst>
          </p:cNvPr>
          <p:cNvSpPr>
            <a:spLocks noGrp="1"/>
          </p:cNvSpPr>
          <p:nvPr/>
        </p:nvSpPr>
        <p:spPr>
          <a:xfrm>
            <a:off x="3619500" y="2038350"/>
            <a:ext cx="66675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950" b="1">
                <a:solidFill>
                  <a:srgbClr val="C47A45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C47A45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D016CAD6-E84D-44F1-A3A3-48BEA747ABA7}"/>
              </a:ext>
            </a:extLst>
          </p:cNvPr>
          <p:cNvSpPr>
            <a:spLocks noGrp="1"/>
          </p:cNvSpPr>
          <p:nvPr/>
        </p:nvSpPr>
        <p:spPr>
          <a:xfrm>
            <a:off x="3619500" y="2647950"/>
            <a:ext cx="1905000" cy="647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1">
                <a:solidFill>
                  <a:srgbClr val="10283B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0283B"/>
                </a:solidFill>
                <a:latin typeface="DejaVu Sans"/>
                <a:ea typeface="DejaVu Sans"/>
                <a:cs typeface="DejaVu Sans"/>
              </a:rPr>
              <a:t>Documentación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5B9ADC8D-A7C6-41D8-9D12-9853FAD85584}"/>
              </a:ext>
            </a:extLst>
          </p:cNvPr>
          <p:cNvSpPr>
            <a:spLocks noGrp="1"/>
          </p:cNvSpPr>
          <p:nvPr/>
        </p:nvSpPr>
        <p:spPr>
          <a:xfrm>
            <a:off x="3619500" y="3429000"/>
            <a:ext cx="1905000" cy="1143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125" b="0">
                <a:solidFill>
                  <a:srgbClr val="14222C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14222C"/>
                </a:solidFill>
                <a:latin typeface="DejaVu Sans"/>
                <a:ea typeface="DejaVu Sans"/>
                <a:cs typeface="DejaVu Sans"/>
              </a:rPr>
              <a:t>Estatuto social, copias de CI de firmantes y tres últimos formularios de IVA.</a:t>
            </a:r>
          </a:p>
        </p:txBody>
      </p:sp>
      <p:sp>
        <p:nvSpPr>
          <p:cNvPr id="12" name="Rectángulo redondeado 11">
            <a:extLst>
              <a:ext uri="{FF2B5EF4-FFF2-40B4-BE49-F238E27FC236}">
                <a16:creationId xmlns:a16="http://schemas.microsoft.com/office/drawing/2014/main" id="{A6BE4B34-D091-45E6-9AE9-33A914DF6B6A}"/>
              </a:ext>
            </a:extLst>
          </p:cNvPr>
          <p:cNvSpPr>
            <a:spLocks noGrp="1"/>
          </p:cNvSpPr>
          <p:nvPr/>
        </p:nvSpPr>
        <p:spPr>
          <a:xfrm>
            <a:off x="6096000" y="1790700"/>
            <a:ext cx="2438400" cy="3238500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es-AR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908D6B02-8EB7-4DCC-A5C5-828535D99570}"/>
              </a:ext>
            </a:extLst>
          </p:cNvPr>
          <p:cNvSpPr>
            <a:spLocks noGrp="1"/>
          </p:cNvSpPr>
          <p:nvPr/>
        </p:nvSpPr>
        <p:spPr>
          <a:xfrm>
            <a:off x="6362700" y="2038350"/>
            <a:ext cx="66675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950" b="1">
                <a:solidFill>
                  <a:srgbClr val="C47A45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C47A45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CFA32AD9-66A3-4BA0-903B-EC5CB07DAFC5}"/>
              </a:ext>
            </a:extLst>
          </p:cNvPr>
          <p:cNvSpPr>
            <a:spLocks noGrp="1"/>
          </p:cNvSpPr>
          <p:nvPr/>
        </p:nvSpPr>
        <p:spPr>
          <a:xfrm>
            <a:off x="6362700" y="2647950"/>
            <a:ext cx="1905000" cy="647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1">
                <a:solidFill>
                  <a:srgbClr val="10283B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0283B"/>
                </a:solidFill>
                <a:latin typeface="DejaVu Sans"/>
                <a:ea typeface="DejaVu Sans"/>
                <a:cs typeface="DejaVu Sans"/>
              </a:rPr>
              <a:t>Validación comercial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D02AA8B7-8048-44BF-BF2E-FEE37002D068}"/>
              </a:ext>
            </a:extLst>
          </p:cNvPr>
          <p:cNvSpPr>
            <a:spLocks noGrp="1"/>
          </p:cNvSpPr>
          <p:nvPr/>
        </p:nvSpPr>
        <p:spPr>
          <a:xfrm>
            <a:off x="6362700" y="3429000"/>
            <a:ext cx="1905000" cy="1143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125" b="0">
                <a:solidFill>
                  <a:srgbClr val="14222C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14222C"/>
                </a:solidFill>
                <a:latin typeface="DejaVu Sans"/>
                <a:ea typeface="DejaVu Sans"/>
                <a:cs typeface="DejaVu Sans"/>
              </a:rPr>
              <a:t>Confirmación de tarifa, servicios opcionales y condiciones particulares.</a:t>
            </a:r>
          </a:p>
        </p:txBody>
      </p:sp>
      <p:sp>
        <p:nvSpPr>
          <p:cNvPr id="16" name="Rectángulo redondeado 15">
            <a:extLst>
              <a:ext uri="{FF2B5EF4-FFF2-40B4-BE49-F238E27FC236}">
                <a16:creationId xmlns:a16="http://schemas.microsoft.com/office/drawing/2014/main" id="{E1CA1F8D-5C8E-4BE8-BDA8-8BCB40C3BF26}"/>
              </a:ext>
            </a:extLst>
          </p:cNvPr>
          <p:cNvSpPr>
            <a:spLocks noGrp="1"/>
          </p:cNvSpPr>
          <p:nvPr/>
        </p:nvSpPr>
        <p:spPr>
          <a:xfrm>
            <a:off x="8839200" y="1790700"/>
            <a:ext cx="2438400" cy="3238500"/>
          </a:xfrm>
          <a:prstGeom prst="roundRect">
            <a:avLst>
              <a:gd name="adj" fmla="val 7031"/>
            </a:avLst>
          </a:prstGeom>
          <a:solidFill>
            <a:srgbClr val="10283B"/>
          </a:solidFill>
          <a:ln w="0">
            <a:noFill/>
          </a:ln>
        </p:spPr>
        <p:txBody>
          <a:bodyPr/>
          <a:lstStyle/>
          <a:p>
            <a:endParaRPr lang="es-AR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3946541F-1490-4A67-9F1A-B116B1235CEA}"/>
              </a:ext>
            </a:extLst>
          </p:cNvPr>
          <p:cNvSpPr>
            <a:spLocks noGrp="1"/>
          </p:cNvSpPr>
          <p:nvPr/>
        </p:nvSpPr>
        <p:spPr>
          <a:xfrm>
            <a:off x="9105900" y="2038350"/>
            <a:ext cx="66675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950" b="1">
                <a:solidFill>
                  <a:srgbClr val="C47A45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C47A45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01380B40-CFFE-47EF-BBEA-3AD7B455CA6E}"/>
              </a:ext>
            </a:extLst>
          </p:cNvPr>
          <p:cNvSpPr>
            <a:spLocks noGrp="1"/>
          </p:cNvSpPr>
          <p:nvPr/>
        </p:nvSpPr>
        <p:spPr>
          <a:xfrm>
            <a:off x="9105900" y="2647950"/>
            <a:ext cx="1905000" cy="647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Formalización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390D685E-CCA9-4C56-BED7-38032ACAD6FA}"/>
              </a:ext>
            </a:extLst>
          </p:cNvPr>
          <p:cNvSpPr>
            <a:spLocks noGrp="1"/>
          </p:cNvSpPr>
          <p:nvPr/>
        </p:nvSpPr>
        <p:spPr>
          <a:xfrm>
            <a:off x="9105900" y="3429000"/>
            <a:ext cx="1905000" cy="1143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125" b="0">
                <a:solidFill>
                  <a:srgbClr val="DCE6E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DCE6EA"/>
                </a:solidFill>
                <a:latin typeface="DejaVu Sans"/>
                <a:ea typeface="DejaVu Sans"/>
                <a:cs typeface="DejaVu Sans"/>
              </a:rPr>
              <a:t>Pago inicial, garantía, honorarios y firma del contrato de locación.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7973FB33-02F7-4C30-8145-CC6295B0FFCA}"/>
              </a:ext>
            </a:extLst>
          </p:cNvPr>
          <p:cNvSpPr>
            <a:spLocks noGrp="1"/>
          </p:cNvSpPr>
          <p:nvPr/>
        </p:nvSpPr>
        <p:spPr>
          <a:xfrm>
            <a:off x="609600" y="5391150"/>
            <a:ext cx="109728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10283B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0283B"/>
                </a:solidFill>
                <a:latin typeface="DejaVu Sans"/>
                <a:ea typeface="DejaVu Sans"/>
                <a:cs typeface="DejaVu Sans"/>
              </a:rPr>
              <a:t>Plazo de validez informado en la cotización: 5 días.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A9FD3166-7EA6-41AA-AB6F-61B8021856B8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238125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63636"/>
          </a:bodyPr>
          <a:lstStyle/>
          <a:p>
            <a:pPr algn="l">
              <a:defRPr sz="825" b="1">
                <a:solidFill>
                  <a:srgbClr val="64727C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64727C"/>
                </a:solidFill>
                <a:latin typeface="DejaVu Sans"/>
                <a:ea typeface="DejaVu Sans"/>
                <a:cs typeface="DejaVu Sans"/>
              </a:rPr>
              <a:t>MERIDIANO CAPITAL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9155FFAB-2821-4080-BE35-0D4CA0EC5589}"/>
              </a:ext>
            </a:extLst>
          </p:cNvPr>
          <p:cNvSpPr>
            <a:spLocks noGrp="1"/>
          </p:cNvSpPr>
          <p:nvPr/>
        </p:nvSpPr>
        <p:spPr>
          <a:xfrm>
            <a:off x="11144250" y="6457950"/>
            <a:ext cx="43815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8788"/>
          </a:bodyPr>
          <a:lstStyle/>
          <a:p>
            <a:pPr algn="r">
              <a:defRPr sz="825" b="1">
                <a:solidFill>
                  <a:srgbClr val="64727C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64727C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2674847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8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F1EFBC2C-D9AA-4A9B-AAD4-6A8D762F579B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8572500" cy="533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7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Operación de almacenamiento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52A74D0E-7ADC-480C-BDDF-D496C6AEA8A8}"/>
              </a:ext>
            </a:extLst>
          </p:cNvPr>
          <p:cNvSpPr>
            <a:spLocks noGrp="1"/>
          </p:cNvSpPr>
          <p:nvPr/>
        </p:nvSpPr>
        <p:spPr>
          <a:xfrm>
            <a:off x="609600" y="228600"/>
            <a:ext cx="38100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9487"/>
          </a:bodyPr>
          <a:lstStyle/>
          <a:p>
            <a:pPr algn="l">
              <a:defRPr sz="975" b="1">
                <a:solidFill>
                  <a:srgbClr val="C47A45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C47A45"/>
                </a:solidFill>
                <a:latin typeface="DejaVu Sans"/>
                <a:ea typeface="DejaVu Sans"/>
                <a:cs typeface="DejaVu Sans"/>
              </a:rPr>
              <a:t>CONFIGURACIÓN INTERIOR</a:t>
            </a:r>
          </a:p>
        </p:txBody>
      </p:sp>
      <p:pic>
        <p:nvPicPr>
          <p:cNvPr id="10" name="Imagen 9"/>
          <p:cNvPicPr>
            <a:picLocks noChangeAspect="1"/>
          </p:cNvPicPr>
          <p:nvPr/>
        </p:nvPicPr>
        <p:blipFill>
          <a:blip r:embed="rId3"/>
          <a:srcRect t="18071" b="18071"/>
          <a:stretch>
            <a:fillRect/>
          </a:stretch>
        </p:blipFill>
        <p:spPr>
          <a:xfrm>
            <a:off x="609600" y="1257300"/>
            <a:ext cx="5257800" cy="4476750"/>
          </a:xfrm>
          <a:prstGeom prst="rect">
            <a:avLst/>
          </a:prstGeom>
        </p:spPr>
      </p:pic>
      <p:pic>
        <p:nvPicPr>
          <p:cNvPr id="11" name="Imagen 10"/>
          <p:cNvPicPr>
            <a:picLocks noChangeAspect="1"/>
          </p:cNvPicPr>
          <p:nvPr/>
        </p:nvPicPr>
        <p:blipFill>
          <a:blip r:embed="rId4"/>
          <a:srcRect l="4043" r="4043"/>
          <a:stretch>
            <a:fillRect/>
          </a:stretch>
        </p:blipFill>
        <p:spPr>
          <a:xfrm>
            <a:off x="6096000" y="1257300"/>
            <a:ext cx="5486400" cy="4476750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D5D29C3C-E95B-4131-B465-9D992AD96FA2}"/>
              </a:ext>
            </a:extLst>
          </p:cNvPr>
          <p:cNvSpPr>
            <a:spLocks noGrp="1"/>
          </p:cNvSpPr>
          <p:nvPr/>
        </p:nvSpPr>
        <p:spPr>
          <a:xfrm>
            <a:off x="609600" y="5943600"/>
            <a:ext cx="104775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Ejemplo de aprovechamiento con racks, circulación central y operación con montacargas.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A06C94AA-A7E9-4EF3-8510-802D301150E7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76200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63636"/>
          </a:bodyPr>
          <a:lstStyle/>
          <a:p>
            <a:pPr algn="l">
              <a:defRPr sz="825" b="0">
                <a:solidFill>
                  <a:srgbClr val="AEBCC4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AEBCC4"/>
                </a:solidFill>
                <a:latin typeface="DejaVu Sans"/>
                <a:ea typeface="DejaVu Sans"/>
                <a:cs typeface="DejaVu Sans"/>
              </a:rPr>
              <a:t>Imágenes operativas suministradas para la propuesta.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BEEAEBDC-E1D6-4B5D-AFA5-0922D6367B3E}"/>
              </a:ext>
            </a:extLst>
          </p:cNvPr>
          <p:cNvSpPr>
            <a:spLocks noGrp="1"/>
          </p:cNvSpPr>
          <p:nvPr/>
        </p:nvSpPr>
        <p:spPr>
          <a:xfrm>
            <a:off x="11144250" y="6457950"/>
            <a:ext cx="43815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63636"/>
          </a:bodyPr>
          <a:lstStyle/>
          <a:p>
            <a:pPr algn="r">
              <a:defRPr sz="825" b="1">
                <a:solidFill>
                  <a:srgbClr val="AEBCC4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AEBCC4"/>
                </a:solidFill>
                <a:latin typeface="DejaVu Sans"/>
                <a:ea typeface="DejaVu Sans"/>
                <a:cs typeface="DejaVu San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1497209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8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n 10"/>
          <p:cNvPicPr>
            <a:picLocks noChangeAspect="1"/>
          </p:cNvPicPr>
          <p:nvPr/>
        </p:nvPicPr>
        <p:blipFill>
          <a:blip r:embed="rId3"/>
          <a:srcRect l="3198" r="3198"/>
          <a:stretch>
            <a:fillRect/>
          </a:stretch>
        </p:blipFill>
        <p:spPr>
          <a:xfrm>
            <a:off x="8172450" y="990600"/>
            <a:ext cx="3067050" cy="4914900"/>
          </a:xfrm>
          <a:prstGeom prst="rect">
            <a:avLst/>
          </a:prstGeom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0DC8187E-C3B0-4A19-9B80-923DAEE08560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409575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1111"/>
          </a:bodyPr>
          <a:lstStyle/>
          <a:p>
            <a:pPr algn="l">
              <a:defRPr sz="1125" b="1">
                <a:solidFill>
                  <a:srgbClr val="C47A45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C47A45"/>
                </a:solidFill>
                <a:latin typeface="DejaVu Sans"/>
                <a:ea typeface="DejaVu Sans"/>
                <a:cs typeface="DejaVu Sans"/>
              </a:rPr>
              <a:t>MERIDIANO CAPITAL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85FAACD3-D2B0-445A-8040-6A64C552EA01}"/>
              </a:ext>
            </a:extLst>
          </p:cNvPr>
          <p:cNvSpPr>
            <a:spLocks noGrp="1"/>
          </p:cNvSpPr>
          <p:nvPr/>
        </p:nvSpPr>
        <p:spPr>
          <a:xfrm>
            <a:off x="609600" y="1428750"/>
            <a:ext cx="6096000" cy="1295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31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Coordinemos una visita</a:t>
            </a:r>
          </a:p>
          <a:p>
            <a:pPr algn="l">
              <a:defRPr sz="31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y una propuesta a medida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F4A873C9-EB8D-49F6-9803-BC4A4251CD77}"/>
              </a:ext>
            </a:extLst>
          </p:cNvPr>
          <p:cNvSpPr>
            <a:spLocks noGrp="1"/>
          </p:cNvSpPr>
          <p:nvPr/>
        </p:nvSpPr>
        <p:spPr>
          <a:xfrm>
            <a:off x="609600" y="3105150"/>
            <a:ext cx="5715000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425" b="0">
                <a:solidFill>
                  <a:srgbClr val="DCE6EA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DCE6EA"/>
                </a:solidFill>
                <a:latin typeface="DejaVu Sans"/>
                <a:ea typeface="DejaVu Sans"/>
                <a:cs typeface="DejaVu Sans"/>
              </a:rPr>
              <a:t>Acompañamiento comercial para empresas que buscan capacidad de almacenamiento, operación logística y acceso portuario.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CEE47BD5-EBE3-4CFA-83E2-1D6308838125}"/>
              </a:ext>
            </a:extLst>
          </p:cNvPr>
          <p:cNvSpPr>
            <a:spLocks noGrp="1"/>
          </p:cNvSpPr>
          <p:nvPr/>
        </p:nvSpPr>
        <p:spPr>
          <a:xfrm>
            <a:off x="609600" y="4343400"/>
            <a:ext cx="857250" cy="57150"/>
          </a:xfrm>
          <a:prstGeom prst="rect">
            <a:avLst/>
          </a:prstGeom>
          <a:solidFill>
            <a:srgbClr val="C47A45"/>
          </a:solidFill>
          <a:ln w="0">
            <a:noFill/>
          </a:ln>
        </p:spPr>
        <p:txBody>
          <a:bodyPr/>
          <a:lstStyle/>
          <a:p>
            <a:endParaRPr lang="es-AR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46DCB8BB-5575-4986-8668-6ADB217BB585}"/>
              </a:ext>
            </a:extLst>
          </p:cNvPr>
          <p:cNvSpPr>
            <a:spLocks noGrp="1"/>
          </p:cNvSpPr>
          <p:nvPr/>
        </p:nvSpPr>
        <p:spPr>
          <a:xfrm>
            <a:off x="609600" y="4762500"/>
            <a:ext cx="40005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4722"/>
          </a:bodyPr>
          <a:lstStyle/>
          <a:p>
            <a:pPr algn="l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Juan José Castillo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1501F712-0364-44A1-AFA5-2771EBF5D375}"/>
              </a:ext>
            </a:extLst>
          </p:cNvPr>
          <p:cNvSpPr>
            <a:spLocks noGrp="1"/>
          </p:cNvSpPr>
          <p:nvPr/>
        </p:nvSpPr>
        <p:spPr>
          <a:xfrm>
            <a:off x="609600" y="5143500"/>
            <a:ext cx="48577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833"/>
          </a:bodyPr>
          <a:lstStyle/>
          <a:p>
            <a:pPr algn="l">
              <a:defRPr sz="1200" b="0">
                <a:solidFill>
                  <a:srgbClr val="B8C7CE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B8C7CE"/>
                </a:solidFill>
                <a:latin typeface="DejaVu Sans"/>
                <a:ea typeface="DejaVu Sans"/>
                <a:cs typeface="DejaVu Sans"/>
              </a:rPr>
              <a:t>Broker Inmobiliario · Meridiano Capital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9E60F663-D771-4646-9EB2-D306FD3167C3}"/>
              </a:ext>
            </a:extLst>
          </p:cNvPr>
          <p:cNvSpPr>
            <a:spLocks noGrp="1"/>
          </p:cNvSpPr>
          <p:nvPr/>
        </p:nvSpPr>
        <p:spPr>
          <a:xfrm>
            <a:off x="609600" y="5619750"/>
            <a:ext cx="32385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0196"/>
          </a:bodyPr>
          <a:lstStyle/>
          <a:p>
            <a:pPr algn="l">
              <a:def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+595 982 853 111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3F3D4846-41E5-4A35-9076-2893DB170DBC}"/>
              </a:ext>
            </a:extLst>
          </p:cNvPr>
          <p:cNvSpPr>
            <a:spLocks noGrp="1"/>
          </p:cNvSpPr>
          <p:nvPr/>
        </p:nvSpPr>
        <p:spPr>
          <a:xfrm>
            <a:off x="609600" y="5943600"/>
            <a:ext cx="47625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0000"/>
          </a:bodyPr>
          <a:lstStyle/>
          <a:p>
            <a:pPr algn="l">
              <a:defRPr sz="1125" b="0">
                <a:solidFill>
                  <a:srgbClr val="DCE6E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DCE6EA"/>
                </a:solidFill>
                <a:latin typeface="DejaVu Sans"/>
                <a:ea typeface="DejaVu Sans"/>
                <a:cs typeface="DejaVu Sans"/>
              </a:rPr>
              <a:t>juancastillo@meridianocapital.net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4E49F422-619E-4E48-824D-E031B59E46A3}"/>
              </a:ext>
            </a:extLst>
          </p:cNvPr>
          <p:cNvSpPr>
            <a:spLocks noGrp="1"/>
          </p:cNvSpPr>
          <p:nvPr/>
        </p:nvSpPr>
        <p:spPr>
          <a:xfrm>
            <a:off x="11144250" y="6429375"/>
            <a:ext cx="43815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63636"/>
          </a:bodyPr>
          <a:lstStyle/>
          <a:p>
            <a:pPr algn="r">
              <a:defRPr sz="825" b="1">
                <a:solidFill>
                  <a:srgbClr val="AEBCC4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AEBCC4"/>
                </a:solidFill>
                <a:latin typeface="DejaVu Sans"/>
                <a:ea typeface="DejaVu Sans"/>
                <a:cs typeface="DejaVu San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11634812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996</Words>
  <Application>Microsoft Macintosh PowerPoint</Application>
  <DocSecurity>0</DocSecurity>
  <PresentationFormat>Panorámica</PresentationFormat>
  <Paragraphs>148</Paragraphs>
  <Slides>12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5" baseType="lpstr">
      <vt:lpstr>Calibri</vt:lpstr>
      <vt:lpstr>DejaVu Sans</vt:lpstr>
      <vt:lpstr>ChatGPT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Juan Josè Castillo</cp:lastModifiedBy>
  <cp:revision>1</cp:revision>
  <dcterms:created xsi:type="dcterms:W3CDTF">2026-09-24T23:33:22Z</dcterms:created>
  <dcterms:modified xsi:type="dcterms:W3CDTF">2026-09-25T00:21:39Z</dcterms:modified>
</cp:coreProperties>
</file>