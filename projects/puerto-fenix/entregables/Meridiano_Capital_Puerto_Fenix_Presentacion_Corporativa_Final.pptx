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Cotización Tinglado 1000 m2 Puerto Fénix MRA.pdf, páginas 2 a 5. Versión final adaptada a la identidad de Meridiano Capital a partir de la presentación aprobada v7 (sin cambios de contenido comercial). Puerto Fénix es el activo ofrecido; Meridiano Capital actúa como comercializador.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2 y mapa incorporado en el documento adjunto. No se agregaron tiempos de viaje ni distancias no informadas. PENDIENTE: la presentación v7 indicaba conservar el enlace de localización exacta del documento fuente, pero ese enlace no está incluido en el archivo recibido; agregarlo como hipervínculo sobre el mapa cuando se disponga de él.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fotografías del documento fuente (collage original) se presentan como cuatro imágenes independientes en una grilla proporcional de 2 × 2, sin deformación: cada una es un recorte exacto de su cuadrante original, con un recorte proporcional adicional (como máximo 2 % del alto) para igualar las celdas; la fotografía aérea se recortó además en su borde izquierdo para eliminar el separador negro del collage. Los textos sobreimpresos en las fotografías provienen del material original y no fueron modificados. La capacidad aproximada de 18.000 m² surge de las dimensiones del plano: 100,00 m por 179,80 m. Superficie mínima de contratación: 1.000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visual: D15 PLANO - Planta Arquitectónica Puerto Fénix planta libre.pdf. El plano rotula dimensiones generales de 100,00 m por 179,80 m, equivalentes a aproximadamente 17.980 m². La presentación redondea la capacidad por nave a 18.000 m². Superficie mínima de alquiler: 1.000 m². El plano conserva su proporción, orientación, medidas, accesos, rotulación y rosa de los vientos originales; solo se limpió el fondo y se reforzó el contraste de las líneas. Planta arquitectónica del depósito, escala 1/750: documento técnico original, sin modificaciones de medidas ni rotulación.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5. Los servicios adicionales están sujetos a cotización y disponibilidad, según el documento fuente.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visual: página 6. La identificación definitiva del número de depósito está pendiente en el documento fuente. Altura mínima (10 m) y superficie mínima (1.000 m²) provienen de las diapositivas 3 y 4 de la versión aprobada.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páginas 5 y 8. El documento indica que en el predio funciona una oficina de la Aduana Paraguaya y que pueden aplicarse variantes aduaneras. Extensión del muelle (3.000 m): diapositiva 3 de la versión aprobada. Fotografías con corrección moderada de contraste (autocontraste 0,5 %), sin cambios de encuadre, color ni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 de alquiler: páginas 5 y 9. Expensas de USD 0,20 + IVA por m² informadas por el usuario. Para 2.000 m²: alquiler USD 11.000 + IVA, expensas USD 400 + IVA y total mensual USD 11.400 + IVA. Condiciones de ingreso: un mes de alquiler, un mes de alquiler en concepto de garantía, honorarios equivalentes al 50% de un mes de alquiler; oferta válida por 5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7. Se conserva la unidad publicada en el documento fuente (USD 20 × m² + IVA y USD 32 × m² + IVA, expresadas aquí como «por m²»). El concepto de flete corto combina la expresión «por viaje» con una tarifa por m², por lo que su facturación definitiva debe formalizarse en la cotización contractual.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página 9. El paso de definición del módulo y la validación comercial organizan el proceso comercial sin alterar los requisitos documentales del PDF. «CI» del documento fuente se expresa como «cédula de identidad».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Imágenes adicionales aportadas por el usuario el 24.09.2026. Se presentan como referencia de configuración operativa y almacenamiento.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Contacto comercial actualizado por el usuario: Juan José Castillo, Broker Inmobiliario, Meridiano Capital, +595 982 853 111, juancastillo@meridianocapital.net. Fotografía profesional incorporada en la versión aprobada, sin retoques. Ver VALIDACION_PRESENTACION_PUERTO_FENIX.md: el cargo «Broker Inmobiliario» difiere de la firma canónica de knowledge-base/brand/09-cierres-y-firmas.md y queda registrado para confirmación.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ave industrial del Centro Logístico Puerto Fénix, vista exterior">    </p:cNvPr>
          <p:cNvPicPr>
            <a:picLocks noChangeAspect="1"/>
          </p:cNvPicPr>
          <p:nvPr/>
        </p:nvPicPr>
        <p:blipFill>
          <a:blip r:embed="rId1"/>
          <a:srcRect l="11414" r="24256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331720" cy="75916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CORPORATIVA DE ALQUILER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87168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Naves industriales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 Puerto Fénix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Centro Logístico Puerto Fénix · Mariano Roque Alonso, Paraguay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754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18.000 m²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85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aproximada por nave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3200400" y="4754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1.000 m²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3200400" y="5285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mínima de alquiler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093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Comercialización a cargo de Meridiano Capital  ·  Documento comercial  ·  24.09.2026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 ESTRATÉGICO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en el corredor metropolitano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513832" cy="4346055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pic>
        <p:nvPicPr>
          <p:cNvPr id="5" name="Image 0" descr="Mapa de ubicación: Mariano Roque Alonso en el área metropolitana de Asun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5513832" cy="434605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720840" y="1874520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Mariano Roque Alonso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514600"/>
            <a:ext cx="4922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Centro logístico y portuario con conexión al área metropolitana de Asunción.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20840" y="3611880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20840" y="37947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79476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Operación dentro del complejo Puerto Fénix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720840" y="4325112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20840" y="450799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269480" y="4507992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 funcional para transporte y distribución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720840" y="5038344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20840" y="522122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522122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Infraestructura vinculada al muelle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720840" y="5751576"/>
            <a:ext cx="492221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pic>
        <p:nvPicPr>
          <p:cNvPr id="18" name="Image 1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PUERTO FÉNIX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Escala para operaciones industriales y logísticas</a:t>
            </a:r>
            <a:endParaRPr lang="en-US" sz="3000" dirty="0"/>
          </a:p>
        </p:txBody>
      </p:sp>
      <p:pic>
        <p:nvPicPr>
          <p:cNvPr id="4" name="Image 0" descr="Patio pavimentado de hormigón para almacenaje de contenedores">    </p:cNvPr>
          <p:cNvPicPr>
            <a:picLocks noChangeAspect="1"/>
          </p:cNvPicPr>
          <p:nvPr/>
        </p:nvPicPr>
        <p:blipFill>
          <a:blip r:embed="rId1"/>
          <a:srcRect l="0" r="0" t="66" b="66"/>
          <a:stretch/>
        </p:blipFill>
        <p:spPr>
          <a:xfrm>
            <a:off x="548640" y="1801368"/>
            <a:ext cx="2798064" cy="2103120"/>
          </a:xfrm>
          <a:prstGeom prst="rect">
            <a:avLst/>
          </a:prstGeom>
        </p:spPr>
      </p:pic>
      <p:pic>
        <p:nvPicPr>
          <p:cNvPr id="5" name="Image 1" descr="Vista aérea de depósitos del complejo">    </p:cNvPr>
          <p:cNvPicPr>
            <a:picLocks noChangeAspect="1"/>
          </p:cNvPicPr>
          <p:nvPr/>
        </p:nvPicPr>
        <p:blipFill>
          <a:blip r:embed="rId2"/>
          <a:srcRect l="0" r="0" t="1008" b="1008"/>
          <a:stretch/>
        </p:blipFill>
        <p:spPr>
          <a:xfrm>
            <a:off x="3456432" y="1801368"/>
            <a:ext cx="2798064" cy="2103120"/>
          </a:xfrm>
          <a:prstGeom prst="rect">
            <a:avLst/>
          </a:prstGeom>
        </p:spPr>
      </p:pic>
      <p:pic>
        <p:nvPicPr>
          <p:cNvPr id="6" name="Image 2" descr="Interior de depósito con mercadería paletizada">    </p:cNvPr>
          <p:cNvPicPr>
            <a:picLocks noChangeAspect="1"/>
          </p:cNvPicPr>
          <p:nvPr/>
        </p:nvPicPr>
        <p:blipFill>
          <a:blip r:embed="rId3"/>
          <a:srcRect l="0" r="0" t="66" b="66"/>
          <a:stretch/>
        </p:blipFill>
        <p:spPr>
          <a:xfrm>
            <a:off x="548640" y="4014216"/>
            <a:ext cx="2798064" cy="2103120"/>
          </a:xfrm>
          <a:prstGeom prst="rect">
            <a:avLst/>
          </a:prstGeom>
        </p:spPr>
      </p:pic>
      <p:pic>
        <p:nvPicPr>
          <p:cNvPr id="7" name="Image 3" descr="Playa de maniobras techada para camiones">    </p:cNvPr>
          <p:cNvPicPr>
            <a:picLocks noChangeAspect="1"/>
          </p:cNvPicPr>
          <p:nvPr/>
        </p:nvPicPr>
        <p:blipFill>
          <a:blip r:embed="rId4"/>
          <a:srcRect l="39" r="39" t="0" b="0"/>
          <a:stretch/>
        </p:blipFill>
        <p:spPr>
          <a:xfrm>
            <a:off x="3456432" y="4014216"/>
            <a:ext cx="2798064" cy="210312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6903720" y="1783080"/>
            <a:ext cx="4739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18.000 m²</a:t>
            </a:r>
            <a:endParaRPr lang="en-US" sz="5400" dirty="0"/>
          </a:p>
        </p:txBody>
      </p:sp>
      <p:sp>
        <p:nvSpPr>
          <p:cNvPr id="9" name="Text 3"/>
          <p:cNvSpPr txBox="1"/>
          <p:nvPr/>
        </p:nvSpPr>
        <p:spPr>
          <a:xfrm>
            <a:off x="6903720" y="2670048"/>
            <a:ext cx="4739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aproximada por nave</a:t>
            </a:r>
            <a:endParaRPr lang="en-US" sz="1300" dirty="0"/>
          </a:p>
        </p:txBody>
      </p:sp>
      <p:sp>
        <p:nvSpPr>
          <p:cNvPr id="10" name="Shape 4"/>
          <p:cNvSpPr/>
          <p:nvPr/>
        </p:nvSpPr>
        <p:spPr>
          <a:xfrm>
            <a:off x="6903720" y="3200400"/>
            <a:ext cx="4739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903720" y="3310128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1.000 m²</a:t>
            </a:r>
            <a:endParaRPr lang="en-US" sz="2300" dirty="0"/>
          </a:p>
        </p:txBody>
      </p:sp>
      <p:sp>
        <p:nvSpPr>
          <p:cNvPr id="12" name="Text 6"/>
          <p:cNvSpPr txBox="1"/>
          <p:nvPr/>
        </p:nvSpPr>
        <p:spPr>
          <a:xfrm>
            <a:off x="6903720" y="3785616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mínima de alquiler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9273388" y="3310128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80 hectáreas</a:t>
            </a:r>
            <a:endParaRPr lang="en-US" sz="2300" dirty="0"/>
          </a:p>
        </p:txBody>
      </p:sp>
      <p:sp>
        <p:nvSpPr>
          <p:cNvPr id="14" name="Text 8"/>
          <p:cNvSpPr txBox="1"/>
          <p:nvPr/>
        </p:nvSpPr>
        <p:spPr>
          <a:xfrm>
            <a:off x="9273388" y="3785616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del puerto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6903720" y="4224528"/>
            <a:ext cx="4739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903720" y="4334256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3.000 metros</a:t>
            </a:r>
            <a:endParaRPr lang="en-US" sz="2300" dirty="0"/>
          </a:p>
        </p:txBody>
      </p:sp>
      <p:sp>
        <p:nvSpPr>
          <p:cNvPr id="17" name="Text 11"/>
          <p:cNvSpPr txBox="1"/>
          <p:nvPr/>
        </p:nvSpPr>
        <p:spPr>
          <a:xfrm>
            <a:off x="6903720" y="4809744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Extensión del muelle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9273388" y="4334256"/>
            <a:ext cx="22325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 metros</a:t>
            </a:r>
            <a:endParaRPr lang="en-US" sz="2300" dirty="0"/>
          </a:p>
        </p:txBody>
      </p:sp>
      <p:sp>
        <p:nvSpPr>
          <p:cNvPr id="19" name="Text 13"/>
          <p:cNvSpPr txBox="1"/>
          <p:nvPr/>
        </p:nvSpPr>
        <p:spPr>
          <a:xfrm>
            <a:off x="9273388" y="4809744"/>
            <a:ext cx="22325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Altura mínima de las naves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903720" y="5248656"/>
            <a:ext cx="473933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903720" y="5486400"/>
            <a:ext cx="4739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Planta divisible según la operación del cliente.</a:t>
            </a:r>
            <a:endParaRPr lang="en-US" sz="1300" dirty="0"/>
          </a:p>
        </p:txBody>
      </p:sp>
      <p:pic>
        <p:nvPicPr>
          <p:cNvPr id="22" name="Image 4" descr="Isotipo Meridiano Capital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4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7626096" cy="5452638"/>
          </a:xfrm>
          <a:prstGeom prst="rect">
            <a:avLst/>
          </a:prstGeom>
          <a:solidFill>
            <a:srgbClr val="FFFFFF"/>
          </a:solidFill>
          <a:ln w="9525">
            <a:solidFill>
              <a:srgbClr val="DAD2C0"/>
            </a:solidFill>
            <a:prstDash val="solid"/>
          </a:ln>
        </p:spPr>
      </p:sp>
      <p:pic>
        <p:nvPicPr>
          <p:cNvPr id="3" name="Image 0" descr="Planta arquitectónica del depósito del Centro Logístico Puerto Fénix, 100,00 m × 179,80 m, escala 1/7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658368"/>
            <a:ext cx="7406640" cy="52331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548640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CONFIGURACIÓN ARQUITECTÓNICA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896112"/>
            <a:ext cx="3230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Planta libre y subdivisión por demanda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412480" y="1874520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0" y="2002536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100,00 × 179,80 m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414016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Medidas aproximadas indicadas en el plano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412480" y="2724912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0" y="2852928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17.980 m²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264408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 resultante aproximada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3575304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0" y="3703320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18.000 m²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4270248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comercial comunicada por nave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412480" y="4581144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0" y="4709160"/>
            <a:ext cx="3230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Desde 1.000 m²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0" y="5120640"/>
            <a:ext cx="3230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Subdivisión en módulos según la operación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412480" y="5431536"/>
            <a:ext cx="323057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0" y="5559552"/>
            <a:ext cx="3230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planta libre permite definir módulos según almacenamiento, circulación y operación del cliente.</a:t>
            </a:r>
            <a:endParaRPr lang="en-US" sz="1050" dirty="0"/>
          </a:p>
        </p:txBody>
      </p:sp>
      <p:pic>
        <p:nvPicPr>
          <p:cNvPr id="20" name="Image 1" descr="Isotipo 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CAPACIDAD OPERATIVA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Infraestructura incluida en el complejo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Energía y servicios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724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Agua, energía eléctrica en media tensión y medidor independiente.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1348" y="196596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1348" y="2148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381348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81348" y="312724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Seguridad integral, CCTV y control de entrada y salida.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14055" y="196596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4055" y="2148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14055" y="27432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Protección contra incendios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14055" y="312724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Sistema de prevención y combate de incendios.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Movimiento de cargas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09320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Playa de maniobra para camiones y soporte logístico según pedido.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81348" y="393192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81348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81348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Equipos adicionales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381348" y="509320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Montacargas y grúas de distintas capacidades como servicios opcionales.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14055" y="3931920"/>
            <a:ext cx="342900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055" y="4114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14055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Operación aduanera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14055" y="5093208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Oficina de la Aduana Paraguaya habilitada dentro del predio.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97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servicios adicionales están sujetos a cotización y disponibilidad.</a:t>
            </a:r>
            <a:endParaRPr lang="en-US" sz="1000" dirty="0"/>
          </a:p>
        </p:txBody>
      </p:sp>
      <p:pic>
        <p:nvPicPr>
          <p:cNvPr id="2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DEPÓSITOS INDUSTRIALES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Espacios listos para configurar</a:t>
            </a:r>
            <a:endParaRPr lang="en-US" sz="3000" dirty="0"/>
          </a:p>
        </p:txBody>
      </p:sp>
      <p:pic>
        <p:nvPicPr>
          <p:cNvPr id="4" name="Image 0" descr="Fachada del depósito con portones de acces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5394960" cy="3034665"/>
          </a:xfrm>
          <a:prstGeom prst="rect">
            <a:avLst/>
          </a:prstGeom>
        </p:spPr>
      </p:pic>
      <p:pic>
        <p:nvPicPr>
          <p:cNvPr id="5" name="Image 1" descr="Interior del depósito en planta libr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8095" y="1828800"/>
            <a:ext cx="5394960" cy="303466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46345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Accesos amplios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248095" y="5046345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Planta libre y altura operativa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430393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>
                    <a:alpha val="8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Altura mínima de 10 metros  ·  Planta libre divisible desde 1.000 m²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F3EDE3">
                    <a:alpha val="6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Fotografías del depósito incluidas en la cotización de Puerto Fénix.</a:t>
            </a:r>
            <a:endParaRPr lang="en-US" sz="950" dirty="0"/>
          </a:p>
        </p:txBody>
      </p:sp>
      <p:pic>
        <p:nvPicPr>
          <p:cNvPr id="10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VENTAJA OPERATIVA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4434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Integración portuaria</a:t>
            </a:r>
            <a:endParaRPr lang="en-US" sz="3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 aduanera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Posibilidad de aplicar variantes aduaneras y coordinar logística según el requerimiento del cliente.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44348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86791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Aduana en el predio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79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Oficina de la Aduana Paraguaya habilitada dentro del complejo.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4800600"/>
            <a:ext cx="44348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965192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Muelle de 3.000 metros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7667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Infraestructura del complejo vinculada al muelle.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5897880"/>
            <a:ext cx="4434840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pic>
        <p:nvPicPr>
          <p:cNvPr id="12" name="Image 0" descr="Frente del muelle del complejo con grúa portuari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34626" y="548640"/>
            <a:ext cx="4081353" cy="5440680"/>
          </a:xfrm>
          <a:prstGeom prst="rect">
            <a:avLst/>
          </a:prstGeom>
        </p:spPr>
      </p:pic>
      <p:pic>
        <p:nvPicPr>
          <p:cNvPr id="13" name="Image 1" descr="Grúa y equipos de operación portuaria en el muell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653139" y="548640"/>
            <a:ext cx="1989916" cy="2651760"/>
          </a:xfrm>
          <a:prstGeom prst="rect">
            <a:avLst/>
          </a:prstGeom>
        </p:spPr>
      </p:pic>
      <p:pic>
        <p:nvPicPr>
          <p:cNvPr id="14" name="Image 2" descr="Muelle sobre el río con barcaz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653139" y="3337560"/>
            <a:ext cx="1989916" cy="2651760"/>
          </a:xfrm>
          <a:prstGeom prst="rect">
            <a:avLst/>
          </a:prstGeom>
        </p:spPr>
      </p:pic>
      <p:pic>
        <p:nvPicPr>
          <p:cNvPr id="15" name="Image 3" descr="Isotipo Meridiano Capital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17" name="Text 11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COMERCIAL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Condiciones económicas de alquiler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TARIFA DE REFERENCIA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5,50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103120"/>
            <a:ext cx="27432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m² + IVA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00400"/>
          <a:ext cx="6675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468880"/>
                <a:gridCol w="2103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Ejemplo para 2.000 m²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Tarifa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Importe mensual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Alquiler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5,50 por m²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11.000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Expensas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0,20 por m²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400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Total mensual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B332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11.400 + IVA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8016" marR="128016" marT="0" marB="0" anchor="ctr">
                    <a:lnL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23036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Cálculo del ejemplo: 2.000 m² × USD 5,50 de alquiler + 2.000 m² × USD 0,20 de expensas.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1828800"/>
            <a:ext cx="3916375" cy="3840480"/>
          </a:xfrm>
          <a:prstGeom prst="rect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0" y="2148840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Condiciones de ingreso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2852928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mes de alquiler.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401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3419856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mes de alquiler en concepto de garantía.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092440" y="4160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595360" y="4178808"/>
            <a:ext cx="2681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Honorarios equivalentes al 50% de un mes de alquiler.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092440" y="4919472"/>
            <a:ext cx="3184855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92440" y="5047488"/>
            <a:ext cx="3184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Validez de la oferta: 5 días</a:t>
            </a:r>
            <a:endParaRPr lang="en-US" sz="1400" dirty="0"/>
          </a:p>
        </p:txBody>
      </p:sp>
      <p:pic>
        <p:nvPicPr>
          <p:cNvPr id="19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COTIZACIÓN ADICIONAL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Servicios logísticos opcionales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40280"/>
            <a:ext cx="5458968" cy="0"/>
          </a:xfrm>
          <a:prstGeom prst="line">
            <a:avLst/>
          </a:prstGeom>
          <a:noFill/>
          <a:ln w="15875">
            <a:solidFill>
              <a:srgbClr val="1431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2240280"/>
            <a:ext cx="5452567" cy="0"/>
          </a:xfrm>
          <a:prstGeom prst="line">
            <a:avLst/>
          </a:prstGeom>
          <a:noFill/>
          <a:ln w="15875">
            <a:solidFill>
              <a:srgbClr val="1431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148840"/>
            <a:ext cx="182880" cy="182880"/>
          </a:xfrm>
          <a:prstGeom prst="ellipse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41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DEPÓSITO DEL CLIENTE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07608" y="2148840"/>
            <a:ext cx="182880" cy="182880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10328" y="2441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MUELLE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1460175" y="2148840"/>
            <a:ext cx="182880" cy="182880"/>
          </a:xfrm>
          <a:prstGeom prst="ellipse">
            <a:avLst/>
          </a:prstGeom>
          <a:solidFill>
            <a:srgbClr val="14313A"/>
          </a:solidFill>
          <a:ln w="12700">
            <a:solidFill>
              <a:srgbClr val="1431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65615" y="2441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BARCAZA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017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Flete corto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930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depósito del cliente hasta el muelle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31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20 por m² + IVA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617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viaje. La unidad de facturación definitiva se formaliza en la cotización contractual.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510528" y="3017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Movimiento de carga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349300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muelle hasta la barcaza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10528" y="39319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32 por m² + IVA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510528" y="46177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según la cotización de Puerto Fénix; se formaliza en la cotización contractual.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4415" cy="566928"/>
          </a:xfrm>
          <a:prstGeom prst="rect">
            <a:avLst/>
          </a:prstGeom>
          <a:solidFill>
            <a:srgbClr val="F3EDE3"/>
          </a:solidFill>
          <a:ln w="12700">
            <a:solidFill>
              <a:srgbClr val="F3ED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5440680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comercial:  </a:t>
            </a:r>
            <a:pPr indent="0" marL="0"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valores de la cotización de Puerto Fénix corresponden al ejemplo solicitado de 2.000 m² y tienen una validez de 5 días.</a:t>
            </a:r>
            <a:endParaRPr lang="en-US" sz="1150" dirty="0"/>
          </a:p>
        </p:txBody>
      </p:sp>
      <p:pic>
        <p:nvPicPr>
          <p:cNvPr id="22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 CORPORATIVO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Proceso de contratación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31720"/>
            <a:ext cx="11094415" cy="0"/>
          </a:xfrm>
          <a:prstGeom prst="line">
            <a:avLst/>
          </a:prstGeom>
          <a:noFill/>
          <a:ln w="9525">
            <a:solidFill>
              <a:srgbClr val="F3EDE3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Definición del módulo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Superficie, disponibilidad, uso previsto y requerimientos logísticos.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2244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22244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3322244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Documentación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22244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Estatuto social, copias de la cédula de identidad de los firmantes y los tres últimos formularios de IVA.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95848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5848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095848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Validación comercial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Confirmación de tarifa, servicios opcionales y condiciones particulares.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69451" y="2258568"/>
            <a:ext cx="146304" cy="146304"/>
          </a:xfrm>
          <a:prstGeom prst="ellipse">
            <a:avLst/>
          </a:prstGeom>
          <a:solidFill>
            <a:srgbClr val="C9982E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451" y="2651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8869451" y="3429000"/>
            <a:ext cx="2453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Formalización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869451" y="3867912"/>
            <a:ext cx="24078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3EDE3">
                    <a:alpha val="8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Pago inicial, garantía, honorarios y firma del contrato de locación.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rgbClr val="1D414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577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de validez informado en la cotización: 5 días.</a:t>
            </a:r>
            <a:endParaRPr lang="en-US" sz="1300" dirty="0"/>
          </a:p>
        </p:txBody>
      </p:sp>
      <p:pic>
        <p:nvPicPr>
          <p:cNvPr id="23" name="Image 0" descr="Isotipo Meridiano Capital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EDE3">
                    <a:alpha val="7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CONFIGURACIÓN INTERIOR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Operación de almacenamiento</a:t>
            </a:r>
            <a:endParaRPr lang="en-US" sz="3000" dirty="0"/>
          </a:p>
        </p:txBody>
      </p:sp>
      <p:pic>
        <p:nvPicPr>
          <p:cNvPr id="4" name="Image 0" descr="Pasillo de racks con mercadería y montacarga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28800"/>
            <a:ext cx="2983230" cy="3977640"/>
          </a:xfrm>
          <a:prstGeom prst="rect">
            <a:avLst/>
          </a:prstGeom>
        </p:spPr>
      </p:pic>
      <p:pic>
        <p:nvPicPr>
          <p:cNvPr id="5" name="Image 1" descr="Racks selectivos con circulación central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669030" y="1828800"/>
            <a:ext cx="5303520" cy="39776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384030" y="1828800"/>
            <a:ext cx="2259025" cy="0"/>
          </a:xfrm>
          <a:prstGeom prst="line">
            <a:avLst/>
          </a:prstGeom>
          <a:noFill/>
          <a:ln w="9525">
            <a:solidFill>
              <a:srgbClr val="DAD2C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384030" y="2057400"/>
            <a:ext cx="225902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Ejemplo de aprovechamiento con racks, circulación central y operación con montacargas.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9384030" y="5120640"/>
            <a:ext cx="2259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Imágenes de referencia de configuración operativa, suministradas para esta propuesta.</a:t>
            </a:r>
            <a:endParaRPr lang="en-US" sz="1000" dirty="0"/>
          </a:p>
        </p:txBody>
      </p:sp>
      <p:pic>
        <p:nvPicPr>
          <p:cNvPr id="9" name="Image 2" descr="Isotipo Meridiano Capital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633679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6336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 ·  Centro Logístico Puerto Fénix  ·  Propuesta corporativa de alquiler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10911535" y="63367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Juan José Castillo, Meridiano Capital">    </p:cNvPr>
          <p:cNvPicPr>
            <a:picLocks noChangeAspect="1"/>
          </p:cNvPicPr>
          <p:nvPr/>
        </p:nvPicPr>
        <p:blipFill>
          <a:blip r:embed="rId1"/>
          <a:srcRect l="2170" r="2170" t="0" b="0"/>
          <a:stretch/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pic>
        <p:nvPicPr>
          <p:cNvPr id="3" name="Image 1" descr="Meridiano Capital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640" y="548640"/>
            <a:ext cx="2194560" cy="71450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Coordinemos una visita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 una propuesta a medida</a:t>
            </a:r>
            <a:endParaRPr lang="en-US" sz="38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4290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3EDE3">
                    <a:alpha val="90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Acompañamiento comercial para empresas que buscan capacidad de almacenamiento, operación logística y acceso portuario.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548640" y="4434840"/>
            <a:ext cx="6720840" cy="0"/>
          </a:xfrm>
          <a:prstGeom prst="line">
            <a:avLst/>
          </a:prstGeom>
          <a:noFill/>
          <a:ln w="9525">
            <a:solidFill>
              <a:srgbClr val="C9982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4617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0749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Broker Inmobiliario · Meridiano Capital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6811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·  juancastillo@meridianocapital.net  ·  www.meridianocapital.net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5332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F3EDE3">
                    <a:alpha val="75000"/>
                  </a:srgbClr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comercial de referencia. Valores en USD más IVA según la cotización de Puerto Fénix; las condiciones definitivas se formalizan en el contrato de locación. Oferta válida por 5 días.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Meridiano Capital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Centro Logístico Puerto Fénix — Propuesta corporativa de alquiler</dc:title>
  <dc:subject>Naves industriales en Puerto Fénix, Mariano Roque Alonso, Paraguay</dc:subject>
  <dc:creator>Meridiano Capital</dc:creator>
  <cp:lastModifiedBy>Meridiano Capital</cp:lastModifiedBy>
  <cp:revision>1</cp:revision>
  <dcterms:created xsi:type="dcterms:W3CDTF">2026-09-25T00:42:46Z</dcterms:created>
  <dcterms:modified xsi:type="dcterms:W3CDTF">2026-09-25T00:42:46Z</dcterms:modified>
</cp:coreProperties>
</file>