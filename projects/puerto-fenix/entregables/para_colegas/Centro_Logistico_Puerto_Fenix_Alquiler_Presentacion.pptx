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maps.app.goo.gl/jHo2dQB1tqhid7nAA" TargetMode="External"/><Relationship Id="rId3" Type="http://schemas.openxmlformats.org/officeDocument/2006/relationships/hyperlink" Target="https://maps.app.goo.gl/jHo2dQB1tqhid7nAA" TargetMode="External"/><Relationship Id="rId1" Type="http://schemas.openxmlformats.org/officeDocument/2006/relationships/image" Target="../media/image-2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ave industrial del Centro Logístico Puerto Fénix, vista exterior">    </p:cNvPr>
          <p:cNvPicPr>
            <a:picLocks noChangeAspect="1"/>
          </p:cNvPicPr>
          <p:nvPr/>
        </p:nvPicPr>
        <p:blipFill>
          <a:blip r:embed="rId1"/>
          <a:srcRect l="11414" r="24256" t="0" b="0"/>
          <a:stretch/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PROPUESTA CORPORATIVA DE ALQUILER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87168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Naves industriales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 Puerto Fénix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 Logístico Puerto Fénix · Mariano Roque Alonso, Paraguay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754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18.000 m²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285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DE3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Capacidad aproximada por nave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3200400" y="4754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1.000 m²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3200400" y="5285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DE3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Superficie mínima de alquiler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093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DE3">
                    <a:alpha val="6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 comercial  ·  24.09.2026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ACCESO ESTRATÉGICO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Ubicación en el corredor metropolitano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13832" cy="4346055"/>
          </a:xfrm>
          <a:prstGeom prst="rect">
            <a:avLst/>
          </a:prstGeom>
          <a:solidFill>
            <a:srgbClr val="FFFFFF"/>
          </a:solidFill>
          <a:ln w="9525">
            <a:solidFill>
              <a:srgbClr val="DAD2C0"/>
            </a:solidFill>
            <a:prstDash val="solid"/>
          </a:ln>
        </p:spPr>
      </p:sp>
      <p:pic>
        <p:nvPicPr>
          <p:cNvPr id="5" name="Image 0" descr="Mapa de ubicación: Mariano Roque Alonso en el área metropolitana de Asunción">
            <a:hlinkClick r:id="rId2" tooltip="Abrir la ubicación en Google Maps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513832" cy="434605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720840" y="1874520"/>
            <a:ext cx="4922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Mariano Roque Alonso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720840" y="2514600"/>
            <a:ext cx="4922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 logístico y portuario con conexión al área metropolitana de Asunción.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720840" y="3611880"/>
            <a:ext cx="492221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20840" y="3794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3794760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Operación dentro del complejo Puerto Fénix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720840" y="4233672"/>
            <a:ext cx="492221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20840" y="44165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269480" y="4416552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Acceso funcional para transporte y distribución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720840" y="4855464"/>
            <a:ext cx="492221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20840" y="50383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269480" y="5038344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Infraestructura vinculada al muelle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720840" y="5477256"/>
            <a:ext cx="492221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20840" y="5669280"/>
            <a:ext cx="4922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u="sng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3" invalidUrl="" action="" tgtFrame="" tooltip="Abrir la ubicación en Google Map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ubicación exacta en Google Maps</a:t>
            </a:r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maps.app.goo.gl/jHo2dQB1tqhid7nAA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 Logístico Puerto Fénix  ·  Propuesta corporativa de alquiler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PUERTO FÉNIX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Escala para operaciones industriales y logísticas</a:t>
            </a:r>
            <a:endParaRPr lang="en-US" sz="3000" dirty="0"/>
          </a:p>
        </p:txBody>
      </p:sp>
      <p:pic>
        <p:nvPicPr>
          <p:cNvPr id="4" name="Image 0" descr="Patio pavimentado de hormigón para almacenaje de contenedores">    </p:cNvPr>
          <p:cNvPicPr>
            <a:picLocks noChangeAspect="1"/>
          </p:cNvPicPr>
          <p:nvPr/>
        </p:nvPicPr>
        <p:blipFill>
          <a:blip r:embed="rId1"/>
          <a:srcRect l="0" r="0" t="66" b="66"/>
          <a:stretch/>
        </p:blipFill>
        <p:spPr>
          <a:xfrm>
            <a:off x="548640" y="1801368"/>
            <a:ext cx="2798064" cy="2103120"/>
          </a:xfrm>
          <a:prstGeom prst="rect">
            <a:avLst/>
          </a:prstGeom>
        </p:spPr>
      </p:pic>
      <p:pic>
        <p:nvPicPr>
          <p:cNvPr id="5" name="Image 1" descr="Vista aérea de depósitos del complejo">    </p:cNvPr>
          <p:cNvPicPr>
            <a:picLocks noChangeAspect="1"/>
          </p:cNvPicPr>
          <p:nvPr/>
        </p:nvPicPr>
        <p:blipFill>
          <a:blip r:embed="rId2"/>
          <a:srcRect l="0" r="0" t="1008" b="1008"/>
          <a:stretch/>
        </p:blipFill>
        <p:spPr>
          <a:xfrm>
            <a:off x="3456432" y="1801368"/>
            <a:ext cx="2798064" cy="2103120"/>
          </a:xfrm>
          <a:prstGeom prst="rect">
            <a:avLst/>
          </a:prstGeom>
        </p:spPr>
      </p:pic>
      <p:pic>
        <p:nvPicPr>
          <p:cNvPr id="6" name="Image 2" descr="Interior de depósito con mercadería paletizada">    </p:cNvPr>
          <p:cNvPicPr>
            <a:picLocks noChangeAspect="1"/>
          </p:cNvPicPr>
          <p:nvPr/>
        </p:nvPicPr>
        <p:blipFill>
          <a:blip r:embed="rId3"/>
          <a:srcRect l="0" r="0" t="66" b="66"/>
          <a:stretch/>
        </p:blipFill>
        <p:spPr>
          <a:xfrm>
            <a:off x="548640" y="4014216"/>
            <a:ext cx="2798064" cy="2103120"/>
          </a:xfrm>
          <a:prstGeom prst="rect">
            <a:avLst/>
          </a:prstGeom>
        </p:spPr>
      </p:pic>
      <p:pic>
        <p:nvPicPr>
          <p:cNvPr id="7" name="Image 3" descr="Playa de maniobras techada para camiones">    </p:cNvPr>
          <p:cNvPicPr>
            <a:picLocks noChangeAspect="1"/>
          </p:cNvPicPr>
          <p:nvPr/>
        </p:nvPicPr>
        <p:blipFill>
          <a:blip r:embed="rId4"/>
          <a:srcRect l="39" r="39" t="0" b="0"/>
          <a:stretch/>
        </p:blipFill>
        <p:spPr>
          <a:xfrm>
            <a:off x="3456432" y="4014216"/>
            <a:ext cx="2798064" cy="210312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6903720" y="1783080"/>
            <a:ext cx="4739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18.000 m²</a:t>
            </a:r>
            <a:endParaRPr lang="en-US" sz="5400" dirty="0"/>
          </a:p>
        </p:txBody>
      </p:sp>
      <p:sp>
        <p:nvSpPr>
          <p:cNvPr id="9" name="Text 3"/>
          <p:cNvSpPr txBox="1"/>
          <p:nvPr/>
        </p:nvSpPr>
        <p:spPr>
          <a:xfrm>
            <a:off x="6903720" y="2670048"/>
            <a:ext cx="4739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Capacidad aproximada por nave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6903720" y="3200400"/>
            <a:ext cx="473933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6903720" y="3310128"/>
            <a:ext cx="2232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1.000 m²</a:t>
            </a:r>
            <a:endParaRPr lang="en-US" sz="2300" dirty="0"/>
          </a:p>
        </p:txBody>
      </p:sp>
      <p:sp>
        <p:nvSpPr>
          <p:cNvPr id="12" name="Text 6"/>
          <p:cNvSpPr txBox="1"/>
          <p:nvPr/>
        </p:nvSpPr>
        <p:spPr>
          <a:xfrm>
            <a:off x="6903720" y="3785616"/>
            <a:ext cx="2232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Superficie mínima de alquiler</a:t>
            </a:r>
            <a:endParaRPr lang="en-US" sz="1100" dirty="0"/>
          </a:p>
        </p:txBody>
      </p:sp>
      <p:sp>
        <p:nvSpPr>
          <p:cNvPr id="13" name="Text 7"/>
          <p:cNvSpPr txBox="1"/>
          <p:nvPr/>
        </p:nvSpPr>
        <p:spPr>
          <a:xfrm>
            <a:off x="9273388" y="3310128"/>
            <a:ext cx="2232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80 hectáreas</a:t>
            </a:r>
            <a:endParaRPr lang="en-US" sz="2300" dirty="0"/>
          </a:p>
        </p:txBody>
      </p:sp>
      <p:sp>
        <p:nvSpPr>
          <p:cNvPr id="14" name="Text 8"/>
          <p:cNvSpPr txBox="1"/>
          <p:nvPr/>
        </p:nvSpPr>
        <p:spPr>
          <a:xfrm>
            <a:off x="9273388" y="3785616"/>
            <a:ext cx="2232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Superficie del puerto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6903720" y="4224528"/>
            <a:ext cx="473933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6903720" y="4334256"/>
            <a:ext cx="2232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3.000 metros</a:t>
            </a:r>
            <a:endParaRPr lang="en-US" sz="2300" dirty="0"/>
          </a:p>
        </p:txBody>
      </p:sp>
      <p:sp>
        <p:nvSpPr>
          <p:cNvPr id="17" name="Text 11"/>
          <p:cNvSpPr txBox="1"/>
          <p:nvPr/>
        </p:nvSpPr>
        <p:spPr>
          <a:xfrm>
            <a:off x="6903720" y="4809744"/>
            <a:ext cx="2232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Extensión del muelle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9273388" y="4334256"/>
            <a:ext cx="2232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 metros</a:t>
            </a:r>
            <a:endParaRPr lang="en-US" sz="2300" dirty="0"/>
          </a:p>
        </p:txBody>
      </p:sp>
      <p:sp>
        <p:nvSpPr>
          <p:cNvPr id="19" name="Text 13"/>
          <p:cNvSpPr txBox="1"/>
          <p:nvPr/>
        </p:nvSpPr>
        <p:spPr>
          <a:xfrm>
            <a:off x="9273388" y="4809744"/>
            <a:ext cx="2232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Altura mínima de las naves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903720" y="5248656"/>
            <a:ext cx="473933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903720" y="5486400"/>
            <a:ext cx="4739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Planta divisible según la operación del cliente.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 Logístico Puerto Fénix  ·  Propuesta corporativa de alquiler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7626096" cy="5452638"/>
          </a:xfrm>
          <a:prstGeom prst="rect">
            <a:avLst/>
          </a:prstGeom>
          <a:solidFill>
            <a:srgbClr val="FFFFFF"/>
          </a:solidFill>
          <a:ln w="9525">
            <a:solidFill>
              <a:srgbClr val="DAD2C0"/>
            </a:solidFill>
            <a:prstDash val="solid"/>
          </a:ln>
        </p:spPr>
      </p:sp>
      <p:pic>
        <p:nvPicPr>
          <p:cNvPr id="3" name="Image 0" descr="Planta arquitectónica del depósito del Centro Logístico Puerto Fénix, 100,00 m × 179,80 m, escala 1/75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58368"/>
            <a:ext cx="7406640" cy="52331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12480" y="548640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CONFIGURACIÓN ARQUITECTÓNICA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412480" y="896112"/>
            <a:ext cx="3230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Planta libre y subdivisión por demanda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412480" y="1874520"/>
            <a:ext cx="323057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0" y="2002536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100,00 × 179,80 m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2414016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Medidas aproximadas indicadas en el plano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412480" y="2724912"/>
            <a:ext cx="323057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0" y="2852928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17.980 m²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264408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Superficie resultante aproximada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412480" y="3575304"/>
            <a:ext cx="323057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0" y="3703320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18.000 m²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4270248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Capacidad comercial comunicada por nave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412480" y="4581144"/>
            <a:ext cx="323057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0" y="470916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Desde 1.000 m²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5120640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Subdivisión en módulos según la operación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412480" y="5431536"/>
            <a:ext cx="323057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12480" y="5559552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planta libre permite definir módulos según almacenamiento, circulación y operación del cliente.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 Logístico Puerto Fénix  ·  Propuesta corporativa de alquiler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CAPACIDAD OPERATIVA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Infraestructura incluida en el complejo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Energía y servicios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724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Agua, energía eléctrica en media tensión y medidor independiente.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1348" y="1965960"/>
            <a:ext cx="34290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1348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381348" y="2743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81348" y="312724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Seguridad integral, CCTV y control de entrada y salida.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14055" y="1965960"/>
            <a:ext cx="34290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14055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14055" y="2743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Protección contra incendios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14055" y="312724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Sistema de prevención y combate de incendios.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4290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114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09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Movimiento de cargas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09320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Playa de maniobra para camiones y soporte logístico según pedido.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81348" y="3931920"/>
            <a:ext cx="34290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81348" y="4114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4381348" y="4709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Equipos adicionales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381348" y="509320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Montacargas y grúas de distintas capacidades como servicios opcionales.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14055" y="3931920"/>
            <a:ext cx="34290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14055" y="4114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8214055" y="4709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Operación aduanera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14055" y="509320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Oficina de la Aduana Paraguaya habilitada dentro del predio.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97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servicios adicionales están sujetos a cotización y disponibilidad.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 Logístico Puerto Fénix  ·  Propuesta corporativa de alquiler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DEPÓSITOS INDUSTRIALES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Espacios listos para configurar</a:t>
            </a:r>
            <a:endParaRPr lang="en-US" sz="3000" dirty="0"/>
          </a:p>
        </p:txBody>
      </p:sp>
      <p:pic>
        <p:nvPicPr>
          <p:cNvPr id="4" name="Image 0" descr="Fachada del depósito con portones de acces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28800"/>
            <a:ext cx="5394960" cy="3034665"/>
          </a:xfrm>
          <a:prstGeom prst="rect">
            <a:avLst/>
          </a:prstGeom>
        </p:spPr>
      </p:pic>
      <p:pic>
        <p:nvPicPr>
          <p:cNvPr id="5" name="Image 1" descr="Interior del depósito en planta libr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48095" y="1828800"/>
            <a:ext cx="5394960" cy="303466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046345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Accesos amplios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248095" y="5046345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Planta libre y altura operativa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430393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EDE3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Altura mínima de 10 metros  ·  Planta libre divisible desde 1.000 m²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3EDE3">
                    <a:alpha val="6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Fotografías del depósito incluidas en la cotización de Puerto Fénix.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DE3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 Logístico Puerto Fénix  ·  Propuesta corporativa de alquiler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DE3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VENTAJA OPERATIVA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Integración portuaria</a:t>
            </a:r>
            <a:endParaRPr lang="en-US" sz="3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2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y aduanera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Posibilidad de aplicar variantes aduaneras y coordinar logística según el requerimiento del cliente.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443484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86791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Aduana en el predio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793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Oficina de la Aduana Paraguaya habilitada dentro del complejo.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443484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96519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Muelle de 3.000 metros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37667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Infraestructura del complejo vinculada al muelle.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897880"/>
            <a:ext cx="443484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pic>
        <p:nvPicPr>
          <p:cNvPr id="12" name="Image 0" descr="Frente del muelle del complejo con grúa portuari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34626" y="548640"/>
            <a:ext cx="4081353" cy="5440680"/>
          </a:xfrm>
          <a:prstGeom prst="rect">
            <a:avLst/>
          </a:prstGeom>
        </p:spPr>
      </p:pic>
      <p:pic>
        <p:nvPicPr>
          <p:cNvPr id="13" name="Image 1" descr="Grúa y equipos de operación portuaria en el muel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653139" y="548640"/>
            <a:ext cx="1989916" cy="2651760"/>
          </a:xfrm>
          <a:prstGeom prst="rect">
            <a:avLst/>
          </a:prstGeom>
        </p:spPr>
      </p:pic>
      <p:pic>
        <p:nvPicPr>
          <p:cNvPr id="14" name="Image 2" descr="Muelle sobre el río con barcaza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653139" y="3337560"/>
            <a:ext cx="1989916" cy="2651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 Logístico Puerto Fénix  ·  Propuesta corporativa de alquiler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PROPUESTA COMERCIAL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Condiciones económicas de alquiler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TARIFA DE REFERENCIA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5,50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2103120"/>
            <a:ext cx="2743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m² + IVA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6675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46888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Ejemplo para 2.000 m²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Tarifa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Importe mensual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Alquiler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5,50 por m² + IVA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11.000 + IVA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Expensas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0,20 por m² + IVA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400 + IVA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Total mensual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B332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11.400 + IVA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23036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Cálculo del ejemplo: 2.000 m² × USD 5,50 de alquiler + 2.000 m² × USD 0,20 de expensas.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26680" y="1828800"/>
            <a:ext cx="3916375" cy="3840480"/>
          </a:xfrm>
          <a:prstGeom prst="rect">
            <a:avLst/>
          </a:prstGeom>
          <a:solidFill>
            <a:srgbClr val="14313A"/>
          </a:solidFill>
          <a:ln w="12700">
            <a:solidFill>
              <a:srgbClr val="1431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92440" y="2148840"/>
            <a:ext cx="3184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Condiciones de ingreso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2852928"/>
            <a:ext cx="2681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mes de alquiler.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3401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0" y="3419856"/>
            <a:ext cx="2681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mes de alquiler en concepto de garantía.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4160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595360" y="4178808"/>
            <a:ext cx="2681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Honorarios equivalentes al 50% de un mes de alquiler.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092440" y="4919472"/>
            <a:ext cx="3184855" cy="0"/>
          </a:xfrm>
          <a:prstGeom prst="line">
            <a:avLst/>
          </a:prstGeom>
          <a:noFill/>
          <a:ln w="9525">
            <a:solidFill>
              <a:srgbClr val="C998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92440" y="5047488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Validez de la oferta: 5 días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 Logístico Puerto Fénix  ·  Propuesta corporativa de alquiler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COTIZACIÓN ADICIONAL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Servicios logísticos opcionales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458968" cy="0"/>
          </a:xfrm>
          <a:prstGeom prst="line">
            <a:avLst/>
          </a:prstGeom>
          <a:noFill/>
          <a:ln w="15875">
            <a:solidFill>
              <a:srgbClr val="1431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2240280"/>
            <a:ext cx="5452567" cy="0"/>
          </a:xfrm>
          <a:prstGeom prst="line">
            <a:avLst/>
          </a:prstGeom>
          <a:noFill/>
          <a:ln w="15875">
            <a:solidFill>
              <a:srgbClr val="1431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48840"/>
            <a:ext cx="182880" cy="182880"/>
          </a:xfrm>
          <a:prstGeom prst="ellipse">
            <a:avLst/>
          </a:prstGeom>
          <a:solidFill>
            <a:srgbClr val="14313A"/>
          </a:solidFill>
          <a:ln w="12700">
            <a:solidFill>
              <a:srgbClr val="1431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41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DEPÓSITO DEL CLIENTE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07608" y="2148840"/>
            <a:ext cx="182880" cy="182880"/>
          </a:xfrm>
          <a:prstGeom prst="ellipse">
            <a:avLst/>
          </a:prstGeom>
          <a:solidFill>
            <a:srgbClr val="C9982E"/>
          </a:solidFill>
          <a:ln w="12700">
            <a:solidFill>
              <a:srgbClr val="C998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10328" y="2441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MUELLE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460175" y="2148840"/>
            <a:ext cx="182880" cy="182880"/>
          </a:xfrm>
          <a:prstGeom prst="ellipse">
            <a:avLst/>
          </a:prstGeom>
          <a:solidFill>
            <a:srgbClr val="14313A"/>
          </a:solidFill>
          <a:ln w="12700">
            <a:solidFill>
              <a:srgbClr val="1431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65615" y="2441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BARCAZA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017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Flete corto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930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Desde el depósito del cliente hasta el muelle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31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20 por m² + IVA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17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viaje. La unidad de facturación definitiva se formaliza en la cotización contractual.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10528" y="3017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Movimiento de carga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6510528" y="34930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Desde el muelle hasta la barcaza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3931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32 por m² + IVA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4617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Valor según la cotización de Puerto Fénix; se formaliza en la cotización contractual.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94415" cy="566928"/>
          </a:xfrm>
          <a:prstGeom prst="rect">
            <a:avLst/>
          </a:prstGeom>
          <a:solidFill>
            <a:srgbClr val="F3EDE3"/>
          </a:solidFill>
          <a:ln w="12700">
            <a:solidFill>
              <a:srgbClr val="F3ED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44068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Referencia comercial:  </a:t>
            </a:r>
            <a:pPr indent="0" marL="0">
              <a:buNone/>
            </a:pPr>
            <a:r>
              <a:rPr lang="en-US" sz="11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valores de la cotización de Puerto Fénix corresponden al ejemplo solicitado de 2.000 m² y tienen una validez de 5 días.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 Logístico Puerto Fénix  ·  Propuesta corporativa de alquiler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INGRESO CORPORATIVO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Proceso de contratación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1094415" cy="0"/>
          </a:xfrm>
          <a:prstGeom prst="line">
            <a:avLst/>
          </a:prstGeom>
          <a:noFill/>
          <a:ln w="9525">
            <a:solidFill>
              <a:srgbClr val="F3EDE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58568"/>
            <a:ext cx="146304" cy="146304"/>
          </a:xfrm>
          <a:prstGeom prst="ellipse">
            <a:avLst/>
          </a:prstGeom>
          <a:solidFill>
            <a:srgbClr val="C9982E"/>
          </a:solidFill>
          <a:ln w="12700">
            <a:solidFill>
              <a:srgbClr val="C998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651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Definición del módulo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67912"/>
            <a:ext cx="24078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3EDE3">
                    <a:alpha val="8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Superficie, disponibilidad, uso previsto y requerimientos logísticos.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22244" y="2258568"/>
            <a:ext cx="146304" cy="146304"/>
          </a:xfrm>
          <a:prstGeom prst="ellipse">
            <a:avLst/>
          </a:prstGeom>
          <a:solidFill>
            <a:srgbClr val="C9982E"/>
          </a:solidFill>
          <a:ln w="12700">
            <a:solidFill>
              <a:srgbClr val="C998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22244" y="2651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3322244" y="3429000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Documentación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22244" y="3867912"/>
            <a:ext cx="24078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3EDE3">
                    <a:alpha val="8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Estatuto social, copias de la cédula de identidad de los firmantes y los tres últimos formularios de IVA.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95848" y="2258568"/>
            <a:ext cx="146304" cy="146304"/>
          </a:xfrm>
          <a:prstGeom prst="ellipse">
            <a:avLst/>
          </a:prstGeom>
          <a:solidFill>
            <a:srgbClr val="C9982E"/>
          </a:solidFill>
          <a:ln w="12700">
            <a:solidFill>
              <a:srgbClr val="C998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95848" y="2651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095848" y="3429000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Validación comercial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095848" y="3867912"/>
            <a:ext cx="24078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3EDE3">
                    <a:alpha val="8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Confirmación de tarifa, servicios opcionales y condiciones particulares.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869451" y="2258568"/>
            <a:ext cx="146304" cy="146304"/>
          </a:xfrm>
          <a:prstGeom prst="ellipse">
            <a:avLst/>
          </a:prstGeom>
          <a:solidFill>
            <a:srgbClr val="C9982E"/>
          </a:solidFill>
          <a:ln w="12700">
            <a:solidFill>
              <a:srgbClr val="C998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451" y="2651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8869451" y="3429000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Formalización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869451" y="3867912"/>
            <a:ext cx="24078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3EDE3">
                    <a:alpha val="8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Pago inicial, garantía, honorarios y firma del contrato de locación.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11094415" cy="0"/>
          </a:xfrm>
          <a:prstGeom prst="line">
            <a:avLst/>
          </a:prstGeom>
          <a:noFill/>
          <a:ln w="9525">
            <a:solidFill>
              <a:srgbClr val="1D41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577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Plazo de validez informado en la cotización: 5 días.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DE3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 Logístico Puerto Fénix  ·  Propuesta corporativa de alquiler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DE3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CONFIGURACIÓN INTERIOR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Operación de almacenamiento</a:t>
            </a:r>
            <a:endParaRPr lang="en-US" sz="3000" dirty="0"/>
          </a:p>
        </p:txBody>
      </p:sp>
      <p:pic>
        <p:nvPicPr>
          <p:cNvPr id="4" name="Image 0" descr="Pasillo de racks con mercadería y montacarga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28800"/>
            <a:ext cx="2983230" cy="3977640"/>
          </a:xfrm>
          <a:prstGeom prst="rect">
            <a:avLst/>
          </a:prstGeom>
        </p:spPr>
      </p:pic>
      <p:pic>
        <p:nvPicPr>
          <p:cNvPr id="5" name="Image 1" descr="Racks selectivos con circulación central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69030" y="1828800"/>
            <a:ext cx="5303520" cy="3977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384030" y="1828800"/>
            <a:ext cx="225902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384030" y="2057400"/>
            <a:ext cx="225902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Ejemplo de aprovechamiento con racks, circulación central y operación con montacargas.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9384030" y="5120640"/>
            <a:ext cx="22590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Imágenes de referencia de configuración operativa, suministradas para esta propuesta.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 Logístico Puerto Fénix  ·  Propuesta corporativa de alquiler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8B3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Coordinemos una visita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y una propuesta a medida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3EDE3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Acompañamiento comercial para empresas que buscan capacidad de almacenamiento, operación logística y acceso portuario.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F3EDE3">
                    <a:alpha val="7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 comercial de referencia. Valores y condiciones sujetos a confirmación y disponibilidad; las condiciones definitivas se formalizan en el contrato de locación. Valores en USD más IVA según la cotización de Puerto Fénix. Oferta válida por 5 días.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B3323"/>
      </a:hlink>
      <a:folHlink>
        <a:srgbClr val="6B615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Centro Logístico Puerto Fénix — Propuesta corporativa de alquiler</dc:title>
  <dc:subject>Naves industriales en Puerto Fénix, Mariano Roque Alonso, Paraguay</dc:subject>
  <dc:creator/>
  <cp:lastModifiedBy/>
  <cp:revision>1</cp:revision>
  <dcterms:created xsi:type="dcterms:W3CDTF">2026-09-25T12:11:34Z</dcterms:created>
  <dcterms:modified xsi:type="dcterms:W3CDTF">2026-09-25T12:11:34Z</dcterms:modified>
</cp:coreProperties>
</file>